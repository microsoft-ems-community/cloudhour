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78" r:id="rId12"/>
    <p:sldId id="279" r:id="rId13"/>
    <p:sldId id="280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3058C8C-CA0C-EE62-0F5A-6959F9D19FED}" v="227" dt="2026-07-31T13:28:22.70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006" autoAdjust="0"/>
    <p:restoredTop sz="66812" autoAdjust="0"/>
  </p:normalViewPr>
  <p:slideViewPr>
    <p:cSldViewPr snapToGrid="0" snapToObjects="1">
      <p:cViewPr varScale="1">
        <p:scale>
          <a:sx n="83" d="100"/>
          <a:sy n="83" d="100"/>
        </p:scale>
        <p:origin x="884" y="52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356191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.microsoft.com/en-us/entra/fundamentals/whats-new#upcoming-change---migrate-from-microsoft-entra-connect-sync-to-microsoft-entra-cloud-sync" TargetMode="External"/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Relationship Id="rId6" Type="http://schemas.openxmlformats.org/officeDocument/2006/relationships/hyperlink" Target="https://learn.microsoft.com/en-us/defender-xdr/whats-new" TargetMode="External"/><Relationship Id="rId5" Type="http://schemas.openxmlformats.org/officeDocument/2006/relationships/hyperlink" Target="https://techcommunity.microsoft.com/blog/intunecustomersuccess/new-iosipados-visionos-tvos-and-macos-ade-enrollment-policies-experience/4393531" TargetMode="External"/><Relationship Id="rId4" Type="http://schemas.openxmlformats.org/officeDocument/2006/relationships/hyperlink" Target="https://learn.microsoft.com/en-us/intune/app-management/deployment/enterprise-app-management#auto-update-for-enterprise-app-catalog-apps" TargetMode="Externa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Welcome. CloudHour is the Microsoft EMS Community monthly round-table. Today 1 July 2026. Host Jonas Bogvad, co-host Florian Salzmann.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Introduce Florian. Endpoint and security expert at UMB AG, Microsoft MVP. </a:t>
            </a:r>
            <a:endParaRPr lang="en-US" dirty="0"/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u="sng" dirty="0"/>
              <a:t>https://scloud.work/</a:t>
            </a:r>
            <a:endParaRPr lang="da-DK" u="sng" dirty="0"/>
          </a:p>
          <a:p>
            <a:pPr marL="285750" marR="0" lvl="0" indent="-28575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u="sng" dirty="0"/>
              <a:t>https://www.linkedin.com/in/fsalzmann/</a:t>
            </a:r>
            <a:endParaRPr lang="en-DK" dirty="0"/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Set expectations. A conversation, not a webinar. Brief a topic, then open the floor.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Housekeeping. Mute to listen, open mic welcome, use chat for links and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hlinkClick r:id="rId3"/>
              </a:rPr>
              <a:t>https://learn.microsoft.com/en-us/entra/fundamentals/whats-new#upcoming-change---migrate-from-microsoft-entra-connect-sync-to-microsoft-entra-cloud-sync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>
              <a:hlinkClick r:id="rId3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Auto-update EAM: </a:t>
            </a:r>
            <a:r>
              <a:rPr lang="en-US" dirty="0">
                <a:hlinkClick r:id="rId4"/>
              </a:rPr>
              <a:t>https://learn.microsoft.com/en-us/intune/app-management/deployment/enterprise-app-management#auto-update-for-enterprise-app-catalog-apps</a:t>
            </a:r>
            <a:r>
              <a:rPr lang="en-US" dirty="0"/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>
              <a:hlinkClick r:id="rId3"/>
            </a:endParaRPr>
          </a:p>
          <a:p>
            <a:r>
              <a:rPr lang="en-US" dirty="0"/>
              <a:t>New Apple Enrollment Policies</a:t>
            </a:r>
          </a:p>
          <a:p>
            <a:r>
              <a:rPr lang="en-US" dirty="0">
                <a:hlinkClick r:id="rId5"/>
              </a:rPr>
              <a:t>https://techcommunity.microsoft.com/blog/intunecustomersuccess/new-iosipados-visionos-tvos-and-macos-ade-enrollment-policies-experience/4393531</a:t>
            </a:r>
            <a:r>
              <a:rPr lang="en-US" dirty="0"/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>
              <a:hlinkClick r:id="rId3"/>
            </a:endParaRPr>
          </a:p>
          <a:p>
            <a:endParaRPr lang="en-US" dirty="0"/>
          </a:p>
          <a:p>
            <a:endParaRPr lang="en-US" dirty="0"/>
          </a:p>
          <a:p>
            <a:r>
              <a:rPr dirty="0"/>
              <a:t>MAA on Graph API: https://learn.microsoft.com/en-us/intune/fundamentals/role-based-access-control/multi-admin-approval-graph-api . </a:t>
            </a:r>
            <a:endParaRPr lang="en-US" dirty="0"/>
          </a:p>
          <a:p>
            <a:endParaRPr lang="en-US" dirty="0"/>
          </a:p>
          <a:p>
            <a:r>
              <a:rPr dirty="0"/>
              <a:t>Auto-update EAM: https://learn.microsoft.com/en-us/intune/app-management/deployment/enterprise-app-management#auto-update-for-enterprise-app-catalog-apps . </a:t>
            </a:r>
            <a:endParaRPr lang="en-US" dirty="0"/>
          </a:p>
          <a:p>
            <a:endParaRPr lang="en-US" dirty="0"/>
          </a:p>
          <a:p>
            <a:r>
              <a:rPr lang="en-US" dirty="0"/>
              <a:t>Local AI agent</a:t>
            </a:r>
          </a:p>
          <a:p>
            <a:r>
              <a:rPr lang="en-DK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6" tooltip="https://learn.microsoft.com/en-us/defender-xdr/whats-new"/>
              </a:rPr>
              <a:t>https://learn.microsoft.com/en-us/defender-xdr/whats-new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Set the Microsoft EMS Community server tag in Discord. Join: https://aka.ms/M365EMSDiscord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Six topics, balanced across Intune, Entra, Defender and Purview, and across Windows, Android and iOS. Mandatory MFA (July 1) is on the radar board next.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90-day board. Sources: MFA https://learn.microsoft.com/en-us/entra/identity/authentication/concept-mandatory-multifactor-authentication ; </a:t>
            </a:r>
            <a:endParaRPr lang="en-US" dirty="0"/>
          </a:p>
          <a:p>
            <a:endParaRPr lang="en-US" dirty="0"/>
          </a:p>
          <a:p>
            <a:r>
              <a:rPr dirty="0"/>
              <a:t>CA registration https://learn.microsoft.com/en-us/entra/identity/conditional-access/policy-all-users-security-info-registration ; </a:t>
            </a:r>
            <a:endParaRPr lang="en-US" dirty="0"/>
          </a:p>
          <a:p>
            <a:r>
              <a:rPr dirty="0"/>
              <a:t>SSPR https://learn.microsoft.com/en-us/entra/identity/authentication/concept-sspr-howitworks ; </a:t>
            </a:r>
            <a:endParaRPr lang="en-US" dirty="0"/>
          </a:p>
          <a:p>
            <a:endParaRPr lang="en-US" dirty="0"/>
          </a:p>
          <a:p>
            <a:r>
              <a:rPr dirty="0"/>
              <a:t>Connect Sync https://learn.microsoft.com/en-us/entra/fundamentals/whats-new ; </a:t>
            </a:r>
            <a:endParaRPr lang="en-US" dirty="0"/>
          </a:p>
          <a:p>
            <a:endParaRPr lang="en-US" dirty="0"/>
          </a:p>
          <a:p>
            <a:r>
              <a:rPr dirty="0"/>
              <a:t>Secure Boot https://support.microsoft.com/en-us/topic/windows-secure-boot-certificate-expiration-and-ca-updates-7ff40d33-95dc-4c3c-8725-a9b95457578e ; </a:t>
            </a:r>
            <a:endParaRPr lang="en-US" dirty="0"/>
          </a:p>
          <a:p>
            <a:endParaRPr lang="en-US" dirty="0"/>
          </a:p>
          <a:p>
            <a:r>
              <a:rPr dirty="0"/>
              <a:t>Intune </a:t>
            </a:r>
            <a:r>
              <a:rPr dirty="0" err="1"/>
              <a:t>whats</a:t>
            </a:r>
            <a:r>
              <a:rPr dirty="0"/>
              <a:t>-new https://learn.microsoft.com/en-us/intune/intune-service/fundamentals/whats-new ; </a:t>
            </a:r>
            <a:endParaRPr lang="en-US" dirty="0"/>
          </a:p>
          <a:p>
            <a:endParaRPr lang="en-US" dirty="0"/>
          </a:p>
          <a:p>
            <a:r>
              <a:rPr dirty="0"/>
              <a:t>Defender XDR https://learn.microsoft.com/en-us/defender-xdr/whats-new ;</a:t>
            </a:r>
            <a:endParaRPr lang="en-US" dirty="0"/>
          </a:p>
          <a:p>
            <a:endParaRPr lang="en-US" dirty="0"/>
          </a:p>
          <a:p>
            <a:r>
              <a:rPr dirty="0"/>
              <a:t> Copilot https://learn.microsoft.com/en-us/purview/ai-m365-copilot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Multi-Admin Approval (MAA) for Intune. </a:t>
            </a:r>
            <a:endParaRPr lang="en-US" dirty="0"/>
          </a:p>
          <a:p>
            <a:endParaRPr lang="en-US" dirty="0"/>
          </a:p>
          <a:p>
            <a:r>
              <a:rPr dirty="0"/>
              <a:t>The change: MAA now intercepts app-authenticated Graph API calls, not just delegated admin actions. Applies to POST/PATCH/PUT/DELETE on resources protected by an MAA access policy (apps, scripts, config policies, device actions); </a:t>
            </a:r>
            <a:endParaRPr lang="en-US" dirty="0"/>
          </a:p>
          <a:p>
            <a:endParaRPr lang="en-US" dirty="0"/>
          </a:p>
          <a:p>
            <a:r>
              <a:rPr dirty="0"/>
              <a:t>GET is unaffected. Unhandled automation returns the error: Header x-</a:t>
            </a:r>
            <a:r>
              <a:rPr dirty="0" err="1"/>
              <a:t>msft</a:t>
            </a:r>
            <a:r>
              <a:rPr dirty="0"/>
              <a:t>-approval-justification is required. </a:t>
            </a:r>
            <a:endParaRPr lang="en-US" dirty="0"/>
          </a:p>
          <a:p>
            <a:endParaRPr lang="en-US" dirty="0"/>
          </a:p>
          <a:p>
            <a:r>
              <a:rPr dirty="0"/>
              <a:t>Fix: update automation to the approval workflow, or exclude specific apps. </a:t>
            </a:r>
            <a:endParaRPr lang="en-US" dirty="0"/>
          </a:p>
          <a:p>
            <a:endParaRPr lang="en-US" dirty="0"/>
          </a:p>
          <a:p>
            <a:r>
              <a:rPr dirty="0"/>
              <a:t>Sources: https://learn.microsoft.com/en-us/intune/intune-service/fundamentals/multi-admin-approval and https://learn.microsoft.com/en-us/intune/fundamentals/role-based-access-control/multi-admin-approval-graph-api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MC1326253, published May 29 2026. CA policies on the Register security information action now apply during </a:t>
            </a:r>
            <a:r>
              <a:rPr dirty="0" err="1"/>
              <a:t>WHfB</a:t>
            </a:r>
            <a:r>
              <a:rPr dirty="0"/>
              <a:t> and macOS Platform SSO registration. Action: review grant controls, make sure new-device users can satisfy them with a FIDO2 key or Temporary Access Pass, test in report-only. </a:t>
            </a:r>
            <a:endParaRPr lang="en-US" dirty="0"/>
          </a:p>
          <a:p>
            <a:endParaRPr lang="en-US" dirty="0"/>
          </a:p>
          <a:p>
            <a:r>
              <a:rPr dirty="0"/>
              <a:t>Sources: https://learn.microsoft.com/en-us/entra/identity/conditional-access/policy-all-users-security-info-registration and https://mc.merill.net/message/MC1326253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M365 2026 packaging and pricing, effective Jul 1 2026, existing customers at renewal. Price moves: E3 36 to 39, E5 57 to 60, EMS E3 10.60 to 12, EMS E5 16.40 to 18 USD per user per month. Source: https://www.microsoft.com/en-us/licensing/news/2026-m365-packaging-pricing-updates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Endpoint deadlines by platform. Windows Secure Boot: the 2011 KEK (Jun 24) and UEFI CA (Jun 27) already lapsed; the Windows Production PCA 2011 that signs the boot manager expires Oct 19 2026. Deploy the 2023 certs now. </a:t>
            </a:r>
            <a:endParaRPr lang="en-US" dirty="0"/>
          </a:p>
          <a:p>
            <a:endParaRPr lang="en-US" dirty="0"/>
          </a:p>
          <a:p>
            <a:r>
              <a:rPr dirty="0"/>
              <a:t>Defender EDR moves to Microsoft Update (MC1381119). </a:t>
            </a:r>
            <a:endParaRPr lang="en-US" dirty="0"/>
          </a:p>
          <a:p>
            <a:endParaRPr lang="en-US" dirty="0"/>
          </a:p>
          <a:p>
            <a:r>
              <a:rPr dirty="0"/>
              <a:t>Android: Teams cert ends for Android 10/11 devices Sep 3. </a:t>
            </a:r>
            <a:endParaRPr lang="en-US" dirty="0"/>
          </a:p>
          <a:p>
            <a:endParaRPr lang="en-US" dirty="0"/>
          </a:p>
          <a:p>
            <a:r>
              <a:rPr dirty="0"/>
              <a:t>iOS: Defender OS-update notices move to Intune (MC1381122). Intune drops RHEL 8 (Jul) and Ubuntu 22.04 (Aug). </a:t>
            </a:r>
            <a:endParaRPr lang="en-US" dirty="0"/>
          </a:p>
          <a:p>
            <a:endParaRPr lang="en-US" dirty="0"/>
          </a:p>
          <a:p>
            <a:r>
              <a:rPr dirty="0"/>
              <a:t>Sources: </a:t>
            </a:r>
            <a:endParaRPr lang="en-US" dirty="0"/>
          </a:p>
          <a:p>
            <a:endParaRPr lang="en-US" dirty="0"/>
          </a:p>
          <a:p>
            <a:r>
              <a:rPr dirty="0"/>
              <a:t>Secure Boot https://support.microsoft.com/en-us/topic/windows-secure-boot-certificate-expiration-and-ca-updates-7ff40d33-95dc-4c3c-8725-a9b95457578e and https://techcommunity.microsoft.com/blog/windows-itpro-blog/secure-boot-playbook-for-certificates-expiring-in-2026/4469235 ; </a:t>
            </a:r>
            <a:endParaRPr lang="en-US" dirty="0"/>
          </a:p>
          <a:p>
            <a:endParaRPr lang="en-US" dirty="0"/>
          </a:p>
          <a:p>
            <a:r>
              <a:rPr dirty="0"/>
              <a:t>Teams https://learn.microsoft.com/en-us/microsoftteams/devices/android-version-support ; </a:t>
            </a:r>
            <a:endParaRPr lang="en-US" dirty="0"/>
          </a:p>
          <a:p>
            <a:endParaRPr lang="en-US" dirty="0"/>
          </a:p>
          <a:p>
            <a:r>
              <a:rPr dirty="0"/>
              <a:t>Intune https://learn.microsoft.com/en-us/intune/intune-service/fundamentals/whats-new ; </a:t>
            </a:r>
            <a:endParaRPr lang="en-US" dirty="0"/>
          </a:p>
          <a:p>
            <a:endParaRPr lang="en-US" dirty="0"/>
          </a:p>
          <a:p>
            <a:r>
              <a:rPr dirty="0"/>
              <a:t>Apple ADE https://techcommunity.microsoft.com/blog/intunecustomersuccess/new-iosipados-visionos-tvos-and-macos-ade-enrollment-policies-experience/4393531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Two separate things. One, Cloud Sync migration is phased and per-tenant-notified from about July 2026, no single cutoff. Two, the hard deadline: Entra Connect Sync must be v2.5.79.0+ by Sep 30 2026 or sync fails. </a:t>
            </a:r>
            <a:endParaRPr lang="en-US" dirty="0"/>
          </a:p>
          <a:p>
            <a:endParaRPr lang="en-US" dirty="0"/>
          </a:p>
          <a:p>
            <a:r>
              <a:rPr dirty="0"/>
              <a:t>Sources: https://learn.microsoft.com/en-us/entra/fundamentals/whats-new#upcoming-change---migrate-from-microsoft-entra-connect-sync-to-microsoft-entra-cloud-sync and https://learn.microsoft.com/en-us/entra/identity/hybrid/cloud-sync/what-is-cloud-sync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Copilot data lives in the user Exchange mailbox as hidden items. Purview Audit is metadata only; eDiscovery and Content Search return the actual content. DSPM for AI, retention, sensitivity labels and Communication Compliance govern it. </a:t>
            </a:r>
            <a:endParaRPr lang="en-US" dirty="0"/>
          </a:p>
          <a:p>
            <a:endParaRPr lang="en-US" dirty="0"/>
          </a:p>
          <a:p>
            <a:r>
              <a:rPr dirty="0"/>
              <a:t>Sources: https://learn.microsoft.com/en-us/purview/ai-m365-copilot , https://learn.microsoft.com/en-us/purview/audit-copilot , https://learn.microsoft.com/en-us/purview/edisc-search-copilot-data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Answer: Content Search and Microsoft Purview. Copilot interactions are stored in the user Exchange mailbox. Content Search via eDiscovery retrieves the content; Microsoft Purview governs it. Not Azure Data Explorer, Microsoft Private or Microsoft Search. Inspired by an SC-100 renewal assessment. Sources: https://learn.microsoft.com/en-us/purview/ai-m365-copilot and https://learn.microsoft.com/en-us/purview/edisc-search-copilot-data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Open floor. Capture next month topic ideas in chat.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Wrap up. Discord https://aka.ms/M365EMSDiscord and https://www.msems.community/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3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9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5.png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rozemuller.com/avoid-automation-breaks-with-intune-multi-admin-approval/" TargetMode="External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1.png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3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3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5.png"/><Relationship Id="rId4" Type="http://schemas.openxmlformats.org/officeDocument/2006/relationships/image" Target="../media/image2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3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image" Target="../media/image18.png"/><Relationship Id="rId4" Type="http://schemas.openxmlformats.org/officeDocument/2006/relationships/image" Target="../media/image2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3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9.png"/><Relationship Id="rId4" Type="http://schemas.openxmlformats.org/officeDocument/2006/relationships/image" Target="../media/image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image" Target="../media/image29.jpg"/><Relationship Id="rId4" Type="http://schemas.openxmlformats.org/officeDocument/2006/relationships/image" Target="../media/image7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her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504" y="502920"/>
            <a:ext cx="566928" cy="56692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35024" y="54864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1" i="0" spc="260">
                <a:solidFill>
                  <a:srgbClr val="F5F2FC"/>
                </a:solidFill>
                <a:latin typeface="Consolas"/>
              </a:rPr>
              <a:t>MICROSOFT EMS COMMUNITY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196596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 i="0" spc="500">
                <a:solidFill>
                  <a:srgbClr val="22D3EE"/>
                </a:solidFill>
                <a:latin typeface="Consolas"/>
              </a:rPr>
              <a:t>WELCOME 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286000"/>
            <a:ext cx="1097280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1000" b="1" i="0">
                <a:solidFill>
                  <a:srgbClr val="F5F2FC"/>
                </a:solidFill>
                <a:effectLst>
                  <a:glow rad="64008">
                    <a:srgbClr val="7C3AED">
                      <a:alpha val="55000"/>
                    </a:srgbClr>
                  </a:glow>
                </a:effectLst>
                <a:latin typeface="Segoe UI Semibold"/>
              </a:rPr>
              <a:t>CloudHour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4160520"/>
            <a:ext cx="96012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0" i="0">
                <a:solidFill>
                  <a:srgbClr val="F5F2FC"/>
                </a:solidFill>
                <a:latin typeface="Segoe UI"/>
              </a:rPr>
              <a:t>We will start shortly. Grab a drink and pull up a chair.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" y="5029200"/>
            <a:ext cx="2743200" cy="4572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F2E88"/>
              </a:gs>
              <a:gs pos="100000">
                <a:srgbClr val="7C3AED"/>
              </a:gs>
            </a:gsLst>
            <a:lin ang="6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03504" y="5139484"/>
            <a:ext cx="2743200" cy="2000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 spc="100">
                <a:solidFill>
                  <a:srgbClr val="F5F2FC"/>
                </a:solidFill>
                <a:latin typeface="Consolas"/>
              </a:rPr>
              <a:t>WED · </a:t>
            </a:r>
            <a:r>
              <a:rPr lang="en-US" sz="1300" b="1" spc="100">
                <a:solidFill>
                  <a:srgbClr val="F5F2FC"/>
                </a:solidFill>
                <a:latin typeface="Consolas"/>
              </a:rPr>
              <a:t>DATE</a:t>
            </a:r>
            <a:endParaRPr sz="1300" b="1" i="0" spc="100" dirty="0">
              <a:solidFill>
                <a:srgbClr val="F5F2FC"/>
              </a:solidFill>
              <a:latin typeface="Consola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575304" y="502920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 i="0">
                <a:solidFill>
                  <a:srgbClr val="B6AED2"/>
                </a:solidFill>
                <a:latin typeface="Segoe UI"/>
              </a:rPr>
              <a:t>Live round-table  ·  Intune · Entra ID · Defender · Purview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" y="5989320"/>
            <a:ext cx="1005840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0" i="0" dirty="0">
                <a:solidFill>
                  <a:srgbClr val="8B83A8"/>
                </a:solidFill>
                <a:latin typeface="Segoe UI"/>
              </a:rPr>
              <a:t>Hosted by </a:t>
            </a:r>
            <a:r>
              <a:rPr sz="1300" b="1" i="0" dirty="0">
                <a:solidFill>
                  <a:srgbClr val="F5F2FC"/>
                </a:solidFill>
                <a:latin typeface="Segoe UI"/>
              </a:rPr>
              <a:t>Jonas Bogvad</a:t>
            </a:r>
            <a:r>
              <a:rPr sz="1300" b="0" i="0">
                <a:solidFill>
                  <a:srgbClr val="8B83A8"/>
                </a:solidFill>
                <a:latin typeface="Segoe UI"/>
              </a:rPr>
              <a:t>   ·   Co-host </a:t>
            </a:r>
            <a:r>
              <a:rPr lang="en-US" sz="1300">
                <a:solidFill>
                  <a:srgbClr val="8B83A8"/>
                </a:solidFill>
                <a:latin typeface="Segoe UI"/>
              </a:rPr>
              <a:t>(ADD IF APPLICABLE) </a:t>
            </a:r>
            <a:endParaRPr lang="en-US" sz="1300" i="0">
              <a:solidFill>
                <a:srgbClr val="8B83A8"/>
              </a:solidFill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cont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3504" y="548640"/>
            <a:ext cx="10058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 spc="260">
                <a:solidFill>
                  <a:srgbClr val="22D3EE"/>
                </a:solidFill>
                <a:latin typeface="Consolas"/>
              </a:rPr>
              <a:t>TODAY'S CO-HOST</a:t>
            </a:r>
          </a:p>
        </p:txBody>
      </p:sp>
      <p:sp>
        <p:nvSpPr>
          <p:cNvPr id="4" name="Oval 3"/>
          <p:cNvSpPr/>
          <p:nvPr/>
        </p:nvSpPr>
        <p:spPr>
          <a:xfrm>
            <a:off x="8415223" y="1444752"/>
            <a:ext cx="3282696" cy="3282696"/>
          </a:xfrm>
          <a:prstGeom prst="ellipse">
            <a:avLst/>
          </a:prstGeom>
          <a:gradFill rotWithShape="1">
            <a:gsLst>
              <a:gs pos="0">
                <a:srgbClr val="FF2E88"/>
              </a:gs>
              <a:gs pos="52000">
                <a:srgbClr val="7C3AED"/>
              </a:gs>
              <a:gs pos="100000">
                <a:srgbClr val="06B6D4"/>
              </a:gs>
            </a:gsLst>
            <a:lin ang="27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mvp-bad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36631" y="3566160"/>
            <a:ext cx="1097280" cy="1097280"/>
          </a:xfrm>
          <a:prstGeom prst="rect">
            <a:avLst/>
          </a:prstGeom>
          <a:effectLst>
            <a:outerShdw blurRad="91440" dist="54864" dir="5400000" rotWithShape="0">
              <a:srgbClr val="000000">
                <a:alpha val="50000"/>
              </a:srgbClr>
            </a:outerShdw>
          </a:effectLst>
        </p:spPr>
      </p:pic>
      <p:sp>
        <p:nvSpPr>
          <p:cNvPr id="7" name="TextBox 6"/>
          <p:cNvSpPr txBox="1"/>
          <p:nvPr/>
        </p:nvSpPr>
        <p:spPr>
          <a:xfrm>
            <a:off x="603504" y="1371600"/>
            <a:ext cx="6675120" cy="6771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4400" b="1">
                <a:solidFill>
                  <a:srgbClr val="F5F2FC"/>
                </a:solidFill>
                <a:latin typeface="Segoe UI Semibold"/>
              </a:rPr>
              <a:t>NAME</a:t>
            </a:r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603504" y="2240280"/>
            <a:ext cx="6583680" cy="2385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1550" b="1">
                <a:solidFill>
                  <a:srgbClr val="22D3EE"/>
                </a:solidFill>
                <a:latin typeface="Segoe UI"/>
              </a:rPr>
              <a:t>JOB TITLE</a:t>
            </a:r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603504" y="2880360"/>
            <a:ext cx="6400800" cy="2789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lang="en-US" sz="1650" i="1">
                <a:solidFill>
                  <a:srgbClr val="B6AED2"/>
                </a:solidFill>
                <a:latin typeface="Segoe UI"/>
              </a:rPr>
              <a:t>BLURB</a:t>
            </a:r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603504" y="4526280"/>
            <a:ext cx="1485900" cy="420624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F2E88"/>
              </a:gs>
              <a:gs pos="100000">
                <a:srgbClr val="7C3AED"/>
              </a:gs>
            </a:gsLst>
            <a:lin ang="72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03504" y="4507992"/>
            <a:ext cx="148590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 spc="0">
                <a:solidFill>
                  <a:srgbClr val="F5F2FC"/>
                </a:solidFill>
                <a:latin typeface="Segoe UI"/>
              </a:rPr>
              <a:t>Microsoft MVP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290572" y="4526280"/>
            <a:ext cx="2157984" cy="420624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7C3AED"/>
              </a:gs>
              <a:gs pos="100000">
                <a:srgbClr val="06B6D4"/>
              </a:gs>
            </a:gsLst>
            <a:lin ang="72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290572" y="4507992"/>
            <a:ext cx="2157984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 spc="0">
                <a:solidFill>
                  <a:srgbClr val="F5F2FC"/>
                </a:solidFill>
                <a:latin typeface="Segoe UI"/>
              </a:rPr>
              <a:t>Official Contributor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3504" y="5257800"/>
            <a:ext cx="658368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300">
                <a:solidFill>
                  <a:srgbClr val="8B83A8"/>
                </a:solidFill>
                <a:latin typeface="Consolas"/>
              </a:rPr>
              <a:t>WEBSITES</a:t>
            </a:r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603504" y="5943600"/>
            <a:ext cx="6583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>
                <a:solidFill>
                  <a:srgbClr val="8B83A8"/>
                </a:solidFill>
                <a:latin typeface="Segoe UI"/>
              </a:rPr>
              <a:t>Hosted by Jonas Bogvad · Microsoft MVP</a:t>
            </a:r>
          </a:p>
        </p:txBody>
      </p:sp>
      <p:pic>
        <p:nvPicPr>
          <p:cNvPr id="18" name="Picture 17" descr="log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" y="6455664"/>
            <a:ext cx="237744" cy="237744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68680" y="6437376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i="0">
                <a:solidFill>
                  <a:srgbClr val="8B83A8"/>
                </a:solidFill>
                <a:latin typeface="Segoe UI"/>
              </a:rPr>
              <a:t>CloudHour</a:t>
            </a:r>
            <a:r>
              <a:rPr sz="950" b="0" i="0">
                <a:solidFill>
                  <a:srgbClr val="8B83A8"/>
                </a:solidFill>
                <a:latin typeface="Segoe UI"/>
              </a:rPr>
              <a:t>   ·   Microsoft EMS Community  ·  Jul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11535" y="6437376"/>
            <a:ext cx="6858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50" b="1" i="0">
                <a:solidFill>
                  <a:srgbClr val="8B83A8"/>
                </a:solidFill>
                <a:latin typeface="Consola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cont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3504" y="548640"/>
            <a:ext cx="10058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 spc="260">
                <a:solidFill>
                  <a:srgbClr val="22D3EE"/>
                </a:solidFill>
                <a:latin typeface="Consolas"/>
              </a:rPr>
              <a:t>THE FORMAT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896112"/>
            <a:ext cx="100584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800" b="1" i="0">
                <a:solidFill>
                  <a:srgbClr val="F5F2FC"/>
                </a:solidFill>
                <a:latin typeface="Segoe UI Semibold"/>
              </a:rPr>
              <a:t>What is CloudHour?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1627632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B6AED2"/>
                </a:solidFill>
                <a:latin typeface="Segoe UI"/>
              </a:rPr>
              <a:t>A monthly round-table where the community digs into a few key topics together. Live, practical and unscripted.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" y="2514600"/>
            <a:ext cx="3417722" cy="3246120"/>
          </a:xfrm>
          <a:prstGeom prst="roundRect">
            <a:avLst>
              <a:gd name="adj" fmla="val 9000"/>
            </a:avLst>
          </a:prstGeom>
          <a:solidFill>
            <a:srgbClr val="1A1436"/>
          </a:solidFill>
          <a:ln w="12700">
            <a:solidFill>
              <a:srgbClr val="342B5E"/>
            </a:solidFill>
          </a:ln>
          <a:effectLst>
            <a:outerShdw blurRad="82296" dist="4572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987552" y="2898648"/>
            <a:ext cx="868680" cy="868680"/>
          </a:xfrm>
          <a:prstGeom prst="ellipse">
            <a:avLst/>
          </a:prstGeom>
          <a:gradFill rotWithShape="1">
            <a:gsLst>
              <a:gs pos="0">
                <a:srgbClr val="FF2E88"/>
              </a:gs>
              <a:gs pos="100000">
                <a:srgbClr val="7C3AED"/>
              </a:gs>
            </a:gsLst>
            <a:lin ang="27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bol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8661" y="3089757"/>
            <a:ext cx="486460" cy="4864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87552" y="3995928"/>
            <a:ext cx="264962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 i="0">
                <a:solidFill>
                  <a:srgbClr val="F5F2FC"/>
                </a:solidFill>
                <a:latin typeface="Segoe UI Semibold"/>
              </a:rPr>
              <a:t>Why it matters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" y="4507992"/>
            <a:ext cx="2649626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400" b="0" i="0">
                <a:solidFill>
                  <a:srgbClr val="B6AED2"/>
                </a:solidFill>
                <a:latin typeface="Segoe UI"/>
              </a:rPr>
              <a:t>The EMS stack moves fast. CloudHour keeps the community current on what is changing and what it means in practice.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6986" y="2514600"/>
            <a:ext cx="3417722" cy="3246120"/>
          </a:xfrm>
          <a:prstGeom prst="roundRect">
            <a:avLst>
              <a:gd name="adj" fmla="val 9000"/>
            </a:avLst>
          </a:prstGeom>
          <a:solidFill>
            <a:srgbClr val="1A1436"/>
          </a:solidFill>
          <a:ln w="12700">
            <a:solidFill>
              <a:srgbClr val="342B5E"/>
            </a:solidFill>
          </a:ln>
          <a:effectLst>
            <a:outerShdw blurRad="82296" dist="4572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4771034" y="2898648"/>
            <a:ext cx="868680" cy="868680"/>
          </a:xfrm>
          <a:prstGeom prst="ellipse">
            <a:avLst/>
          </a:prstGeom>
          <a:gradFill rotWithShape="1">
            <a:gsLst>
              <a:gs pos="0">
                <a:srgbClr val="7C3AED"/>
              </a:gs>
              <a:gs pos="100000">
                <a:srgbClr val="06B6D4"/>
              </a:gs>
            </a:gsLst>
            <a:lin ang="27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cha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62143" y="3089757"/>
            <a:ext cx="486460" cy="48646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771034" y="3995928"/>
            <a:ext cx="264962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 i="0">
                <a:solidFill>
                  <a:srgbClr val="F5F2FC"/>
                </a:solidFill>
                <a:latin typeface="Segoe UI Semibold"/>
              </a:rPr>
              <a:t>How you benefit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71034" y="4507992"/>
            <a:ext cx="2649626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400" b="0" i="0">
                <a:solidFill>
                  <a:srgbClr val="B6AED2"/>
                </a:solidFill>
                <a:latin typeface="Segoe UI"/>
              </a:rPr>
              <a:t>Real-time discussion with hosts and peers. Ask anything, share your take, learn how others run it.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70468" y="2514600"/>
            <a:ext cx="3417722" cy="3246120"/>
          </a:xfrm>
          <a:prstGeom prst="roundRect">
            <a:avLst>
              <a:gd name="adj" fmla="val 9000"/>
            </a:avLst>
          </a:prstGeom>
          <a:solidFill>
            <a:srgbClr val="1A1436"/>
          </a:solidFill>
          <a:ln w="12700">
            <a:solidFill>
              <a:srgbClr val="342B5E"/>
            </a:solidFill>
          </a:ln>
          <a:effectLst>
            <a:outerShdw blurRad="82296" dist="4572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8554516" y="2898648"/>
            <a:ext cx="868680" cy="868680"/>
          </a:xfrm>
          <a:prstGeom prst="ellipse">
            <a:avLst/>
          </a:prstGeom>
          <a:gradFill rotWithShape="1">
            <a:gsLst>
              <a:gs pos="0">
                <a:srgbClr val="FF2E88"/>
              </a:gs>
              <a:gs pos="52000">
                <a:srgbClr val="7C3AED"/>
              </a:gs>
              <a:gs pos="100000">
                <a:srgbClr val="06B6D4"/>
              </a:gs>
            </a:gsLst>
            <a:lin ang="27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megaphon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45626" y="3089757"/>
            <a:ext cx="486460" cy="48646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554516" y="3995928"/>
            <a:ext cx="264962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 i="0">
                <a:solidFill>
                  <a:srgbClr val="F5F2FC"/>
                </a:solidFill>
                <a:latin typeface="Segoe UI Semibold"/>
              </a:rPr>
              <a:t>Shape what is next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54516" y="4507992"/>
            <a:ext cx="2649626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400" b="0" i="0">
                <a:solidFill>
                  <a:srgbClr val="B6AED2"/>
                </a:solidFill>
                <a:latin typeface="Segoe UI"/>
              </a:rPr>
              <a:t>Bring the topics you care about. The community helps set the agenda for next month.</a:t>
            </a:r>
          </a:p>
        </p:txBody>
      </p:sp>
      <p:pic>
        <p:nvPicPr>
          <p:cNvPr id="21" name="Picture 20" descr="logo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6928" y="6455664"/>
            <a:ext cx="237744" cy="237744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868680" y="6437376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i="0">
                <a:solidFill>
                  <a:srgbClr val="8B83A8"/>
                </a:solidFill>
                <a:latin typeface="Segoe UI"/>
              </a:rPr>
              <a:t>CloudHour</a:t>
            </a:r>
            <a:r>
              <a:rPr sz="950" b="0" i="0">
                <a:solidFill>
                  <a:srgbClr val="8B83A8"/>
                </a:solidFill>
                <a:latin typeface="Segoe UI"/>
              </a:rPr>
              <a:t>   ·   Microsoft EMS Community  ·  Jul 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11535" y="6437376"/>
            <a:ext cx="6858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50" b="1" i="0">
                <a:solidFill>
                  <a:srgbClr val="8B83A8"/>
                </a:solidFill>
                <a:latin typeface="Consola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cont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3504" y="548640"/>
            <a:ext cx="10058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 spc="260">
                <a:solidFill>
                  <a:srgbClr val="22D3EE"/>
                </a:solidFill>
                <a:latin typeface="Consolas"/>
              </a:rPr>
              <a:t>HOUSEKEEPING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896112"/>
            <a:ext cx="100584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800" b="1" i="0">
                <a:solidFill>
                  <a:srgbClr val="F5F2FC"/>
                </a:solidFill>
                <a:latin typeface="Segoe UI Semibold"/>
              </a:rPr>
              <a:t>Before we start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3504" y="2103120"/>
            <a:ext cx="3417722" cy="2514600"/>
          </a:xfrm>
          <a:prstGeom prst="roundRect">
            <a:avLst>
              <a:gd name="adj" fmla="val 10000"/>
            </a:avLst>
          </a:prstGeom>
          <a:solidFill>
            <a:srgbClr val="1A1436"/>
          </a:solidFill>
          <a:ln w="12700">
            <a:solidFill>
              <a:srgbClr val="342B5E"/>
            </a:solidFill>
          </a:ln>
          <a:effectLst>
            <a:outerShdw blurRad="82296" dist="4572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987552" y="2468879"/>
            <a:ext cx="841248" cy="841248"/>
          </a:xfrm>
          <a:prstGeom prst="ellipse">
            <a:avLst/>
          </a:prstGeom>
          <a:gradFill rotWithShape="1">
            <a:gsLst>
              <a:gs pos="0">
                <a:srgbClr val="FF2E88"/>
              </a:gs>
              <a:gs pos="100000">
                <a:srgbClr val="7C3AED"/>
              </a:gs>
            </a:gsLst>
            <a:lin ang="27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mic_o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2626" y="2653954"/>
            <a:ext cx="471098" cy="47109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87552" y="3474720"/>
            <a:ext cx="264962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F5F2FC"/>
                </a:solidFill>
                <a:latin typeface="Segoe UI Semibold"/>
              </a:rPr>
              <a:t>Prefer to listen?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3931920"/>
            <a:ext cx="2649626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1350" b="0" i="0">
                <a:solidFill>
                  <a:srgbClr val="B6AED2"/>
                </a:solidFill>
                <a:latin typeface="Segoe UI"/>
              </a:rPr>
              <a:t>No pressure to speak. Mute up and enjoy the conversation.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6986" y="2103120"/>
            <a:ext cx="3417722" cy="2514600"/>
          </a:xfrm>
          <a:prstGeom prst="roundRect">
            <a:avLst>
              <a:gd name="adj" fmla="val 10000"/>
            </a:avLst>
          </a:prstGeom>
          <a:solidFill>
            <a:srgbClr val="1A1436"/>
          </a:solidFill>
          <a:ln w="12700">
            <a:solidFill>
              <a:srgbClr val="342B5E"/>
            </a:solidFill>
          </a:ln>
          <a:effectLst>
            <a:outerShdw blurRad="82296" dist="4572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4771034" y="2468879"/>
            <a:ext cx="841248" cy="841248"/>
          </a:xfrm>
          <a:prstGeom prst="ellipse">
            <a:avLst/>
          </a:prstGeom>
          <a:gradFill rotWithShape="1">
            <a:gsLst>
              <a:gs pos="0">
                <a:srgbClr val="7C3AED"/>
              </a:gs>
              <a:gs pos="100000">
                <a:srgbClr val="06B6D4"/>
              </a:gs>
            </a:gsLst>
            <a:lin ang="27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mi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56108" y="2653954"/>
            <a:ext cx="471098" cy="47109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771034" y="3474720"/>
            <a:ext cx="264962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F5F2FC"/>
                </a:solidFill>
                <a:latin typeface="Segoe UI Semibold"/>
              </a:rPr>
              <a:t>Open mic is 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71034" y="3931920"/>
            <a:ext cx="2649626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1350" b="0" i="0">
                <a:solidFill>
                  <a:srgbClr val="B6AED2"/>
                </a:solidFill>
                <a:latin typeface="Segoe UI"/>
              </a:rPr>
              <a:t>Jump in anytime. This is a chat, not a webinar.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70468" y="2103120"/>
            <a:ext cx="3417722" cy="2514600"/>
          </a:xfrm>
          <a:prstGeom prst="roundRect">
            <a:avLst>
              <a:gd name="adj" fmla="val 10000"/>
            </a:avLst>
          </a:prstGeom>
          <a:solidFill>
            <a:srgbClr val="1A1436"/>
          </a:solidFill>
          <a:ln w="12700">
            <a:solidFill>
              <a:srgbClr val="342B5E"/>
            </a:solidFill>
          </a:ln>
          <a:effectLst>
            <a:outerShdw blurRad="82296" dist="4572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8554516" y="2468879"/>
            <a:ext cx="841248" cy="841248"/>
          </a:xfrm>
          <a:prstGeom prst="ellipse">
            <a:avLst/>
          </a:prstGeom>
          <a:gradFill rotWithShape="1">
            <a:gsLst>
              <a:gs pos="0">
                <a:srgbClr val="FF2E88"/>
              </a:gs>
              <a:gs pos="52000">
                <a:srgbClr val="7C3AED"/>
              </a:gs>
              <a:gs pos="100000">
                <a:srgbClr val="06B6D4"/>
              </a:gs>
            </a:gsLst>
            <a:lin ang="27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cha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39591" y="2653954"/>
            <a:ext cx="471098" cy="47109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554516" y="3474720"/>
            <a:ext cx="264962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F5F2FC"/>
                </a:solidFill>
                <a:latin typeface="Segoe UI Semibold"/>
              </a:rPr>
              <a:t>Use the chat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54516" y="3931920"/>
            <a:ext cx="2649626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1350" b="0" i="0">
                <a:solidFill>
                  <a:srgbClr val="B6AED2"/>
                </a:solidFill>
                <a:latin typeface="Segoe UI"/>
              </a:rPr>
              <a:t>Drop links, questions and hot takes as we go.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3504" y="507492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spc="240">
                <a:solidFill>
                  <a:srgbClr val="8B83A8"/>
                </a:solidFill>
                <a:latin typeface="Consolas"/>
              </a:rPr>
              <a:t>YOU ARE HERE</a:t>
            </a:r>
          </a:p>
        </p:txBody>
      </p:sp>
      <p:pic>
        <p:nvPicPr>
          <p:cNvPr id="21" name="Picture 20" descr="image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3504" y="5394960"/>
            <a:ext cx="3017520" cy="669653"/>
          </a:xfrm>
          <a:prstGeom prst="roundRect">
            <a:avLst>
              <a:gd name="adj" fmla="val 16000"/>
            </a:avLst>
          </a:prstGeom>
          <a:ln w="15875">
            <a:solidFill>
              <a:srgbClr val="342B5E"/>
            </a:solidFill>
          </a:ln>
          <a:effectLst>
            <a:outerShdw blurRad="91440" dist="54864" dir="5400000" rotWithShape="0">
              <a:srgbClr val="000000">
                <a:alpha val="50000"/>
              </a:srgbClr>
            </a:outerShdw>
          </a:effectLst>
        </p:spPr>
      </p:pic>
      <p:pic>
        <p:nvPicPr>
          <p:cNvPr id="22" name="Picture 21" descr="image7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86784" y="5394960"/>
            <a:ext cx="3200400" cy="605901"/>
          </a:xfrm>
          <a:prstGeom prst="roundRect">
            <a:avLst>
              <a:gd name="adj" fmla="val 16000"/>
            </a:avLst>
          </a:prstGeom>
          <a:ln w="15875">
            <a:solidFill>
              <a:srgbClr val="342B5E"/>
            </a:solidFill>
          </a:ln>
          <a:effectLst>
            <a:outerShdw blurRad="91440" dist="54864" dir="5400000" rotWithShape="0">
              <a:srgbClr val="000000">
                <a:alpha val="50000"/>
              </a:srgbClr>
            </a:outerShdw>
          </a:effectLst>
        </p:spPr>
      </p:pic>
      <p:sp>
        <p:nvSpPr>
          <p:cNvPr id="23" name="TextBox 22"/>
          <p:cNvSpPr txBox="1"/>
          <p:nvPr/>
        </p:nvSpPr>
        <p:spPr>
          <a:xfrm>
            <a:off x="7461504" y="5440680"/>
            <a:ext cx="4126687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6000"/>
              </a:lnSpc>
            </a:pPr>
            <a:r>
              <a:rPr sz="1300" b="0" i="0">
                <a:solidFill>
                  <a:srgbClr val="B6AED2"/>
                </a:solidFill>
                <a:latin typeface="Segoe UI"/>
              </a:rPr>
              <a:t>Mute and unmute live bottom-left in Discord. Open mic just means unmute and talk.</a:t>
            </a:r>
          </a:p>
        </p:txBody>
      </p:sp>
      <p:pic>
        <p:nvPicPr>
          <p:cNvPr id="24" name="Picture 23" descr="logo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66928" y="6455664"/>
            <a:ext cx="237744" cy="237744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868680" y="6437376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i="0">
                <a:solidFill>
                  <a:srgbClr val="8B83A8"/>
                </a:solidFill>
                <a:latin typeface="Segoe UI"/>
              </a:rPr>
              <a:t>CloudHour</a:t>
            </a:r>
            <a:r>
              <a:rPr sz="950" b="0" i="0">
                <a:solidFill>
                  <a:srgbClr val="8B83A8"/>
                </a:solidFill>
                <a:latin typeface="Segoe UI"/>
              </a:rPr>
              <a:t>   ·   Microsoft EMS Community  ·  Jul 2026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11535" y="6437376"/>
            <a:ext cx="6858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50" b="1" i="0">
                <a:solidFill>
                  <a:srgbClr val="8B83A8"/>
                </a:solidFill>
                <a:latin typeface="Consola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cont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6726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3504" y="548640"/>
            <a:ext cx="10058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 spc="260">
                <a:solidFill>
                  <a:srgbClr val="22D3EE"/>
                </a:solidFill>
                <a:latin typeface="Consolas"/>
              </a:rPr>
              <a:t>WORTH A BOOKMARK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896112"/>
            <a:ext cx="100584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600" b="1" i="0">
                <a:solidFill>
                  <a:srgbClr val="F5F2FC"/>
                </a:solidFill>
                <a:latin typeface="Segoe UI Semibold"/>
              </a:rPr>
              <a:t>Links to share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3504" y="1828800"/>
            <a:ext cx="5309463" cy="914400"/>
          </a:xfrm>
          <a:prstGeom prst="roundRect">
            <a:avLst>
              <a:gd name="adj" fmla="val 14000"/>
            </a:avLst>
          </a:prstGeom>
          <a:solidFill>
            <a:srgbClr val="1A1436"/>
          </a:solidFill>
          <a:ln w="12700">
            <a:solidFill>
              <a:srgbClr val="342B5E"/>
            </a:solidFill>
          </a:ln>
          <a:effectLst>
            <a:outerShdw blurRad="82296" dist="4572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841248" y="2066543"/>
            <a:ext cx="438912" cy="438912"/>
          </a:xfrm>
          <a:prstGeom prst="ellipse">
            <a:avLst/>
          </a:prstGeom>
          <a:solidFill>
            <a:srgbClr val="211A40"/>
          </a:solidFill>
          <a:ln w="12700">
            <a:solidFill>
              <a:srgbClr val="342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lin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976" y="2176272"/>
            <a:ext cx="219456" cy="21945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17904" y="1906412"/>
            <a:ext cx="4212183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lang="en-US" sz="1400" b="1">
                <a:solidFill>
                  <a:srgbClr val="F5F2FC"/>
                </a:solidFill>
                <a:latin typeface="Segoe UI"/>
                <a:cs typeface="Segoe UI"/>
              </a:rPr>
              <a:t>TITLE</a:t>
            </a:r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1463039" y="2338079"/>
            <a:ext cx="4212183" cy="12311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lang="en-US" sz="800">
                <a:solidFill>
                  <a:srgbClr val="FF2E88"/>
                </a:solidFill>
                <a:latin typeface="Consolas"/>
              </a:rPr>
              <a:t>TEXT.</a:t>
            </a:r>
            <a:endParaRPr sz="800" b="0" i="0">
              <a:solidFill>
                <a:srgbClr val="FF2E88"/>
              </a:solidFill>
              <a:latin typeface="Consolas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278727" y="1828800"/>
            <a:ext cx="5309463" cy="914400"/>
          </a:xfrm>
          <a:prstGeom prst="roundRect">
            <a:avLst>
              <a:gd name="adj" fmla="val 14000"/>
            </a:avLst>
          </a:prstGeom>
          <a:solidFill>
            <a:srgbClr val="1A1436"/>
          </a:solidFill>
          <a:ln w="12700">
            <a:solidFill>
              <a:srgbClr val="342B5E"/>
            </a:solidFill>
          </a:ln>
          <a:effectLst>
            <a:outerShdw blurRad="82296" dist="4572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6516471" y="2066543"/>
            <a:ext cx="438912" cy="438912"/>
          </a:xfrm>
          <a:prstGeom prst="ellipse">
            <a:avLst/>
          </a:prstGeom>
          <a:solidFill>
            <a:srgbClr val="211A40"/>
          </a:solidFill>
          <a:ln w="12700">
            <a:solidFill>
              <a:srgbClr val="342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lin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6199" y="2176272"/>
            <a:ext cx="219456" cy="21945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138569" y="1867324"/>
            <a:ext cx="4212183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lang="en-US" sz="1400" b="1">
                <a:solidFill>
                  <a:srgbClr val="F5F2FC"/>
                </a:solidFill>
                <a:latin typeface="Segoe UI"/>
              </a:rPr>
              <a:t>TITLE</a:t>
            </a:r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7138568" y="2310248"/>
            <a:ext cx="4212183" cy="16158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lang="en-US" sz="1050">
                <a:solidFill>
                  <a:srgbClr val="8B5CF6"/>
                </a:solidFill>
                <a:latin typeface="Consolas"/>
              </a:rPr>
              <a:t>TEXT</a:t>
            </a:r>
            <a:endParaRPr lang="en-US"/>
          </a:p>
        </p:txBody>
      </p:sp>
      <p:sp>
        <p:nvSpPr>
          <p:cNvPr id="15" name="Rounded Rectangle 14"/>
          <p:cNvSpPr/>
          <p:nvPr/>
        </p:nvSpPr>
        <p:spPr>
          <a:xfrm>
            <a:off x="603504" y="2907791"/>
            <a:ext cx="5309463" cy="914400"/>
          </a:xfrm>
          <a:prstGeom prst="roundRect">
            <a:avLst>
              <a:gd name="adj" fmla="val 14000"/>
            </a:avLst>
          </a:prstGeom>
          <a:solidFill>
            <a:srgbClr val="1A1436"/>
          </a:solidFill>
          <a:ln w="12700">
            <a:solidFill>
              <a:srgbClr val="342B5E"/>
            </a:solidFill>
          </a:ln>
          <a:effectLst>
            <a:outerShdw blurRad="82296" dist="4572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841248" y="3145535"/>
            <a:ext cx="438912" cy="438912"/>
          </a:xfrm>
          <a:prstGeom prst="ellipse">
            <a:avLst/>
          </a:prstGeom>
          <a:solidFill>
            <a:srgbClr val="211A40"/>
          </a:solidFill>
          <a:ln w="12700">
            <a:solidFill>
              <a:srgbClr val="342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lin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976" y="3255263"/>
            <a:ext cx="219456" cy="219456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463673" y="3008618"/>
            <a:ext cx="4212183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lang="en-DK" b="1">
                <a:solidFill>
                  <a:schemeClr val="bg1">
                    <a:lumMod val="95000"/>
                  </a:schemeClr>
                </a:solidFill>
              </a:rPr>
              <a:t>TITLE </a:t>
            </a:r>
            <a:endParaRPr lang="en-US" b="1" dirty="0">
              <a:solidFill>
                <a:schemeClr val="bg1">
                  <a:lumMod val="95000"/>
                </a:schemeClr>
              </a:solidFill>
              <a:ea typeface="Calibri"/>
              <a:cs typeface="Calibri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499616" y="3463009"/>
            <a:ext cx="4212183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lang="en-DK" sz="1400">
                <a:solidFill>
                  <a:schemeClr val="bg1">
                    <a:lumMod val="95000"/>
                  </a:schemeClr>
                </a:solidFill>
              </a:rPr>
              <a:t>TEXT</a:t>
            </a:r>
            <a:endParaRPr lang="en-US"/>
          </a:p>
        </p:txBody>
      </p:sp>
      <p:sp>
        <p:nvSpPr>
          <p:cNvPr id="20" name="Rounded Rectangle 19"/>
          <p:cNvSpPr/>
          <p:nvPr/>
        </p:nvSpPr>
        <p:spPr>
          <a:xfrm>
            <a:off x="6278727" y="2907791"/>
            <a:ext cx="5309463" cy="914400"/>
          </a:xfrm>
          <a:prstGeom prst="roundRect">
            <a:avLst>
              <a:gd name="adj" fmla="val 14000"/>
            </a:avLst>
          </a:prstGeom>
          <a:solidFill>
            <a:srgbClr val="1A1436"/>
          </a:solidFill>
          <a:ln w="12700">
            <a:solidFill>
              <a:srgbClr val="342B5E"/>
            </a:solidFill>
          </a:ln>
          <a:effectLst>
            <a:outerShdw blurRad="82296" dist="4572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6516471" y="3145535"/>
            <a:ext cx="438912" cy="438912"/>
          </a:xfrm>
          <a:prstGeom prst="ellipse">
            <a:avLst/>
          </a:prstGeom>
          <a:solidFill>
            <a:srgbClr val="211A40"/>
          </a:solidFill>
          <a:ln w="12700">
            <a:solidFill>
              <a:srgbClr val="342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2" name="Picture 21" descr="lin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6199" y="3255263"/>
            <a:ext cx="219456" cy="219456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7056226" y="2996263"/>
            <a:ext cx="4212183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1400" b="1">
                <a:solidFill>
                  <a:srgbClr val="F5F2FC"/>
                </a:solidFill>
                <a:latin typeface="Segoe UI"/>
              </a:rPr>
              <a:t>TITLE</a:t>
            </a:r>
            <a:endParaRPr lang="en-US" sz="1400" b="1" i="0" dirty="0">
              <a:solidFill>
                <a:srgbClr val="F5F2FC"/>
              </a:solidFill>
              <a:latin typeface="Segoe UI"/>
              <a:cs typeface="Segoe UI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7041848" y="3385198"/>
            <a:ext cx="4212183" cy="1769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lang="en-US" sz="1150">
                <a:solidFill>
                  <a:srgbClr val="FF2E88"/>
                </a:solidFill>
                <a:latin typeface="Consolas"/>
              </a:rPr>
              <a:t>TEXT</a:t>
            </a:r>
            <a:endParaRPr lang="en-US"/>
          </a:p>
        </p:txBody>
      </p:sp>
      <p:sp>
        <p:nvSpPr>
          <p:cNvPr id="25" name="Rounded Rectangle 24"/>
          <p:cNvSpPr/>
          <p:nvPr/>
        </p:nvSpPr>
        <p:spPr>
          <a:xfrm>
            <a:off x="603504" y="3986783"/>
            <a:ext cx="5309463" cy="914400"/>
          </a:xfrm>
          <a:prstGeom prst="roundRect">
            <a:avLst>
              <a:gd name="adj" fmla="val 14000"/>
            </a:avLst>
          </a:prstGeom>
          <a:solidFill>
            <a:srgbClr val="1A1436"/>
          </a:solidFill>
          <a:ln w="12700">
            <a:solidFill>
              <a:srgbClr val="342B5E"/>
            </a:solidFill>
          </a:ln>
          <a:effectLst>
            <a:outerShdw blurRad="82296" dist="4572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841248" y="4224527"/>
            <a:ext cx="438912" cy="438912"/>
          </a:xfrm>
          <a:prstGeom prst="ellipse">
            <a:avLst/>
          </a:prstGeom>
          <a:solidFill>
            <a:srgbClr val="211A40"/>
          </a:solidFill>
          <a:ln w="12700">
            <a:solidFill>
              <a:srgbClr val="342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7" name="Picture 26" descr="lin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976" y="4334255"/>
            <a:ext cx="219456" cy="219456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490472" y="4107660"/>
            <a:ext cx="4212183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1400" b="1">
                <a:solidFill>
                  <a:srgbClr val="F5F2FC"/>
                </a:solidFill>
                <a:latin typeface="Segoe UI"/>
              </a:rPr>
              <a:t>TITLE</a:t>
            </a:r>
            <a:endParaRPr lang="en-US"/>
          </a:p>
        </p:txBody>
      </p:sp>
      <p:sp>
        <p:nvSpPr>
          <p:cNvPr id="29" name="TextBox 28"/>
          <p:cNvSpPr txBox="1"/>
          <p:nvPr/>
        </p:nvSpPr>
        <p:spPr>
          <a:xfrm>
            <a:off x="1499616" y="4511106"/>
            <a:ext cx="4212183" cy="1077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lang="en-US" sz="700">
                <a:solidFill>
                  <a:srgbClr val="8B5CF6"/>
                </a:solidFill>
                <a:latin typeface="Consolas"/>
              </a:rPr>
              <a:t>TEXT</a:t>
            </a:r>
            <a:endParaRPr lang="en-US"/>
          </a:p>
        </p:txBody>
      </p:sp>
      <p:sp>
        <p:nvSpPr>
          <p:cNvPr id="30" name="Rounded Rectangle 29"/>
          <p:cNvSpPr/>
          <p:nvPr/>
        </p:nvSpPr>
        <p:spPr>
          <a:xfrm>
            <a:off x="6278727" y="3986783"/>
            <a:ext cx="5309463" cy="914400"/>
          </a:xfrm>
          <a:prstGeom prst="roundRect">
            <a:avLst>
              <a:gd name="adj" fmla="val 14000"/>
            </a:avLst>
          </a:prstGeom>
          <a:solidFill>
            <a:srgbClr val="1A1436"/>
          </a:solidFill>
          <a:ln w="12700">
            <a:solidFill>
              <a:srgbClr val="342B5E"/>
            </a:solidFill>
          </a:ln>
          <a:effectLst>
            <a:outerShdw blurRad="82296" dist="4572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1" name="Oval 30"/>
          <p:cNvSpPr/>
          <p:nvPr/>
        </p:nvSpPr>
        <p:spPr>
          <a:xfrm>
            <a:off x="6516471" y="4224527"/>
            <a:ext cx="438912" cy="438912"/>
          </a:xfrm>
          <a:prstGeom prst="ellipse">
            <a:avLst/>
          </a:prstGeom>
          <a:solidFill>
            <a:srgbClr val="211A40"/>
          </a:solidFill>
          <a:ln w="12700">
            <a:solidFill>
              <a:srgbClr val="342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2" name="Picture 31" descr="lin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6199" y="4334255"/>
            <a:ext cx="219456" cy="219456"/>
          </a:xfrm>
          <a:prstGeom prst="rect">
            <a:avLst/>
          </a:prstGeom>
        </p:spPr>
      </p:pic>
      <p:sp>
        <p:nvSpPr>
          <p:cNvPr id="40" name="Rounded Rectangle 39"/>
          <p:cNvSpPr/>
          <p:nvPr/>
        </p:nvSpPr>
        <p:spPr>
          <a:xfrm>
            <a:off x="6278727" y="5065776"/>
            <a:ext cx="5309463" cy="914400"/>
          </a:xfrm>
          <a:prstGeom prst="roundRect">
            <a:avLst>
              <a:gd name="adj" fmla="val 14000"/>
            </a:avLst>
          </a:prstGeom>
          <a:solidFill>
            <a:srgbClr val="1A1436"/>
          </a:solidFill>
          <a:ln w="12700">
            <a:solidFill>
              <a:srgbClr val="342B5E"/>
            </a:solidFill>
          </a:ln>
          <a:effectLst>
            <a:outerShdw blurRad="82296" dist="4572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6516471" y="5303520"/>
            <a:ext cx="438912" cy="438912"/>
          </a:xfrm>
          <a:prstGeom prst="ellipse">
            <a:avLst/>
          </a:prstGeom>
          <a:solidFill>
            <a:srgbClr val="211A40"/>
          </a:solidFill>
          <a:ln w="12700">
            <a:solidFill>
              <a:srgbClr val="342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2" name="Picture 41" descr="lin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6199" y="5413248"/>
            <a:ext cx="219456" cy="219456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7056226" y="5197380"/>
            <a:ext cx="4212183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1400" b="1">
                <a:solidFill>
                  <a:srgbClr val="F5F2FC"/>
                </a:solidFill>
                <a:latin typeface="Segoe UI"/>
              </a:rPr>
              <a:t>TTTLE</a:t>
            </a:r>
            <a:endParaRPr lang="en-US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45" name="Picture 44" descr="log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" y="6455664"/>
            <a:ext cx="237744" cy="237744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868680" y="6437376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i="0">
                <a:solidFill>
                  <a:srgbClr val="8B83A8"/>
                </a:solidFill>
                <a:latin typeface="Segoe UI"/>
              </a:rPr>
              <a:t>CloudHour</a:t>
            </a:r>
            <a:r>
              <a:rPr sz="950" b="0" i="0">
                <a:solidFill>
                  <a:srgbClr val="8B83A8"/>
                </a:solidFill>
                <a:latin typeface="Segoe UI"/>
              </a:rPr>
              <a:t>   ·   Microsoft EMS Community  ·  Jul 2026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911535" y="6437376"/>
            <a:ext cx="6858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50" b="1" i="0">
                <a:solidFill>
                  <a:srgbClr val="8B83A8"/>
                </a:solidFill>
                <a:latin typeface="Consolas"/>
              </a:rPr>
              <a:t>5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DA9CDC2-12EE-D030-481E-C35F3C259E26}"/>
              </a:ext>
            </a:extLst>
          </p:cNvPr>
          <p:cNvSpPr txBox="1"/>
          <p:nvPr/>
        </p:nvSpPr>
        <p:spPr>
          <a:xfrm>
            <a:off x="7000225" y="4078245"/>
            <a:ext cx="6174120" cy="36933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DK">
                <a:solidFill>
                  <a:srgbClr val="FFFFFF"/>
                </a:solidFill>
                <a:latin typeface="Segoe UI"/>
                <a:cs typeface="Segoe UI"/>
              </a:rPr>
              <a:t>TITLE</a:t>
            </a:r>
            <a:endParaRPr lang="en-US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409B3F3-E3C9-CDCF-E54A-399CC481065B}"/>
              </a:ext>
            </a:extLst>
          </p:cNvPr>
          <p:cNvSpPr txBox="1"/>
          <p:nvPr/>
        </p:nvSpPr>
        <p:spPr>
          <a:xfrm>
            <a:off x="6999441" y="4381528"/>
            <a:ext cx="3662463" cy="26161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DK" sz="1100">
                <a:solidFill>
                  <a:schemeClr val="bg1">
                    <a:lumMod val="95000"/>
                  </a:schemeClr>
                </a:solidFill>
              </a:rPr>
              <a:t>TEXT</a:t>
            </a:r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cont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3504" y="548640"/>
            <a:ext cx="10058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 spc="260">
                <a:solidFill>
                  <a:srgbClr val="22D3EE"/>
                </a:solidFill>
                <a:latin typeface="Consolas"/>
              </a:rPr>
              <a:t>REP THE COMMUNITY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896112"/>
            <a:ext cx="66751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600" b="1" i="0">
                <a:solidFill>
                  <a:srgbClr val="F5F2FC"/>
                </a:solidFill>
                <a:latin typeface="Segoe UI Semibold"/>
              </a:rPr>
              <a:t>Add the MSEC server tag</a:t>
            </a:r>
          </a:p>
        </p:txBody>
      </p:sp>
      <p:sp>
        <p:nvSpPr>
          <p:cNvPr id="5" name="Oval 4"/>
          <p:cNvSpPr/>
          <p:nvPr/>
        </p:nvSpPr>
        <p:spPr>
          <a:xfrm>
            <a:off x="603504" y="1874519"/>
            <a:ext cx="566928" cy="566928"/>
          </a:xfrm>
          <a:prstGeom prst="ellipse">
            <a:avLst/>
          </a:prstGeom>
          <a:gradFill rotWithShape="1">
            <a:gsLst>
              <a:gs pos="0">
                <a:srgbClr val="FF2E88"/>
              </a:gs>
              <a:gs pos="52000">
                <a:srgbClr val="7C3AED"/>
              </a:gs>
              <a:gs pos="100000">
                <a:srgbClr val="06B6D4"/>
              </a:gs>
            </a:gsLst>
            <a:lin ang="18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03504" y="1856231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F5F2FC"/>
                </a:solidFill>
                <a:latin typeface="Segoe UI Semibold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80744" y="1819655"/>
            <a:ext cx="54864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50" b="1" i="0">
                <a:solidFill>
                  <a:srgbClr val="F5F2FC"/>
                </a:solidFill>
                <a:latin typeface="Segoe UI"/>
              </a:rPr>
              <a:t>Open Discord, then your profile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80744" y="2221991"/>
            <a:ext cx="5486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 i="0">
                <a:solidFill>
                  <a:srgbClr val="B6AED2"/>
                </a:solidFill>
                <a:latin typeface="Segoe UI"/>
              </a:rPr>
              <a:t>Click your name bottom-left, then Edit Profile.</a:t>
            </a:r>
          </a:p>
        </p:txBody>
      </p:sp>
      <p:sp>
        <p:nvSpPr>
          <p:cNvPr id="9" name="Oval 8"/>
          <p:cNvSpPr/>
          <p:nvPr/>
        </p:nvSpPr>
        <p:spPr>
          <a:xfrm>
            <a:off x="603504" y="2953511"/>
            <a:ext cx="566928" cy="566928"/>
          </a:xfrm>
          <a:prstGeom prst="ellipse">
            <a:avLst/>
          </a:prstGeom>
          <a:gradFill rotWithShape="1">
            <a:gsLst>
              <a:gs pos="0">
                <a:srgbClr val="FF2E88"/>
              </a:gs>
              <a:gs pos="52000">
                <a:srgbClr val="7C3AED"/>
              </a:gs>
              <a:gs pos="100000">
                <a:srgbClr val="06B6D4"/>
              </a:gs>
            </a:gsLst>
            <a:lin ang="18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03504" y="2935223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F5F2FC"/>
                </a:solidFill>
                <a:latin typeface="Segoe UI Semibold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80744" y="2898647"/>
            <a:ext cx="54864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50" b="1" i="0">
                <a:solidFill>
                  <a:srgbClr val="F5F2FC"/>
                </a:solidFill>
                <a:latin typeface="Segoe UI"/>
              </a:rPr>
              <a:t>Choose Server Tag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80744" y="3300983"/>
            <a:ext cx="5486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 i="0">
                <a:solidFill>
                  <a:srgbClr val="B6AED2"/>
                </a:solidFill>
                <a:latin typeface="Segoe UI"/>
              </a:rPr>
              <a:t>Pick Microsoft EMS Community from the list.</a:t>
            </a:r>
          </a:p>
        </p:txBody>
      </p:sp>
      <p:sp>
        <p:nvSpPr>
          <p:cNvPr id="13" name="Oval 12"/>
          <p:cNvSpPr/>
          <p:nvPr/>
        </p:nvSpPr>
        <p:spPr>
          <a:xfrm>
            <a:off x="603504" y="4032503"/>
            <a:ext cx="566928" cy="566928"/>
          </a:xfrm>
          <a:prstGeom prst="ellipse">
            <a:avLst/>
          </a:prstGeom>
          <a:gradFill rotWithShape="1">
            <a:gsLst>
              <a:gs pos="0">
                <a:srgbClr val="FF2E88"/>
              </a:gs>
              <a:gs pos="52000">
                <a:srgbClr val="7C3AED"/>
              </a:gs>
              <a:gs pos="100000">
                <a:srgbClr val="06B6D4"/>
              </a:gs>
            </a:gsLst>
            <a:lin ang="18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03504" y="4014215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F5F2FC"/>
                </a:solidFill>
                <a:latin typeface="Segoe UI Semibold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0744" y="3977639"/>
            <a:ext cx="54864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50" b="1" i="0">
                <a:solidFill>
                  <a:srgbClr val="F5F2FC"/>
                </a:solidFill>
                <a:latin typeface="Segoe UI"/>
              </a:rPr>
              <a:t>Wear it everywhere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80744" y="4379975"/>
            <a:ext cx="5486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 i="0">
                <a:solidFill>
                  <a:srgbClr val="B6AED2"/>
                </a:solidFill>
                <a:latin typeface="Segoe UI"/>
              </a:rPr>
              <a:t>The MSEC tag shows next to your name across Discord.</a:t>
            </a:r>
          </a:p>
        </p:txBody>
      </p:sp>
      <p:pic>
        <p:nvPicPr>
          <p:cNvPr id="17" name="Picture 16" descr="image1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0880" y="1783080"/>
            <a:ext cx="3246120" cy="1322697"/>
          </a:xfrm>
          <a:prstGeom prst="roundRect">
            <a:avLst>
              <a:gd name="adj" fmla="val 12000"/>
            </a:avLst>
          </a:prstGeom>
          <a:ln w="15875">
            <a:solidFill>
              <a:srgbClr val="342B5E"/>
            </a:solidFill>
          </a:ln>
          <a:effectLst>
            <a:outerShdw blurRad="91440" dist="54864" dir="5400000" rotWithShape="0">
              <a:srgbClr val="000000">
                <a:alpha val="50000"/>
              </a:srgbClr>
            </a:outerShdw>
          </a:effectLst>
        </p:spPr>
      </p:pic>
      <p:pic>
        <p:nvPicPr>
          <p:cNvPr id="18" name="Picture 17" descr="image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78040" y="3246120"/>
            <a:ext cx="3063240" cy="1399683"/>
          </a:xfrm>
          <a:prstGeom prst="roundRect">
            <a:avLst>
              <a:gd name="adj" fmla="val 12000"/>
            </a:avLst>
          </a:prstGeom>
          <a:ln w="15875">
            <a:solidFill>
              <a:srgbClr val="342B5E"/>
            </a:solidFill>
          </a:ln>
          <a:effectLst>
            <a:outerShdw blurRad="91440" dist="54864" dir="5400000" rotWithShape="0">
              <a:srgbClr val="000000">
                <a:alpha val="50000"/>
              </a:srgbClr>
            </a:outerShdw>
          </a:effectLst>
        </p:spPr>
      </p:pic>
      <p:pic>
        <p:nvPicPr>
          <p:cNvPr id="19" name="Picture 18" descr="image1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75320" y="4160520"/>
            <a:ext cx="2194560" cy="1803748"/>
          </a:xfrm>
          <a:prstGeom prst="roundRect">
            <a:avLst>
              <a:gd name="adj" fmla="val 12000"/>
            </a:avLst>
          </a:prstGeom>
          <a:ln w="19050">
            <a:solidFill>
              <a:srgbClr val="FF2E88"/>
            </a:solidFill>
          </a:ln>
          <a:effectLst>
            <a:outerShdw blurRad="91440" dist="54864" dir="5400000" rotWithShape="0">
              <a:srgbClr val="000000">
                <a:alpha val="50000"/>
              </a:srgbClr>
            </a:outerShdw>
          </a:effectLst>
        </p:spPr>
      </p:pic>
      <p:pic>
        <p:nvPicPr>
          <p:cNvPr id="20" name="Picture 19" descr="logo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6928" y="6455664"/>
            <a:ext cx="237744" cy="237744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868680" y="6437376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i="0">
                <a:solidFill>
                  <a:srgbClr val="8B83A8"/>
                </a:solidFill>
                <a:latin typeface="Segoe UI"/>
              </a:rPr>
              <a:t>CloudHour</a:t>
            </a:r>
            <a:r>
              <a:rPr sz="950" b="0" i="0">
                <a:solidFill>
                  <a:srgbClr val="8B83A8"/>
                </a:solidFill>
                <a:latin typeface="Segoe UI"/>
              </a:rPr>
              <a:t>   ·   Microsoft EMS Community  ·  Jul 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11535" y="6437376"/>
            <a:ext cx="6858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50" b="1" i="0">
                <a:solidFill>
                  <a:srgbClr val="8B83A8"/>
                </a:solidFill>
                <a:latin typeface="Consola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sec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3504" y="548640"/>
            <a:ext cx="10058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 spc="260">
                <a:solidFill>
                  <a:srgbClr val="22D3EE"/>
                </a:solidFill>
                <a:latin typeface="Consolas"/>
              </a:rPr>
              <a:t>TODAY'S 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896112"/>
            <a:ext cx="100584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800" b="1" i="0">
                <a:solidFill>
                  <a:srgbClr val="F5F2FC"/>
                </a:solidFill>
                <a:latin typeface="Segoe UI Semibold"/>
              </a:rPr>
              <a:t>On the table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1591056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0" i="0">
                <a:solidFill>
                  <a:srgbClr val="B6AED2"/>
                </a:solidFill>
                <a:latin typeface="Segoe UI"/>
              </a:rPr>
              <a:t>Six changes hitting your tenant. A quick brief on each, then we open the floor. We will not get to all of them, so pick your battles.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" y="2066543"/>
            <a:ext cx="5286603" cy="896111"/>
          </a:xfrm>
          <a:prstGeom prst="roundRect">
            <a:avLst>
              <a:gd name="adj" fmla="val 16000"/>
            </a:avLst>
          </a:prstGeom>
          <a:solidFill>
            <a:srgbClr val="1A1436"/>
          </a:solidFill>
          <a:ln w="12700">
            <a:solidFill>
              <a:srgbClr val="342B5E"/>
            </a:solidFill>
          </a:ln>
          <a:effectLst>
            <a:outerShdw blurRad="82296" dist="4572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04672" y="2295144"/>
            <a:ext cx="457200" cy="457200"/>
          </a:xfrm>
          <a:prstGeom prst="ellipse">
            <a:avLst/>
          </a:prstGeom>
          <a:gradFill rotWithShape="1">
            <a:gsLst>
              <a:gs pos="0">
                <a:srgbClr val="FF2E88"/>
              </a:gs>
              <a:gs pos="100000">
                <a:srgbClr val="7C3AED"/>
              </a:gs>
            </a:gsLst>
            <a:lin ang="18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04672" y="2276856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700" b="1" i="0">
                <a:solidFill>
                  <a:srgbClr val="F5F2FC"/>
                </a:solidFill>
                <a:latin typeface="Segoe UI Semibold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99032" y="2249424"/>
            <a:ext cx="3457803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F5F2FC"/>
                </a:solidFill>
                <a:latin typeface="Segoe UI"/>
              </a:rPr>
              <a:t>Multi-Admin Approval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99032" y="2596896"/>
            <a:ext cx="3457803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B6AED2"/>
                </a:solidFill>
                <a:latin typeface="Consolas"/>
              </a:rPr>
              <a:t>Intune · governance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884267" y="2350008"/>
            <a:ext cx="841248" cy="329184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F2E88"/>
              </a:gs>
              <a:gs pos="100000">
                <a:srgbClr val="7C3AED"/>
              </a:gs>
            </a:gsLst>
            <a:lin ang="72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884267" y="2331720"/>
            <a:ext cx="841248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 spc="100">
                <a:solidFill>
                  <a:srgbClr val="F5F2FC"/>
                </a:solidFill>
                <a:latin typeface="Consolas"/>
              </a:rPr>
              <a:t>LIVE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3504" y="3108959"/>
            <a:ext cx="5286603" cy="896111"/>
          </a:xfrm>
          <a:prstGeom prst="roundRect">
            <a:avLst>
              <a:gd name="adj" fmla="val 16000"/>
            </a:avLst>
          </a:prstGeom>
          <a:solidFill>
            <a:srgbClr val="1A1436"/>
          </a:solidFill>
          <a:ln w="12700">
            <a:solidFill>
              <a:srgbClr val="342B5E"/>
            </a:solidFill>
          </a:ln>
          <a:effectLst>
            <a:outerShdw blurRad="82296" dist="4572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804672" y="3337559"/>
            <a:ext cx="457200" cy="457200"/>
          </a:xfrm>
          <a:prstGeom prst="ellipse">
            <a:avLst/>
          </a:prstGeom>
          <a:gradFill rotWithShape="1">
            <a:gsLst>
              <a:gs pos="0">
                <a:srgbClr val="7C3AED"/>
              </a:gs>
              <a:gs pos="100000">
                <a:srgbClr val="06B6D4"/>
              </a:gs>
            </a:gsLst>
            <a:lin ang="18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04672" y="3319271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700" b="1" i="0">
                <a:solidFill>
                  <a:srgbClr val="F5F2FC"/>
                </a:solidFill>
                <a:latin typeface="Segoe UI Semibol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99032" y="3291839"/>
            <a:ext cx="3457803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F5F2FC"/>
                </a:solidFill>
                <a:latin typeface="Segoe UI"/>
              </a:rPr>
              <a:t>CA at registration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99032" y="3639311"/>
            <a:ext cx="3457803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B6AED2"/>
                </a:solidFill>
                <a:latin typeface="Consolas"/>
              </a:rPr>
              <a:t>Entra · WHfB &amp; SSO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884267" y="3392423"/>
            <a:ext cx="841248" cy="329184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7C3AED"/>
              </a:gs>
              <a:gs pos="100000">
                <a:srgbClr val="06B6D4"/>
              </a:gs>
            </a:gsLst>
            <a:lin ang="72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884267" y="3374135"/>
            <a:ext cx="841248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 spc="100">
                <a:solidFill>
                  <a:srgbClr val="F5F2FC"/>
                </a:solidFill>
                <a:latin typeface="Consolas"/>
              </a:rPr>
              <a:t>JUL 6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3504" y="4151375"/>
            <a:ext cx="5286603" cy="896111"/>
          </a:xfrm>
          <a:prstGeom prst="roundRect">
            <a:avLst>
              <a:gd name="adj" fmla="val 16000"/>
            </a:avLst>
          </a:prstGeom>
          <a:solidFill>
            <a:srgbClr val="1A1436"/>
          </a:solidFill>
          <a:ln w="12700">
            <a:solidFill>
              <a:srgbClr val="342B5E"/>
            </a:solidFill>
          </a:ln>
          <a:effectLst>
            <a:outerShdw blurRad="82296" dist="4572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804672" y="4379975"/>
            <a:ext cx="457200" cy="457200"/>
          </a:xfrm>
          <a:prstGeom prst="ellipse">
            <a:avLst/>
          </a:prstGeom>
          <a:gradFill rotWithShape="1">
            <a:gsLst>
              <a:gs pos="0">
                <a:srgbClr val="FF2E88"/>
              </a:gs>
              <a:gs pos="52000">
                <a:srgbClr val="7C3AED"/>
              </a:gs>
              <a:gs pos="100000">
                <a:srgbClr val="06B6D4"/>
              </a:gs>
            </a:gsLst>
            <a:lin ang="18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04672" y="4361688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700" b="1" i="0">
                <a:solidFill>
                  <a:srgbClr val="F5F2FC"/>
                </a:solidFill>
                <a:latin typeface="Segoe UI Semibold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99032" y="4334255"/>
            <a:ext cx="3457803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F5F2FC"/>
                </a:solidFill>
                <a:latin typeface="Segoe UI"/>
              </a:rPr>
              <a:t>Intune Suite repackaging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99032" y="4681727"/>
            <a:ext cx="3457803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B6AED2"/>
                </a:solidFill>
                <a:latin typeface="Consolas"/>
              </a:rPr>
              <a:t>Licensing · Intune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884267" y="4434839"/>
            <a:ext cx="841248" cy="329184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F2E88"/>
              </a:gs>
              <a:gs pos="52000">
                <a:srgbClr val="7C3AED"/>
              </a:gs>
              <a:gs pos="100000">
                <a:srgbClr val="06B6D4"/>
              </a:gs>
            </a:gsLst>
            <a:lin ang="72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884267" y="4416551"/>
            <a:ext cx="841248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 spc="100">
                <a:solidFill>
                  <a:srgbClr val="F5F2FC"/>
                </a:solidFill>
                <a:latin typeface="Consolas"/>
              </a:rPr>
              <a:t>JUL 1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01587" y="2066543"/>
            <a:ext cx="5286603" cy="896111"/>
          </a:xfrm>
          <a:prstGeom prst="roundRect">
            <a:avLst>
              <a:gd name="adj" fmla="val 16000"/>
            </a:avLst>
          </a:prstGeom>
          <a:solidFill>
            <a:srgbClr val="1A1436"/>
          </a:solidFill>
          <a:ln w="12700">
            <a:solidFill>
              <a:srgbClr val="342B5E"/>
            </a:solidFill>
          </a:ln>
          <a:effectLst>
            <a:outerShdw blurRad="82296" dist="4572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6502755" y="2295144"/>
            <a:ext cx="457200" cy="457200"/>
          </a:xfrm>
          <a:prstGeom prst="ellipse">
            <a:avLst/>
          </a:prstGeom>
          <a:gradFill rotWithShape="1">
            <a:gsLst>
              <a:gs pos="0">
                <a:srgbClr val="FF2E88"/>
              </a:gs>
              <a:gs pos="100000">
                <a:srgbClr val="7C3AED"/>
              </a:gs>
            </a:gsLst>
            <a:lin ang="18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502755" y="2276856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700" b="1" i="0">
                <a:solidFill>
                  <a:srgbClr val="F5F2FC"/>
                </a:solidFill>
                <a:latin typeface="Segoe UI Semibold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97115" y="2249424"/>
            <a:ext cx="3457803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F5F2FC"/>
                </a:solidFill>
                <a:latin typeface="Segoe UI"/>
              </a:rPr>
              <a:t>Endpoint platform watch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97115" y="2596896"/>
            <a:ext cx="3457803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B6AED2"/>
                </a:solidFill>
                <a:latin typeface="Consolas"/>
              </a:rPr>
              <a:t>Win · Android · iOS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582351" y="2350008"/>
            <a:ext cx="841248" cy="329184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F2E88"/>
              </a:gs>
              <a:gs pos="100000">
                <a:srgbClr val="7C3AED"/>
              </a:gs>
            </a:gsLst>
            <a:lin ang="72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0582351" y="2331720"/>
            <a:ext cx="841248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 spc="100">
                <a:solidFill>
                  <a:srgbClr val="F5F2FC"/>
                </a:solidFill>
                <a:latin typeface="Consolas"/>
              </a:rPr>
              <a:t>JUN-OCT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301587" y="3108959"/>
            <a:ext cx="5286603" cy="896111"/>
          </a:xfrm>
          <a:prstGeom prst="roundRect">
            <a:avLst>
              <a:gd name="adj" fmla="val 16000"/>
            </a:avLst>
          </a:prstGeom>
          <a:solidFill>
            <a:srgbClr val="1A1436"/>
          </a:solidFill>
          <a:ln w="12700">
            <a:solidFill>
              <a:srgbClr val="342B5E"/>
            </a:solidFill>
          </a:ln>
          <a:effectLst>
            <a:outerShdw blurRad="82296" dist="4572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6502755" y="3337559"/>
            <a:ext cx="457200" cy="457200"/>
          </a:xfrm>
          <a:prstGeom prst="ellipse">
            <a:avLst/>
          </a:prstGeom>
          <a:gradFill rotWithShape="1">
            <a:gsLst>
              <a:gs pos="0">
                <a:srgbClr val="7C3AED"/>
              </a:gs>
              <a:gs pos="100000">
                <a:srgbClr val="06B6D4"/>
              </a:gs>
            </a:gsLst>
            <a:lin ang="18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502755" y="3319271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700" b="1" i="0">
                <a:solidFill>
                  <a:srgbClr val="F5F2FC"/>
                </a:solidFill>
                <a:latin typeface="Segoe UI Semibold"/>
              </a:rP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97115" y="3291839"/>
            <a:ext cx="3457803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F5F2FC"/>
                </a:solidFill>
                <a:latin typeface="Segoe UI"/>
              </a:rPr>
              <a:t>Connect to Cloud Sync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097115" y="3639311"/>
            <a:ext cx="3457803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B6AED2"/>
                </a:solidFill>
                <a:latin typeface="Consolas"/>
              </a:rPr>
              <a:t>Entra · hybrid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0582351" y="3392423"/>
            <a:ext cx="841248" cy="329184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7C3AED"/>
              </a:gs>
              <a:gs pos="100000">
                <a:srgbClr val="06B6D4"/>
              </a:gs>
            </a:gsLst>
            <a:lin ang="72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10582351" y="3374135"/>
            <a:ext cx="841248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 spc="100">
                <a:solidFill>
                  <a:srgbClr val="F5F2FC"/>
                </a:solidFill>
                <a:latin typeface="Consolas"/>
              </a:rPr>
              <a:t>SEP 30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301587" y="4151375"/>
            <a:ext cx="5286603" cy="896111"/>
          </a:xfrm>
          <a:prstGeom prst="roundRect">
            <a:avLst>
              <a:gd name="adj" fmla="val 16000"/>
            </a:avLst>
          </a:prstGeom>
          <a:solidFill>
            <a:srgbClr val="1A1436"/>
          </a:solidFill>
          <a:ln w="12700">
            <a:solidFill>
              <a:srgbClr val="342B5E"/>
            </a:solidFill>
          </a:ln>
          <a:effectLst>
            <a:outerShdw blurRad="82296" dist="4572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Oval 41"/>
          <p:cNvSpPr/>
          <p:nvPr/>
        </p:nvSpPr>
        <p:spPr>
          <a:xfrm>
            <a:off x="6502755" y="4379975"/>
            <a:ext cx="457200" cy="457200"/>
          </a:xfrm>
          <a:prstGeom prst="ellipse">
            <a:avLst/>
          </a:prstGeom>
          <a:gradFill rotWithShape="1">
            <a:gsLst>
              <a:gs pos="0">
                <a:srgbClr val="FF2E88"/>
              </a:gs>
              <a:gs pos="52000">
                <a:srgbClr val="7C3AED"/>
              </a:gs>
              <a:gs pos="100000">
                <a:srgbClr val="06B6D4"/>
              </a:gs>
            </a:gsLst>
            <a:lin ang="18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502755" y="4361688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700" b="1" i="0">
                <a:solidFill>
                  <a:srgbClr val="F5F2FC"/>
                </a:solidFill>
                <a:latin typeface="Segoe UI Semibold"/>
              </a:rPr>
              <a:t>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097115" y="4334255"/>
            <a:ext cx="3457803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F5F2FC"/>
                </a:solidFill>
                <a:latin typeface="Segoe UI"/>
              </a:rPr>
              <a:t>Purview + Copilot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097115" y="4681727"/>
            <a:ext cx="3457803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B6AED2"/>
                </a:solidFill>
                <a:latin typeface="Consolas"/>
              </a:rPr>
              <a:t>Data &amp; AI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0582351" y="4434839"/>
            <a:ext cx="841248" cy="329184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F2E88"/>
              </a:gs>
              <a:gs pos="52000">
                <a:srgbClr val="7C3AED"/>
              </a:gs>
              <a:gs pos="100000">
                <a:srgbClr val="06B6D4"/>
              </a:gs>
            </a:gsLst>
            <a:lin ang="72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10582351" y="4416551"/>
            <a:ext cx="841248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 spc="100">
                <a:solidFill>
                  <a:srgbClr val="F5F2FC"/>
                </a:solidFill>
                <a:latin typeface="Consolas"/>
              </a:rPr>
              <a:t>NOW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03504" y="5285232"/>
            <a:ext cx="10984687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 i="0">
                <a:solidFill>
                  <a:srgbClr val="8B83A8"/>
                </a:solidFill>
                <a:latin typeface="Segoe UI"/>
              </a:rPr>
              <a:t>Plus: </a:t>
            </a:r>
            <a:r>
              <a:rPr sz="1300" b="0" i="0">
                <a:solidFill>
                  <a:srgbClr val="B6AED2"/>
                </a:solidFill>
                <a:latin typeface="Segoe UI"/>
              </a:rPr>
              <a:t>topic from the crowd. Open floor, bring your own.</a:t>
            </a:r>
          </a:p>
        </p:txBody>
      </p:sp>
      <p:pic>
        <p:nvPicPr>
          <p:cNvPr id="49" name="Picture 48" descr="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6455664"/>
            <a:ext cx="237744" cy="237744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868680" y="6437376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i="0">
                <a:solidFill>
                  <a:srgbClr val="8B83A8"/>
                </a:solidFill>
                <a:latin typeface="Segoe UI"/>
              </a:rPr>
              <a:t>CloudHour</a:t>
            </a:r>
            <a:r>
              <a:rPr sz="950" b="0" i="0">
                <a:solidFill>
                  <a:srgbClr val="8B83A8"/>
                </a:solidFill>
                <a:latin typeface="Segoe UI"/>
              </a:rPr>
              <a:t>   ·   Microsoft EMS Community  ·  Jul 2026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911535" y="6437376"/>
            <a:ext cx="6858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50" b="1" i="0">
                <a:solidFill>
                  <a:srgbClr val="8B83A8"/>
                </a:solidFill>
                <a:latin typeface="Consola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cont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3504" y="548640"/>
            <a:ext cx="10058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 spc="260">
                <a:solidFill>
                  <a:srgbClr val="FF2E88"/>
                </a:solidFill>
                <a:latin typeface="Consolas"/>
              </a:rPr>
              <a:t>NEXT 90 DAYS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896112"/>
            <a:ext cx="1069848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500" b="1" i="0">
                <a:solidFill>
                  <a:srgbClr val="F5F2FC"/>
                </a:solidFill>
                <a:latin typeface="Segoe UI Semibold"/>
              </a:rPr>
              <a:t>On the radar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3504" y="1755648"/>
            <a:ext cx="3417722" cy="4498848"/>
          </a:xfrm>
          <a:prstGeom prst="roundRect">
            <a:avLst>
              <a:gd name="adj" fmla="val 7000"/>
            </a:avLst>
          </a:prstGeom>
          <a:solidFill>
            <a:srgbClr val="1A1436"/>
          </a:solidFill>
          <a:ln w="12700">
            <a:solidFill>
              <a:srgbClr val="342B5E"/>
            </a:solidFill>
          </a:ln>
          <a:effectLst>
            <a:outerShdw blurRad="82296" dist="4572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841248" y="1938528"/>
            <a:ext cx="457200" cy="457200"/>
          </a:xfrm>
          <a:prstGeom prst="ellipse">
            <a:avLst/>
          </a:prstGeom>
          <a:gradFill rotWithShape="1">
            <a:gsLst>
              <a:gs pos="0">
                <a:srgbClr val="FF2E88"/>
              </a:gs>
              <a:gs pos="100000">
                <a:srgbClr val="7C3AED"/>
              </a:gs>
            </a:gsLst>
            <a:lin ang="21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ke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2057400"/>
            <a:ext cx="219456" cy="21945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389888" y="1938528"/>
            <a:ext cx="2503322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i="0" spc="50">
                <a:solidFill>
                  <a:srgbClr val="F5F2FC"/>
                </a:solidFill>
                <a:latin typeface="Consolas"/>
              </a:rPr>
              <a:t>IDENTITY &amp; ACCESS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670048"/>
            <a:ext cx="290565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 spc="50">
                <a:solidFill>
                  <a:srgbClr val="FF2E88"/>
                </a:solidFill>
                <a:latin typeface="Consolas"/>
              </a:rPr>
              <a:t>JUL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2944368"/>
            <a:ext cx="2960522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80" b="0" i="0">
                <a:solidFill>
                  <a:srgbClr val="B6AED2"/>
                </a:solidFill>
                <a:latin typeface="Segoe UI"/>
              </a:rPr>
              <a:t>Mandatory MFA Phase 2 postponement cap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3557015"/>
            <a:ext cx="290565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 spc="50">
                <a:solidFill>
                  <a:srgbClr val="FF2E88"/>
                </a:solidFill>
                <a:latin typeface="Consolas"/>
              </a:rPr>
              <a:t>JUL 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" y="3831335"/>
            <a:ext cx="2960522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80" b="0" i="0">
                <a:solidFill>
                  <a:srgbClr val="B6AED2"/>
                </a:solidFill>
                <a:latin typeface="Segoe UI"/>
              </a:rPr>
              <a:t>CA enforced at WHfB / Platform SSO sign-up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" y="4443983"/>
            <a:ext cx="290565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 spc="50">
                <a:solidFill>
                  <a:srgbClr val="C026D3"/>
                </a:solidFill>
                <a:latin typeface="Consolas"/>
              </a:rPr>
              <a:t>SEP 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" y="4718303"/>
            <a:ext cx="2960522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80" b="0" i="0">
                <a:solidFill>
                  <a:srgbClr val="B6AED2"/>
                </a:solidFill>
                <a:latin typeface="Segoe UI"/>
              </a:rPr>
              <a:t>SSPR needs registered methods, campaign Jul 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" y="5330951"/>
            <a:ext cx="290565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 spc="50">
                <a:solidFill>
                  <a:srgbClr val="8B5CF6"/>
                </a:solidFill>
                <a:latin typeface="Consolas"/>
              </a:rPr>
              <a:t>SEP 30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" y="5605271"/>
            <a:ext cx="2960522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80" b="0" i="0">
                <a:solidFill>
                  <a:srgbClr val="B6AED2"/>
                </a:solidFill>
                <a:latin typeface="Segoe UI"/>
              </a:rPr>
              <a:t>Connect Sync v2.5.79.0 or sync stops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86986" y="1755648"/>
            <a:ext cx="3417722" cy="4498848"/>
          </a:xfrm>
          <a:prstGeom prst="roundRect">
            <a:avLst>
              <a:gd name="adj" fmla="val 7000"/>
            </a:avLst>
          </a:prstGeom>
          <a:solidFill>
            <a:srgbClr val="1A1436"/>
          </a:solidFill>
          <a:ln w="12700">
            <a:solidFill>
              <a:srgbClr val="342B5E"/>
            </a:solidFill>
          </a:ln>
          <a:effectLst>
            <a:outerShdw blurRad="82296" dist="4572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4624730" y="1938528"/>
            <a:ext cx="457200" cy="457200"/>
          </a:xfrm>
          <a:prstGeom prst="ellipse">
            <a:avLst/>
          </a:prstGeom>
          <a:gradFill rotWithShape="1">
            <a:gsLst>
              <a:gs pos="0">
                <a:srgbClr val="FF2E88"/>
              </a:gs>
              <a:gs pos="52000">
                <a:srgbClr val="7C3AED"/>
              </a:gs>
              <a:gs pos="100000">
                <a:srgbClr val="06B6D4"/>
              </a:gs>
            </a:gsLst>
            <a:lin ang="21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Picture 18" descr="serv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43602" y="2057400"/>
            <a:ext cx="219456" cy="219456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173370" y="1938528"/>
            <a:ext cx="2503322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i="0" spc="50">
                <a:solidFill>
                  <a:srgbClr val="F5F2FC"/>
                </a:solidFill>
                <a:latin typeface="Consolas"/>
              </a:rPr>
              <a:t>ENDPOINTS WIN/DROID/iOS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43018" y="2670048"/>
            <a:ext cx="290565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 spc="50">
                <a:solidFill>
                  <a:srgbClr val="FF2E88"/>
                </a:solidFill>
                <a:latin typeface="Consolas"/>
              </a:rPr>
              <a:t>NOW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43018" y="2944368"/>
            <a:ext cx="2960522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80" b="0" i="0">
                <a:solidFill>
                  <a:srgbClr val="B6AED2"/>
                </a:solidFill>
                <a:latin typeface="Segoe UI"/>
              </a:rPr>
              <a:t>Secure Boot: deploy 2023 certs, PCA 2011 lapses Oct 19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43018" y="3557015"/>
            <a:ext cx="290565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 spc="50">
                <a:solidFill>
                  <a:srgbClr val="8B5CF6"/>
                </a:solidFill>
                <a:latin typeface="Consolas"/>
              </a:rPr>
              <a:t>JUL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43018" y="3831335"/>
            <a:ext cx="2960522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80" b="0" i="0">
                <a:solidFill>
                  <a:srgbClr val="B6AED2"/>
                </a:solidFill>
                <a:latin typeface="Segoe UI"/>
              </a:rPr>
              <a:t>Defender EDR updates move to Microsoft Update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43018" y="4443983"/>
            <a:ext cx="290565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 spc="50">
                <a:solidFill>
                  <a:srgbClr val="3B82F6"/>
                </a:solidFill>
                <a:latin typeface="Consolas"/>
              </a:rPr>
              <a:t>JUL/AUG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43018" y="4718303"/>
            <a:ext cx="2960522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80" b="0" i="0">
                <a:solidFill>
                  <a:srgbClr val="B6AED2"/>
                </a:solidFill>
                <a:latin typeface="Segoe UI"/>
              </a:rPr>
              <a:t>Intune drops RHEL 8, then Ubuntu 22.04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43018" y="5330951"/>
            <a:ext cx="290565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 spc="50">
                <a:solidFill>
                  <a:srgbClr val="06B6D4"/>
                </a:solidFill>
                <a:latin typeface="Consolas"/>
              </a:rPr>
              <a:t>SEP 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43018" y="5605271"/>
            <a:ext cx="2960522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80" b="0" i="0">
                <a:solidFill>
                  <a:srgbClr val="B6AED2"/>
                </a:solidFill>
                <a:latin typeface="Segoe UI"/>
              </a:rPr>
              <a:t>Teams cert ends for Android 10 / 11 devices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70468" y="1755648"/>
            <a:ext cx="3417722" cy="4498848"/>
          </a:xfrm>
          <a:prstGeom prst="roundRect">
            <a:avLst>
              <a:gd name="adj" fmla="val 7000"/>
            </a:avLst>
          </a:prstGeom>
          <a:solidFill>
            <a:srgbClr val="1A1436"/>
          </a:solidFill>
          <a:ln w="12700">
            <a:solidFill>
              <a:srgbClr val="342B5E"/>
            </a:solidFill>
          </a:ln>
          <a:effectLst>
            <a:outerShdw blurRad="82296" dist="4572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8408212" y="1938528"/>
            <a:ext cx="457200" cy="457200"/>
          </a:xfrm>
          <a:prstGeom prst="ellipse">
            <a:avLst/>
          </a:prstGeom>
          <a:gradFill rotWithShape="1">
            <a:gsLst>
              <a:gs pos="0">
                <a:srgbClr val="7C3AED"/>
              </a:gs>
              <a:gs pos="100000">
                <a:srgbClr val="06B6D4"/>
              </a:gs>
            </a:gsLst>
            <a:lin ang="21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1" name="Picture 30" descr="shiel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27084" y="2057400"/>
            <a:ext cx="219456" cy="219456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8956852" y="1938528"/>
            <a:ext cx="2503322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i="0" spc="50">
                <a:solidFill>
                  <a:srgbClr val="F5F2FC"/>
                </a:solidFill>
                <a:latin typeface="Consolas"/>
              </a:rPr>
              <a:t>DEFENDER &amp; DATA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26500" y="2670048"/>
            <a:ext cx="290565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 spc="50">
                <a:solidFill>
                  <a:srgbClr val="8B5CF6"/>
                </a:solidFill>
                <a:latin typeface="Consolas"/>
              </a:rPr>
              <a:t>JUL 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26500" y="2944368"/>
            <a:ext cx="2960522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80" b="0" i="0">
                <a:solidFill>
                  <a:srgbClr val="B6AED2"/>
                </a:solidFill>
                <a:latin typeface="Segoe UI"/>
              </a:rPr>
              <a:t>AIAgentsInfo table retires, use AgentsInfo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26500" y="3557015"/>
            <a:ext cx="290565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 spc="50">
                <a:solidFill>
                  <a:srgbClr val="3B82F6"/>
                </a:solidFill>
                <a:latin typeface="Consolas"/>
              </a:rPr>
              <a:t>JUL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26500" y="3831335"/>
            <a:ext cx="2960522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80" b="0" i="0">
                <a:solidFill>
                  <a:srgbClr val="B6AED2"/>
                </a:solidFill>
                <a:latin typeface="Segoe UI"/>
              </a:rPr>
              <a:t>Defender iOS OS-update notices move to Intune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26500" y="4443983"/>
            <a:ext cx="290565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 spc="50">
                <a:solidFill>
                  <a:srgbClr val="06B6D4"/>
                </a:solidFill>
                <a:latin typeface="Consolas"/>
              </a:rPr>
              <a:t>AUG 31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26500" y="4718303"/>
            <a:ext cx="2960522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80" b="0" i="0">
                <a:solidFill>
                  <a:srgbClr val="B6AED2"/>
                </a:solidFill>
                <a:latin typeface="Segoe UI"/>
              </a:rPr>
              <a:t>Legacy Graph Security alerts v1 API retires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26500" y="5330951"/>
            <a:ext cx="290565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 spc="50">
                <a:solidFill>
                  <a:srgbClr val="22D3EE"/>
                </a:solidFill>
                <a:latin typeface="Consolas"/>
              </a:rPr>
              <a:t>NOW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26500" y="5605271"/>
            <a:ext cx="2960522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80" b="0" i="0">
                <a:solidFill>
                  <a:srgbClr val="B6AED2"/>
                </a:solidFill>
                <a:latin typeface="Segoe UI"/>
              </a:rPr>
              <a:t>Govern Copilot data with Purview</a:t>
            </a:r>
          </a:p>
        </p:txBody>
      </p:sp>
      <p:pic>
        <p:nvPicPr>
          <p:cNvPr id="41" name="Picture 40" descr="logo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6928" y="6455664"/>
            <a:ext cx="237744" cy="237744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868680" y="6437376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i="0">
                <a:solidFill>
                  <a:srgbClr val="8B83A8"/>
                </a:solidFill>
                <a:latin typeface="Segoe UI"/>
              </a:rPr>
              <a:t>CloudHour</a:t>
            </a:r>
            <a:r>
              <a:rPr sz="950" b="0" i="0">
                <a:solidFill>
                  <a:srgbClr val="8B83A8"/>
                </a:solidFill>
                <a:latin typeface="Segoe UI"/>
              </a:rPr>
              <a:t>   ·   Microsoft EMS Community  ·  Jul 2026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911535" y="6437376"/>
            <a:ext cx="6858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50" b="1" i="0">
                <a:solidFill>
                  <a:srgbClr val="8B83A8"/>
                </a:solidFill>
                <a:latin typeface="Consola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cont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3504" y="548640"/>
            <a:ext cx="10058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 spc="260">
                <a:solidFill>
                  <a:srgbClr val="22D3EE"/>
                </a:solidFill>
                <a:latin typeface="Consolas"/>
              </a:rPr>
              <a:t>TOPIC 1  ·  INTUNE · RBAC · GOVERNANCE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896112"/>
            <a:ext cx="74066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300" b="1" i="0">
                <a:solidFill>
                  <a:srgbClr val="F5F2FC"/>
                </a:solidFill>
                <a:latin typeface="Segoe UI Semibold"/>
              </a:rPr>
              <a:t>Multi-Admin Approval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1481328"/>
            <a:ext cx="74066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 i="0">
                <a:solidFill>
                  <a:srgbClr val="22D3EE"/>
                </a:solidFill>
                <a:latin typeface="Segoe UI Semibold"/>
              </a:rPr>
              <a:t>Now it reaches your automation</a:t>
            </a:r>
          </a:p>
        </p:txBody>
      </p:sp>
      <p:sp>
        <p:nvSpPr>
          <p:cNvPr id="6" name="Oval 5"/>
          <p:cNvSpPr/>
          <p:nvPr/>
        </p:nvSpPr>
        <p:spPr>
          <a:xfrm>
            <a:off x="603504" y="2331720"/>
            <a:ext cx="548640" cy="548640"/>
          </a:xfrm>
          <a:prstGeom prst="ellipse">
            <a:avLst/>
          </a:prstGeom>
          <a:gradFill rotWithShape="1">
            <a:gsLst>
              <a:gs pos="0">
                <a:srgbClr val="FF2E88"/>
              </a:gs>
              <a:gs pos="100000">
                <a:srgbClr val="7C3AED"/>
              </a:gs>
            </a:gsLst>
            <a:lin ang="21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shie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664" y="2468879"/>
            <a:ext cx="274320" cy="2743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353312" y="2276856"/>
            <a:ext cx="6400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50" b="1" i="0">
                <a:solidFill>
                  <a:srgbClr val="F5F2FC"/>
                </a:solidFill>
                <a:latin typeface="Segoe UI"/>
              </a:rPr>
              <a:t>What it 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53312" y="2624327"/>
            <a:ext cx="64465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80" b="0" i="0" dirty="0">
                <a:solidFill>
                  <a:srgbClr val="B6AED2"/>
                </a:solidFill>
                <a:latin typeface="Segoe UI"/>
              </a:rPr>
              <a:t>A second admin must approve changes to protected Intune resources. It extends the four-eyes principle to everyday admin work.</a:t>
            </a:r>
          </a:p>
        </p:txBody>
      </p:sp>
      <p:sp>
        <p:nvSpPr>
          <p:cNvPr id="10" name="Oval 9"/>
          <p:cNvSpPr/>
          <p:nvPr/>
        </p:nvSpPr>
        <p:spPr>
          <a:xfrm>
            <a:off x="603504" y="3264408"/>
            <a:ext cx="548640" cy="548640"/>
          </a:xfrm>
          <a:prstGeom prst="ellipse">
            <a:avLst/>
          </a:prstGeom>
          <a:gradFill rotWithShape="1">
            <a:gsLst>
              <a:gs pos="0">
                <a:srgbClr val="FF2E88"/>
              </a:gs>
              <a:gs pos="100000">
                <a:srgbClr val="7C3AED"/>
              </a:gs>
            </a:gsLst>
            <a:lin ang="21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bol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0664" y="3401568"/>
            <a:ext cx="274320" cy="2743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353312" y="3209544"/>
            <a:ext cx="6400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50" b="1" i="0">
                <a:solidFill>
                  <a:srgbClr val="F5F2FC"/>
                </a:solidFill>
                <a:latin typeface="Segoe UI"/>
              </a:rPr>
              <a:t>What changed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53312" y="3557015"/>
            <a:ext cx="64465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80" b="0" i="0">
                <a:solidFill>
                  <a:srgbClr val="B6AED2"/>
                </a:solidFill>
                <a:latin typeface="Segoe UI"/>
              </a:rPr>
              <a:t>MAA now also enforces on app-authenticated Graph API calls. Service principals, app registrations and automation are part of the approval workflow.</a:t>
            </a:r>
          </a:p>
        </p:txBody>
      </p:sp>
      <p:sp>
        <p:nvSpPr>
          <p:cNvPr id="14" name="Oval 13"/>
          <p:cNvSpPr/>
          <p:nvPr/>
        </p:nvSpPr>
        <p:spPr>
          <a:xfrm>
            <a:off x="603504" y="4197096"/>
            <a:ext cx="548640" cy="548640"/>
          </a:xfrm>
          <a:prstGeom prst="ellipse">
            <a:avLst/>
          </a:prstGeom>
          <a:gradFill rotWithShape="1">
            <a:gsLst>
              <a:gs pos="0">
                <a:srgbClr val="FF2E88"/>
              </a:gs>
              <a:gs pos="100000">
                <a:srgbClr val="7C3AED"/>
              </a:gs>
            </a:gsLst>
            <a:lin ang="21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warning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0664" y="4334256"/>
            <a:ext cx="274320" cy="27432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353312" y="4142232"/>
            <a:ext cx="6400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50" b="1" i="0">
                <a:solidFill>
                  <a:srgbClr val="F5F2FC"/>
                </a:solidFill>
                <a:latin typeface="Segoe UI"/>
              </a:rPr>
              <a:t>What it catches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53312" y="4489704"/>
            <a:ext cx="64465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80" b="0" i="0">
                <a:solidFill>
                  <a:srgbClr val="B6AED2"/>
                </a:solidFill>
                <a:latin typeface="Segoe UI"/>
              </a:rPr>
              <a:t>Write operations (POST, PATCH, PUT, DELETE) on protected workloads: apps, scripts, config policies and device actions. Reads (GET) are fine.</a:t>
            </a:r>
          </a:p>
        </p:txBody>
      </p:sp>
      <p:sp>
        <p:nvSpPr>
          <p:cNvPr id="18" name="Oval 17"/>
          <p:cNvSpPr/>
          <p:nvPr/>
        </p:nvSpPr>
        <p:spPr>
          <a:xfrm>
            <a:off x="603504" y="5129783"/>
            <a:ext cx="548640" cy="548640"/>
          </a:xfrm>
          <a:prstGeom prst="ellipse">
            <a:avLst/>
          </a:prstGeom>
          <a:gradFill rotWithShape="1">
            <a:gsLst>
              <a:gs pos="0">
                <a:srgbClr val="FF2E88"/>
              </a:gs>
              <a:gs pos="100000">
                <a:srgbClr val="7C3AED"/>
              </a:gs>
            </a:gsLst>
            <a:lin ang="21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Picture 18" descr="ke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0664" y="5266944"/>
            <a:ext cx="274320" cy="27432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353312" y="5074920"/>
            <a:ext cx="6400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50" b="1" i="0">
                <a:solidFill>
                  <a:srgbClr val="F5F2FC"/>
                </a:solidFill>
                <a:latin typeface="Segoe UI"/>
              </a:rPr>
              <a:t>Why it matters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53312" y="5422392"/>
            <a:ext cx="64465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80" b="0" i="0">
                <a:solidFill>
                  <a:srgbClr val="B6AED2"/>
                </a:solidFill>
                <a:latin typeface="Segoe UI"/>
              </a:rPr>
              <a:t>It stops a compromised service principal from making high-impact Intune changes without a second approver.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75320" y="2148840"/>
            <a:ext cx="3310128" cy="3886200"/>
          </a:xfrm>
          <a:prstGeom prst="roundRect">
            <a:avLst>
              <a:gd name="adj" fmla="val 10000"/>
            </a:avLst>
          </a:prstGeom>
          <a:gradFill rotWithShape="1">
            <a:gsLst>
              <a:gs pos="0">
                <a:srgbClr val="FF2E88"/>
              </a:gs>
              <a:gs pos="100000">
                <a:srgbClr val="7C3AED"/>
              </a:gs>
            </a:gsLst>
            <a:lin ang="3600000" scaled="1"/>
          </a:gradFill>
          <a:ln>
            <a:noFill/>
          </a:ln>
          <a:effectLst>
            <a:outerShdw blurRad="82296" dist="4572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641080" y="2432304"/>
            <a:ext cx="257860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spc="300">
                <a:solidFill>
                  <a:srgbClr val="F5F2FC"/>
                </a:solidFill>
                <a:latin typeface="Consolas"/>
              </a:rPr>
              <a:t>DEADLINE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22792" y="2724912"/>
            <a:ext cx="2761488" cy="8686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5000" b="1" i="0">
                <a:solidFill>
                  <a:srgbClr val="F5F2FC"/>
                </a:solidFill>
                <a:latin typeface="Segoe UI Semibold"/>
              </a:rPr>
              <a:t>LIVE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41080" y="3566160"/>
            <a:ext cx="2596896" cy="6766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 i="0">
                <a:solidFill>
                  <a:srgbClr val="F5F2FC"/>
                </a:solidFill>
                <a:latin typeface="Segoe UI"/>
              </a:rPr>
              <a:t>App-auth Graph calls are in scope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641080" y="4370832"/>
            <a:ext cx="2578608" cy="177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641080" y="4498848"/>
            <a:ext cx="257860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spc="200">
                <a:solidFill>
                  <a:srgbClr val="F2E9FF"/>
                </a:solidFill>
                <a:latin typeface="Consolas"/>
              </a:rPr>
              <a:t>WHO IS AFFECTED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41080" y="4818888"/>
            <a:ext cx="2596896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FBF4FF"/>
                </a:solidFill>
                <a:latin typeface="Segoe UI"/>
              </a:rPr>
              <a:t>Anyone running Intune automation with app-only auth: scripts, runbooks, Logic Apps, third-party tools.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41080" y="5760720"/>
            <a:ext cx="257860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1">
                <a:solidFill>
                  <a:srgbClr val="E9DCFF"/>
                </a:solidFill>
                <a:latin typeface="Segoe UI"/>
              </a:rPr>
              <a:t>Source: Microsoft Learn</a:t>
            </a:r>
          </a:p>
        </p:txBody>
      </p:sp>
      <p:pic>
        <p:nvPicPr>
          <p:cNvPr id="30" name="Picture 29" descr="logo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6928" y="6455664"/>
            <a:ext cx="237744" cy="237744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868680" y="6437376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i="0">
                <a:solidFill>
                  <a:srgbClr val="8B83A8"/>
                </a:solidFill>
                <a:latin typeface="Segoe UI"/>
              </a:rPr>
              <a:t>CloudHour</a:t>
            </a:r>
            <a:r>
              <a:rPr sz="950" b="0" i="0">
                <a:solidFill>
                  <a:srgbClr val="8B83A8"/>
                </a:solidFill>
                <a:latin typeface="Segoe UI"/>
              </a:rPr>
              <a:t>   ·   Microsoft EMS Community  ·  Jul 2026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11535" y="6437376"/>
            <a:ext cx="6858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50" b="1" i="0">
                <a:solidFill>
                  <a:srgbClr val="8B83A8"/>
                </a:solidFill>
                <a:latin typeface="Consola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s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3504" y="548640"/>
            <a:ext cx="10058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 spc="260">
                <a:solidFill>
                  <a:srgbClr val="FF2E88"/>
                </a:solidFill>
                <a:latin typeface="Consolas"/>
              </a:rPr>
              <a:t>TOPIC 1  ·  ROUND-TABLE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896112"/>
            <a:ext cx="105156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500" b="1" i="0">
                <a:solidFill>
                  <a:srgbClr val="F5F2FC"/>
                </a:solidFill>
                <a:latin typeface="Segoe UI Semibold"/>
              </a:rPr>
              <a:t>Let us talk: MAA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3504" y="2011680"/>
            <a:ext cx="5309463" cy="1627632"/>
          </a:xfrm>
          <a:prstGeom prst="roundRect">
            <a:avLst>
              <a:gd name="adj" fmla="val 10000"/>
            </a:avLst>
          </a:prstGeom>
          <a:solidFill>
            <a:srgbClr val="1A1436"/>
          </a:solidFill>
          <a:ln w="12700">
            <a:solidFill>
              <a:srgbClr val="342B5E"/>
            </a:solidFill>
          </a:ln>
          <a:effectLst>
            <a:outerShdw blurRad="82296" dist="4572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914400" y="2322576"/>
            <a:ext cx="603504" cy="603504"/>
          </a:xfrm>
          <a:prstGeom prst="ellipse">
            <a:avLst/>
          </a:prstGeom>
          <a:gradFill rotWithShape="1">
            <a:gsLst>
              <a:gs pos="0">
                <a:srgbClr val="FF2E88"/>
              </a:gs>
              <a:gs pos="100000">
                <a:srgbClr val="7C3AED"/>
              </a:gs>
            </a:gsLst>
            <a:lin ang="27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cha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3205" y="2461381"/>
            <a:ext cx="325892" cy="32589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700784" y="2286000"/>
            <a:ext cx="3937863" cy="11704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4000"/>
              </a:lnSpc>
            </a:pPr>
            <a:r>
              <a:rPr sz="1450" b="0" i="0">
                <a:solidFill>
                  <a:srgbClr val="F5F2FC"/>
                </a:solidFill>
                <a:latin typeface="Segoe UI"/>
              </a:rPr>
              <a:t>Do you use Multi-Admin Approval today? On which workloads (apps, scripts, config)?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727" y="2011680"/>
            <a:ext cx="5309463" cy="1627632"/>
          </a:xfrm>
          <a:prstGeom prst="roundRect">
            <a:avLst>
              <a:gd name="adj" fmla="val 10000"/>
            </a:avLst>
          </a:prstGeom>
          <a:solidFill>
            <a:srgbClr val="1A1436"/>
          </a:solidFill>
          <a:ln w="12700">
            <a:solidFill>
              <a:srgbClr val="342B5E"/>
            </a:solidFill>
          </a:ln>
          <a:effectLst>
            <a:outerShdw blurRad="82296" dist="4572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6589623" y="2322576"/>
            <a:ext cx="603504" cy="603504"/>
          </a:xfrm>
          <a:prstGeom prst="ellipse">
            <a:avLst/>
          </a:prstGeom>
          <a:gradFill rotWithShape="1">
            <a:gsLst>
              <a:gs pos="0">
                <a:srgbClr val="FF2E88"/>
              </a:gs>
              <a:gs pos="100000">
                <a:srgbClr val="7C3AED"/>
              </a:gs>
            </a:gsLst>
            <a:lin ang="27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cha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8429" y="2461381"/>
            <a:ext cx="325892" cy="32589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376007" y="2286000"/>
            <a:ext cx="3937863" cy="11704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4000"/>
              </a:lnSpc>
            </a:pPr>
            <a:r>
              <a:rPr sz="1450" b="0" i="0">
                <a:solidFill>
                  <a:srgbClr val="F5F2FC"/>
                </a:solidFill>
                <a:latin typeface="Segoe UI"/>
              </a:rPr>
              <a:t>Is your Intune automation app-only? Will it hit the approval wall on write operations?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3504" y="3895344"/>
            <a:ext cx="5309463" cy="1627632"/>
          </a:xfrm>
          <a:prstGeom prst="roundRect">
            <a:avLst>
              <a:gd name="adj" fmla="val 10000"/>
            </a:avLst>
          </a:prstGeom>
          <a:solidFill>
            <a:srgbClr val="1A1436"/>
          </a:solidFill>
          <a:ln w="12700">
            <a:solidFill>
              <a:srgbClr val="342B5E"/>
            </a:solidFill>
          </a:ln>
          <a:effectLst>
            <a:outerShdw blurRad="82296" dist="4572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914400" y="4206240"/>
            <a:ext cx="603504" cy="603504"/>
          </a:xfrm>
          <a:prstGeom prst="ellipse">
            <a:avLst/>
          </a:prstGeom>
          <a:gradFill rotWithShape="1">
            <a:gsLst>
              <a:gs pos="0">
                <a:srgbClr val="FF2E88"/>
              </a:gs>
              <a:gs pos="100000">
                <a:srgbClr val="7C3AED"/>
              </a:gs>
            </a:gsLst>
            <a:lin ang="27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cha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3205" y="4345045"/>
            <a:ext cx="325892" cy="32589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700784" y="4169663"/>
            <a:ext cx="3937863" cy="11704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4000"/>
              </a:lnSpc>
            </a:pPr>
            <a:r>
              <a:rPr sz="1450" b="0" i="0">
                <a:solidFill>
                  <a:srgbClr val="F5F2FC"/>
                </a:solidFill>
                <a:latin typeface="Segoe UI"/>
              </a:rPr>
              <a:t>How will you find exposure before it breaks? An audit-log sweep, or a check script?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78727" y="3895344"/>
            <a:ext cx="5309463" cy="1627632"/>
          </a:xfrm>
          <a:prstGeom prst="roundRect">
            <a:avLst>
              <a:gd name="adj" fmla="val 10000"/>
            </a:avLst>
          </a:prstGeom>
          <a:solidFill>
            <a:srgbClr val="1A1436"/>
          </a:solidFill>
          <a:ln w="12700">
            <a:solidFill>
              <a:srgbClr val="342B5E"/>
            </a:solidFill>
          </a:ln>
          <a:effectLst>
            <a:outerShdw blurRad="82296" dist="4572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6589623" y="4206240"/>
            <a:ext cx="603504" cy="603504"/>
          </a:xfrm>
          <a:prstGeom prst="ellipse">
            <a:avLst/>
          </a:prstGeom>
          <a:gradFill rotWithShape="1">
            <a:gsLst>
              <a:gs pos="0">
                <a:srgbClr val="FF2E88"/>
              </a:gs>
              <a:gs pos="100000">
                <a:srgbClr val="7C3AED"/>
              </a:gs>
            </a:gsLst>
            <a:lin ang="27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Picture 18" descr="cha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8429" y="4345045"/>
            <a:ext cx="325892" cy="325892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7376007" y="4169663"/>
            <a:ext cx="3937863" cy="11704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4000"/>
              </a:lnSpc>
            </a:pPr>
            <a:r>
              <a:rPr sz="1450" b="0" i="0">
                <a:solidFill>
                  <a:srgbClr val="F5F2FC"/>
                </a:solidFill>
                <a:latin typeface="Segoe UI"/>
              </a:rPr>
              <a:t>Approve in the workflow, or exclude the automation app? What is your policy?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3504" y="5897880"/>
            <a:ext cx="1098468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1">
                <a:solidFill>
                  <a:srgbClr val="B6AED2"/>
                </a:solidFill>
                <a:latin typeface="Segoe UI"/>
              </a:rPr>
              <a:t>Unmute and jump in. There are no wrong answers here.</a:t>
            </a:r>
          </a:p>
        </p:txBody>
      </p:sp>
      <p:pic>
        <p:nvPicPr>
          <p:cNvPr id="22" name="Picture 21" descr="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6455664"/>
            <a:ext cx="237744" cy="237744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868680" y="6437376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i="0">
                <a:solidFill>
                  <a:srgbClr val="8B83A8"/>
                </a:solidFill>
                <a:latin typeface="Segoe UI"/>
              </a:rPr>
              <a:t>CloudHour</a:t>
            </a:r>
            <a:r>
              <a:rPr sz="950" b="0" i="0">
                <a:solidFill>
                  <a:srgbClr val="8B83A8"/>
                </a:solidFill>
                <a:latin typeface="Segoe UI"/>
              </a:rPr>
              <a:t>   ·   Microsoft EMS Community  ·  Jul 2026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11535" y="6437376"/>
            <a:ext cx="6858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50" b="1" i="0">
                <a:solidFill>
                  <a:srgbClr val="8B83A8"/>
                </a:solidFill>
                <a:latin typeface="Consola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7392C0-EA65-44C3-3A7C-C64EDA2F5F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section.png">
            <a:extLst>
              <a:ext uri="{FF2B5EF4-FFF2-40B4-BE49-F238E27FC236}">
                <a16:creationId xmlns:a16="http://schemas.microsoft.com/office/drawing/2014/main" id="{9AB1ED2C-004E-4C69-31D2-45D7F7B568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AFE58EB-826C-77C2-DA55-128860C0E36E}"/>
              </a:ext>
            </a:extLst>
          </p:cNvPr>
          <p:cNvSpPr txBox="1"/>
          <p:nvPr/>
        </p:nvSpPr>
        <p:spPr>
          <a:xfrm>
            <a:off x="603504" y="548640"/>
            <a:ext cx="10058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 spc="260">
                <a:solidFill>
                  <a:srgbClr val="FF2E88"/>
                </a:solidFill>
                <a:latin typeface="Consolas"/>
              </a:rPr>
              <a:t>TOPIC 1  ·  ROUND-TABLE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4994120-5FA1-89A5-7E75-3AB81D3DDB80}"/>
              </a:ext>
            </a:extLst>
          </p:cNvPr>
          <p:cNvSpPr txBox="1"/>
          <p:nvPr/>
        </p:nvSpPr>
        <p:spPr>
          <a:xfrm>
            <a:off x="603504" y="896112"/>
            <a:ext cx="105156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500" b="1" i="0">
                <a:solidFill>
                  <a:srgbClr val="F5F2FC"/>
                </a:solidFill>
                <a:latin typeface="Segoe UI Semibold"/>
              </a:rPr>
              <a:t>Let us talk: MAA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210C5C5C-18CB-6EA5-6E1D-CBBDD1BE3C63}"/>
              </a:ext>
            </a:extLst>
          </p:cNvPr>
          <p:cNvSpPr/>
          <p:nvPr/>
        </p:nvSpPr>
        <p:spPr>
          <a:xfrm>
            <a:off x="479226" y="1535770"/>
            <a:ext cx="5309463" cy="2661748"/>
          </a:xfrm>
          <a:prstGeom prst="roundRect">
            <a:avLst>
              <a:gd name="adj" fmla="val 10000"/>
            </a:avLst>
          </a:prstGeom>
          <a:solidFill>
            <a:srgbClr val="1A1436"/>
          </a:solidFill>
          <a:ln w="12700">
            <a:solidFill>
              <a:srgbClr val="342B5E"/>
            </a:solidFill>
          </a:ln>
          <a:effectLst>
            <a:outerShdw blurRad="82296" dist="4572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/>
              <a:t>What it is</a:t>
            </a:r>
            <a:endParaRPr lang="en-US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BA1F023-1E25-631D-3E48-01C1AB13259E}"/>
              </a:ext>
            </a:extLst>
          </p:cNvPr>
          <p:cNvSpPr txBox="1"/>
          <p:nvPr/>
        </p:nvSpPr>
        <p:spPr>
          <a:xfrm>
            <a:off x="1700784" y="1870440"/>
            <a:ext cx="3974438" cy="194668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>
                    <a:lumMod val="95000"/>
                  </a:schemeClr>
                </a:solidFill>
                <a:ea typeface="+mn-lt"/>
                <a:cs typeface="+mn-lt"/>
              </a:rPr>
              <a:t>Multi Admin Approval (MAA) now also applies to app-authenticated Graph API calls</a:t>
            </a:r>
            <a:endParaRPr lang="en-US" sz="1600" dirty="0">
              <a:solidFill>
                <a:schemeClr val="bg1">
                  <a:lumMod val="9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>
                    <a:lumMod val="95000"/>
                  </a:schemeClr>
                </a:solidFill>
                <a:ea typeface="+mn-lt"/>
                <a:cs typeface="+mn-lt"/>
              </a:rPr>
              <a:t>Service principals, app registrations and automation are now part of the approval workflow</a:t>
            </a:r>
            <a:endParaRPr lang="en-US" sz="1600" dirty="0">
              <a:solidFill>
                <a:schemeClr val="bg1">
                  <a:lumMod val="9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>
                    <a:lumMod val="95000"/>
                  </a:schemeClr>
                </a:solidFill>
                <a:ea typeface="+mn-lt"/>
                <a:cs typeface="+mn-lt"/>
              </a:rPr>
              <a:t>Only applies when the targeted Intune workload is protected by an MAA policy</a:t>
            </a:r>
            <a:endParaRPr lang="en-US" sz="1600" dirty="0">
              <a:solidFill>
                <a:schemeClr val="bg1">
                  <a:lumMod val="9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sz="1450" b="0" i="0" dirty="0">
              <a:solidFill>
                <a:schemeClr val="bg1">
                  <a:lumMod val="95000"/>
                </a:schemeClr>
              </a:solidFill>
              <a:latin typeface="Segoe UI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9F078536-467E-B7F8-7536-64912BDF5FB6}"/>
              </a:ext>
            </a:extLst>
          </p:cNvPr>
          <p:cNvSpPr/>
          <p:nvPr/>
        </p:nvSpPr>
        <p:spPr>
          <a:xfrm>
            <a:off x="6001230" y="1129552"/>
            <a:ext cx="5985862" cy="3007285"/>
          </a:xfrm>
          <a:prstGeom prst="roundRect">
            <a:avLst>
              <a:gd name="adj" fmla="val 10000"/>
            </a:avLst>
          </a:prstGeom>
          <a:solidFill>
            <a:srgbClr val="1A1436"/>
          </a:solidFill>
          <a:ln w="12700">
            <a:solidFill>
              <a:srgbClr val="342B5E"/>
            </a:solidFill>
          </a:ln>
          <a:effectLst>
            <a:outerShdw blurRad="82296" dist="4572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/>
              <a:t>What it solves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DA66391-D734-D97B-3D17-C6D6BB756E5C}"/>
              </a:ext>
            </a:extLst>
          </p:cNvPr>
          <p:cNvSpPr txBox="1"/>
          <p:nvPr/>
        </p:nvSpPr>
        <p:spPr>
          <a:xfrm>
            <a:off x="7605401" y="1860340"/>
            <a:ext cx="4107373" cy="14773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>
                    <a:lumMod val="95000"/>
                  </a:schemeClr>
                </a:solidFill>
                <a:ea typeface="+mn-lt"/>
                <a:cs typeface="+mn-lt"/>
              </a:rPr>
              <a:t>Extends the four-eyes principle to automation</a:t>
            </a:r>
            <a:endParaRPr lang="en-US" sz="1600" dirty="0">
              <a:solidFill>
                <a:schemeClr val="bg1">
                  <a:lumMod val="9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>
                    <a:lumMod val="95000"/>
                  </a:schemeClr>
                </a:solidFill>
                <a:ea typeface="+mn-lt"/>
                <a:cs typeface="+mn-lt"/>
              </a:rPr>
              <a:t>Prevents a compromised service principal from making high-impact Intune changes without approval</a:t>
            </a:r>
            <a:endParaRPr lang="en-US" sz="1600" dirty="0">
              <a:solidFill>
                <a:schemeClr val="bg1">
                  <a:lumMod val="9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>
                    <a:lumMod val="95000"/>
                  </a:schemeClr>
                </a:solidFill>
                <a:ea typeface="+mn-lt"/>
                <a:cs typeface="+mn-lt"/>
              </a:rPr>
              <a:t>Closes the gap between portal-based administration and API-driven administration</a:t>
            </a:r>
            <a:endParaRPr lang="en-US" sz="16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F1B8AA0E-E1F8-70C6-E44D-2D1A05C91904}"/>
              </a:ext>
            </a:extLst>
          </p:cNvPr>
          <p:cNvSpPr/>
          <p:nvPr/>
        </p:nvSpPr>
        <p:spPr>
          <a:xfrm>
            <a:off x="4883470" y="4410186"/>
            <a:ext cx="6461145" cy="2297327"/>
          </a:xfrm>
          <a:prstGeom prst="roundRect">
            <a:avLst>
              <a:gd name="adj" fmla="val 10000"/>
            </a:avLst>
          </a:prstGeom>
          <a:solidFill>
            <a:srgbClr val="1A1436"/>
          </a:solidFill>
          <a:ln w="12700">
            <a:solidFill>
              <a:srgbClr val="342B5E"/>
            </a:solidFill>
          </a:ln>
          <a:effectLst>
            <a:outerShdw blurRad="82296" dist="4572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/>
              <a:t>What it solves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01F74E2-E687-EA67-F0A6-A742D4147537}"/>
              </a:ext>
            </a:extLst>
          </p:cNvPr>
          <p:cNvSpPr txBox="1"/>
          <p:nvPr/>
        </p:nvSpPr>
        <p:spPr>
          <a:xfrm>
            <a:off x="6505710" y="4477417"/>
            <a:ext cx="4613394" cy="221599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>
                    <a:lumMod val="95000"/>
                  </a:schemeClr>
                </a:solidFill>
                <a:ea typeface="+mn-lt"/>
                <a:cs typeface="+mn-lt"/>
              </a:rPr>
              <a:t>Existing Intune automation using app-only authentication</a:t>
            </a:r>
            <a:endParaRPr lang="en-US" sz="1600" dirty="0">
              <a:solidFill>
                <a:schemeClr val="bg1">
                  <a:lumMod val="9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>
                    <a:lumMod val="95000"/>
                  </a:schemeClr>
                </a:solidFill>
                <a:ea typeface="+mn-lt"/>
                <a:cs typeface="+mn-lt"/>
              </a:rPr>
              <a:t>PowerShell scripts, Azure Automation runbooks, Logic Apps and third-party tools</a:t>
            </a:r>
            <a:endParaRPr lang="en-US" sz="1600" dirty="0">
              <a:solidFill>
                <a:schemeClr val="bg1">
                  <a:lumMod val="9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>
                    <a:lumMod val="95000"/>
                  </a:schemeClr>
                </a:solidFill>
                <a:ea typeface="+mn-lt"/>
                <a:cs typeface="+mn-lt"/>
              </a:rPr>
              <a:t>Write operations (POST, PATCH, PUT, DELETE) against protected workloads such as Apps, Scripts, Configuration Policies and Device Actions</a:t>
            </a:r>
            <a:endParaRPr lang="en-US" sz="1600" dirty="0">
              <a:solidFill>
                <a:schemeClr val="bg1">
                  <a:lumMod val="9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>
                    <a:lumMod val="95000"/>
                  </a:schemeClr>
                </a:solidFill>
                <a:ea typeface="+mn-lt"/>
                <a:cs typeface="+mn-lt"/>
              </a:rPr>
              <a:t>Automation may fail until it is updated for the MAA workflow or explicitly excluded from MAA</a:t>
            </a:r>
            <a:endParaRPr lang="en-US" sz="16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D4D772F-2D3F-9318-E117-A8BF3DB4F2A6}"/>
              </a:ext>
            </a:extLst>
          </p:cNvPr>
          <p:cNvSpPr txBox="1"/>
          <p:nvPr/>
        </p:nvSpPr>
        <p:spPr>
          <a:xfrm>
            <a:off x="603504" y="5897880"/>
            <a:ext cx="1098468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1" dirty="0">
                <a:solidFill>
                  <a:srgbClr val="B6AED2"/>
                </a:solidFill>
                <a:latin typeface="Segoe UI"/>
              </a:rPr>
              <a:t>Unmute and jump in. There are no wrong answers here.</a:t>
            </a:r>
          </a:p>
        </p:txBody>
      </p:sp>
      <p:pic>
        <p:nvPicPr>
          <p:cNvPr id="22" name="Picture 21" descr="logo.png">
            <a:extLst>
              <a:ext uri="{FF2B5EF4-FFF2-40B4-BE49-F238E27FC236}">
                <a16:creationId xmlns:a16="http://schemas.microsoft.com/office/drawing/2014/main" id="{C609187F-062F-4460-E3EA-9A4CE341B4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6455664"/>
            <a:ext cx="237744" cy="237744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85F40805-0C2B-26B2-F561-71F6C2BF5F10}"/>
              </a:ext>
            </a:extLst>
          </p:cNvPr>
          <p:cNvSpPr txBox="1"/>
          <p:nvPr/>
        </p:nvSpPr>
        <p:spPr>
          <a:xfrm>
            <a:off x="868680" y="6437376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i="0">
                <a:solidFill>
                  <a:srgbClr val="8B83A8"/>
                </a:solidFill>
                <a:latin typeface="Segoe UI"/>
              </a:rPr>
              <a:t>CloudHour</a:t>
            </a:r>
            <a:r>
              <a:rPr sz="950" b="0" i="0">
                <a:solidFill>
                  <a:srgbClr val="8B83A8"/>
                </a:solidFill>
                <a:latin typeface="Segoe UI"/>
              </a:rPr>
              <a:t>   ·   Microsoft EMS Community  ·  Jul 2026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099E752-C027-3903-7796-7A4DEA4D3DFF}"/>
              </a:ext>
            </a:extLst>
          </p:cNvPr>
          <p:cNvSpPr txBox="1"/>
          <p:nvPr/>
        </p:nvSpPr>
        <p:spPr>
          <a:xfrm>
            <a:off x="10911535" y="6437376"/>
            <a:ext cx="6858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50" b="1" i="0">
                <a:solidFill>
                  <a:srgbClr val="8B83A8"/>
                </a:solidFill>
                <a:latin typeface="Consola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3513218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8A52E8-4599-A7BC-F257-40C4E17F7D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section.png">
            <a:extLst>
              <a:ext uri="{FF2B5EF4-FFF2-40B4-BE49-F238E27FC236}">
                <a16:creationId xmlns:a16="http://schemas.microsoft.com/office/drawing/2014/main" id="{7D512C7C-9A75-455D-2D0D-09BEFCCE31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98A8480-34D5-752F-902A-E7C0BF161FDB}"/>
              </a:ext>
            </a:extLst>
          </p:cNvPr>
          <p:cNvSpPr txBox="1"/>
          <p:nvPr/>
        </p:nvSpPr>
        <p:spPr>
          <a:xfrm>
            <a:off x="603504" y="548640"/>
            <a:ext cx="10058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 spc="260">
                <a:solidFill>
                  <a:srgbClr val="FF2E88"/>
                </a:solidFill>
                <a:latin typeface="Consolas"/>
              </a:rPr>
              <a:t>TOPIC 1  ·  ROUND-TABLE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0162EA7-43C1-4D1D-3410-B117F4884D17}"/>
              </a:ext>
            </a:extLst>
          </p:cNvPr>
          <p:cNvSpPr txBox="1"/>
          <p:nvPr/>
        </p:nvSpPr>
        <p:spPr>
          <a:xfrm>
            <a:off x="603504" y="896112"/>
            <a:ext cx="10515600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3600" dirty="0">
                <a:solidFill>
                  <a:schemeClr val="bg1">
                    <a:lumMod val="95000"/>
                  </a:schemeClr>
                </a:solidFill>
              </a:rPr>
              <a:t>Nice way to analyze </a:t>
            </a:r>
            <a:endParaRPr lang="en-US" sz="3600" dirty="0">
              <a:solidFill>
                <a:schemeClr val="bg1">
                  <a:lumMod val="95000"/>
                </a:schemeClr>
              </a:solidFill>
              <a:ea typeface="+mn-lt"/>
              <a:cs typeface="+mn-lt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1653FDE-1AFB-2F6B-8992-1F363E76B32E}"/>
              </a:ext>
            </a:extLst>
          </p:cNvPr>
          <p:cNvSpPr txBox="1"/>
          <p:nvPr/>
        </p:nvSpPr>
        <p:spPr>
          <a:xfrm>
            <a:off x="3450211" y="2689908"/>
            <a:ext cx="5408637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457200" indent="-457200"/>
            <a:r>
              <a:rPr lang="en-US" sz="1600" dirty="0">
                <a:solidFill>
                  <a:schemeClr val="bg1">
                    <a:lumMod val="95000"/>
                  </a:schemeClr>
                </a:solidFill>
                <a:ea typeface="+mn-lt"/>
                <a:cs typeface="+mn-l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Don't Let Multi Admin Approval Break Your Intune Automation</a:t>
            </a:r>
            <a:endParaRPr lang="en-US" sz="1600" dirty="0">
              <a:solidFill>
                <a:schemeClr val="bg1">
                  <a:lumMod val="95000"/>
                </a:schemeClr>
              </a:solidFill>
              <a:ea typeface="+mn-lt"/>
              <a:cs typeface="+mn-lt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D2FEC01-C3EF-A692-5667-6B115EA64DC1}"/>
              </a:ext>
            </a:extLst>
          </p:cNvPr>
          <p:cNvSpPr txBox="1"/>
          <p:nvPr/>
        </p:nvSpPr>
        <p:spPr>
          <a:xfrm>
            <a:off x="603504" y="5897880"/>
            <a:ext cx="1098468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1" dirty="0">
                <a:solidFill>
                  <a:srgbClr val="B6AED2"/>
                </a:solidFill>
                <a:latin typeface="Segoe UI"/>
              </a:rPr>
              <a:t>Unmute and jump in. There are no wrong answers here.</a:t>
            </a:r>
          </a:p>
        </p:txBody>
      </p:sp>
      <p:pic>
        <p:nvPicPr>
          <p:cNvPr id="22" name="Picture 21" descr="logo.png">
            <a:extLst>
              <a:ext uri="{FF2B5EF4-FFF2-40B4-BE49-F238E27FC236}">
                <a16:creationId xmlns:a16="http://schemas.microsoft.com/office/drawing/2014/main" id="{F62A8C0D-EF89-5650-001C-9A62630646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6455664"/>
            <a:ext cx="237744" cy="237744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F0DECD72-7FE8-6601-C953-9236B78A4280}"/>
              </a:ext>
            </a:extLst>
          </p:cNvPr>
          <p:cNvSpPr txBox="1"/>
          <p:nvPr/>
        </p:nvSpPr>
        <p:spPr>
          <a:xfrm>
            <a:off x="868680" y="6437376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i="0">
                <a:solidFill>
                  <a:srgbClr val="8B83A8"/>
                </a:solidFill>
                <a:latin typeface="Segoe UI"/>
              </a:rPr>
              <a:t>CloudHour</a:t>
            </a:r>
            <a:r>
              <a:rPr sz="950" b="0" i="0">
                <a:solidFill>
                  <a:srgbClr val="8B83A8"/>
                </a:solidFill>
                <a:latin typeface="Segoe UI"/>
              </a:rPr>
              <a:t>   ·   Microsoft EMS Community  ·  Jul 2026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1E947A7-BC91-82CD-52AC-6D42276A77BE}"/>
              </a:ext>
            </a:extLst>
          </p:cNvPr>
          <p:cNvSpPr txBox="1"/>
          <p:nvPr/>
        </p:nvSpPr>
        <p:spPr>
          <a:xfrm>
            <a:off x="10911535" y="6437376"/>
            <a:ext cx="6858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50" b="1" i="0">
                <a:solidFill>
                  <a:srgbClr val="8B83A8"/>
                </a:solidFill>
                <a:latin typeface="Consolas"/>
              </a:rPr>
              <a:t>10</a:t>
            </a:r>
          </a:p>
        </p:txBody>
      </p:sp>
      <p:pic>
        <p:nvPicPr>
          <p:cNvPr id="6" name="Picture 5" descr="A black rectangle with white text&#10;&#10;AI-generated content may be incorrect.">
            <a:extLst>
              <a:ext uri="{FF2B5EF4-FFF2-40B4-BE49-F238E27FC236}">
                <a16:creationId xmlns:a16="http://schemas.microsoft.com/office/drawing/2014/main" id="{8802323D-5B91-2FDA-0A44-61DF8B216CE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62882" y="2876359"/>
            <a:ext cx="9183294" cy="2258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08856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4DB5FF-D4F1-5AF1-5216-DB0EE0AB7B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section.png">
            <a:extLst>
              <a:ext uri="{FF2B5EF4-FFF2-40B4-BE49-F238E27FC236}">
                <a16:creationId xmlns:a16="http://schemas.microsoft.com/office/drawing/2014/main" id="{D9D92B19-5B32-1D90-318A-30A4FB2C15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1667AED-9055-7C77-8901-AFD7601D56FF}"/>
              </a:ext>
            </a:extLst>
          </p:cNvPr>
          <p:cNvSpPr txBox="1"/>
          <p:nvPr/>
        </p:nvSpPr>
        <p:spPr>
          <a:xfrm>
            <a:off x="603504" y="548640"/>
            <a:ext cx="10058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 spc="260">
                <a:solidFill>
                  <a:srgbClr val="FF2E88"/>
                </a:solidFill>
                <a:latin typeface="Consolas"/>
              </a:rPr>
              <a:t>TOPIC 1  ·  ROUND-TABLE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B585709-544B-7B94-C391-CAFE69653320}"/>
              </a:ext>
            </a:extLst>
          </p:cNvPr>
          <p:cNvSpPr txBox="1"/>
          <p:nvPr/>
        </p:nvSpPr>
        <p:spPr>
          <a:xfrm>
            <a:off x="603504" y="896112"/>
            <a:ext cx="10515600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3600" b="1" dirty="0">
                <a:solidFill>
                  <a:schemeClr val="bg1">
                    <a:lumMod val="95000"/>
                  </a:schemeClr>
                </a:solidFill>
              </a:rPr>
              <a:t>What is worse</a:t>
            </a:r>
            <a:endParaRPr lang="en-US" sz="3600" b="1" dirty="0">
              <a:solidFill>
                <a:schemeClr val="bg1">
                  <a:lumMod val="95000"/>
                </a:schemeClr>
              </a:solidFill>
              <a:ea typeface="+mn-lt"/>
              <a:cs typeface="+mn-lt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3055C55-A4A2-6384-E363-524DB4B157C5}"/>
              </a:ext>
            </a:extLst>
          </p:cNvPr>
          <p:cNvSpPr txBox="1"/>
          <p:nvPr/>
        </p:nvSpPr>
        <p:spPr>
          <a:xfrm>
            <a:off x="603504" y="5897880"/>
            <a:ext cx="1098468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1" dirty="0">
                <a:solidFill>
                  <a:srgbClr val="B6AED2"/>
                </a:solidFill>
                <a:latin typeface="Segoe UI"/>
              </a:rPr>
              <a:t>Unmute and jump in. There are no wrong answers here.</a:t>
            </a:r>
          </a:p>
        </p:txBody>
      </p:sp>
      <p:pic>
        <p:nvPicPr>
          <p:cNvPr id="22" name="Picture 21" descr="logo.png">
            <a:extLst>
              <a:ext uri="{FF2B5EF4-FFF2-40B4-BE49-F238E27FC236}">
                <a16:creationId xmlns:a16="http://schemas.microsoft.com/office/drawing/2014/main" id="{540BDB56-6FCE-BB4D-88FB-937207C17A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6455664"/>
            <a:ext cx="237744" cy="237744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B3D394AC-7633-C7D8-3F58-DD0C26712E0C}"/>
              </a:ext>
            </a:extLst>
          </p:cNvPr>
          <p:cNvSpPr txBox="1"/>
          <p:nvPr/>
        </p:nvSpPr>
        <p:spPr>
          <a:xfrm>
            <a:off x="868680" y="6437376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i="0">
                <a:solidFill>
                  <a:srgbClr val="8B83A8"/>
                </a:solidFill>
                <a:latin typeface="Segoe UI"/>
              </a:rPr>
              <a:t>CloudHour</a:t>
            </a:r>
            <a:r>
              <a:rPr sz="950" b="0" i="0">
                <a:solidFill>
                  <a:srgbClr val="8B83A8"/>
                </a:solidFill>
                <a:latin typeface="Segoe UI"/>
              </a:rPr>
              <a:t>   ·   Microsoft EMS Community  ·  Jul 2026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3876296-0B52-E814-8A74-F2E1677AFE52}"/>
              </a:ext>
            </a:extLst>
          </p:cNvPr>
          <p:cNvSpPr txBox="1"/>
          <p:nvPr/>
        </p:nvSpPr>
        <p:spPr>
          <a:xfrm>
            <a:off x="10911535" y="6437376"/>
            <a:ext cx="6858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50" b="1" i="0">
                <a:solidFill>
                  <a:srgbClr val="8B83A8"/>
                </a:solidFill>
                <a:latin typeface="Consolas"/>
              </a:rPr>
              <a:t>10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5C9FEBC-5CA6-B27A-2415-8AEE81670A6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89667" y="1669881"/>
            <a:ext cx="5511633" cy="4410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08757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cont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3504" y="548640"/>
            <a:ext cx="10058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 spc="260">
                <a:solidFill>
                  <a:srgbClr val="22D3EE"/>
                </a:solidFill>
                <a:latin typeface="Consolas"/>
              </a:rPr>
              <a:t>TOPIC 2  ·  ENTRA ID · IDENTITY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896112"/>
            <a:ext cx="74066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300" b="1" i="0">
                <a:solidFill>
                  <a:srgbClr val="F5F2FC"/>
                </a:solidFill>
                <a:latin typeface="Segoe UI Semibold"/>
              </a:rPr>
              <a:t>CA hits credential registration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1481328"/>
            <a:ext cx="74066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 i="0">
                <a:solidFill>
                  <a:srgbClr val="22D3EE"/>
                </a:solidFill>
                <a:latin typeface="Segoe UI Semibold"/>
              </a:rPr>
              <a:t>Windows Hello &amp; macOS Platform SSO</a:t>
            </a:r>
          </a:p>
        </p:txBody>
      </p:sp>
      <p:sp>
        <p:nvSpPr>
          <p:cNvPr id="6" name="Oval 5"/>
          <p:cNvSpPr/>
          <p:nvPr/>
        </p:nvSpPr>
        <p:spPr>
          <a:xfrm>
            <a:off x="603504" y="2331720"/>
            <a:ext cx="548640" cy="548640"/>
          </a:xfrm>
          <a:prstGeom prst="ellipse">
            <a:avLst/>
          </a:prstGeom>
          <a:gradFill rotWithShape="1">
            <a:gsLst>
              <a:gs pos="0">
                <a:srgbClr val="7C3AED"/>
              </a:gs>
              <a:gs pos="100000">
                <a:srgbClr val="06B6D4"/>
              </a:gs>
            </a:gsLst>
            <a:lin ang="21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shie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664" y="2468879"/>
            <a:ext cx="274320" cy="2743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353312" y="2276856"/>
            <a:ext cx="6400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50" b="1" i="0">
                <a:solidFill>
                  <a:srgbClr val="F5F2FC"/>
                </a:solidFill>
                <a:latin typeface="Segoe UI"/>
              </a:rPr>
              <a:t>What changes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53312" y="2624327"/>
            <a:ext cx="64465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80" b="0" i="0">
                <a:solidFill>
                  <a:srgbClr val="B6AED2"/>
                </a:solidFill>
                <a:latin typeface="Segoe UI"/>
              </a:rPr>
              <a:t>CA policies scoped to the Register security information action are now evaluated during WHfB and macOS Platform SSO setup.</a:t>
            </a:r>
          </a:p>
        </p:txBody>
      </p:sp>
      <p:sp>
        <p:nvSpPr>
          <p:cNvPr id="10" name="Oval 9"/>
          <p:cNvSpPr/>
          <p:nvPr/>
        </p:nvSpPr>
        <p:spPr>
          <a:xfrm>
            <a:off x="603504" y="3264408"/>
            <a:ext cx="548640" cy="548640"/>
          </a:xfrm>
          <a:prstGeom prst="ellipse">
            <a:avLst/>
          </a:prstGeom>
          <a:gradFill rotWithShape="1">
            <a:gsLst>
              <a:gs pos="0">
                <a:srgbClr val="7C3AED"/>
              </a:gs>
              <a:gs pos="100000">
                <a:srgbClr val="06B6D4"/>
              </a:gs>
            </a:gsLst>
            <a:lin ang="21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warnin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0664" y="3401568"/>
            <a:ext cx="274320" cy="2743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353312" y="3209544"/>
            <a:ext cx="6400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50" b="1" i="0">
                <a:solidFill>
                  <a:srgbClr val="F5F2FC"/>
                </a:solidFill>
                <a:latin typeface="Segoe UI"/>
              </a:rPr>
              <a:t>Before vs after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53312" y="3557015"/>
            <a:ext cx="64465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80" b="0" i="0">
                <a:solidFill>
                  <a:srgbClr val="B6AED2"/>
                </a:solidFill>
                <a:latin typeface="Segoe UI"/>
              </a:rPr>
              <a:t>These flows already required MFA, but ignored your grant controls like auth strength and trusted locations. Now they enforce them.</a:t>
            </a:r>
          </a:p>
        </p:txBody>
      </p:sp>
      <p:sp>
        <p:nvSpPr>
          <p:cNvPr id="14" name="Oval 13"/>
          <p:cNvSpPr/>
          <p:nvPr/>
        </p:nvSpPr>
        <p:spPr>
          <a:xfrm>
            <a:off x="603504" y="4197096"/>
            <a:ext cx="548640" cy="548640"/>
          </a:xfrm>
          <a:prstGeom prst="ellipse">
            <a:avLst/>
          </a:prstGeom>
          <a:gradFill rotWithShape="1">
            <a:gsLst>
              <a:gs pos="0">
                <a:srgbClr val="7C3AED"/>
              </a:gs>
              <a:gs pos="100000">
                <a:srgbClr val="06B6D4"/>
              </a:gs>
            </a:gsLst>
            <a:lin ang="21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ke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0664" y="4334256"/>
            <a:ext cx="274320" cy="27432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353312" y="4142232"/>
            <a:ext cx="6400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50" b="1" i="0">
                <a:solidFill>
                  <a:srgbClr val="F5F2FC"/>
                </a:solidFill>
                <a:latin typeface="Segoe UI"/>
              </a:rPr>
              <a:t>Who gets blocked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53312" y="4489704"/>
            <a:ext cx="64465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80" b="0" i="0">
                <a:solidFill>
                  <a:srgbClr val="B6AED2"/>
                </a:solidFill>
                <a:latin typeface="Segoe UI"/>
              </a:rPr>
              <a:t>Users who cannot meet the policy during enrollment are blocked from registering passwordless credentials until they can.</a:t>
            </a:r>
          </a:p>
        </p:txBody>
      </p:sp>
      <p:sp>
        <p:nvSpPr>
          <p:cNvPr id="18" name="Oval 17"/>
          <p:cNvSpPr/>
          <p:nvPr/>
        </p:nvSpPr>
        <p:spPr>
          <a:xfrm>
            <a:off x="603504" y="5129783"/>
            <a:ext cx="548640" cy="548640"/>
          </a:xfrm>
          <a:prstGeom prst="ellipse">
            <a:avLst/>
          </a:prstGeom>
          <a:gradFill rotWithShape="1">
            <a:gsLst>
              <a:gs pos="0">
                <a:srgbClr val="7C3AED"/>
              </a:gs>
              <a:gs pos="100000">
                <a:srgbClr val="06B6D4"/>
              </a:gs>
            </a:gsLst>
            <a:lin ang="21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Picture 18" descr="calenda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0664" y="5266944"/>
            <a:ext cx="274320" cy="27432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353312" y="5074920"/>
            <a:ext cx="6400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50" b="1" i="0">
                <a:solidFill>
                  <a:srgbClr val="F5F2FC"/>
                </a:solidFill>
                <a:latin typeface="Segoe UI"/>
              </a:rPr>
              <a:t>Timeline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53312" y="5422392"/>
            <a:ext cx="64465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80" b="0" i="0">
                <a:solidFill>
                  <a:srgbClr val="B6AED2"/>
                </a:solidFill>
                <a:latin typeface="Segoe UI"/>
              </a:rPr>
              <a:t>Gradual rollout begins July 6, 2026 and completes for all tenants by July 13, 2026.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75320" y="2148840"/>
            <a:ext cx="3310128" cy="3886200"/>
          </a:xfrm>
          <a:prstGeom prst="roundRect">
            <a:avLst>
              <a:gd name="adj" fmla="val 10000"/>
            </a:avLst>
          </a:prstGeom>
          <a:gradFill rotWithShape="1">
            <a:gsLst>
              <a:gs pos="0">
                <a:srgbClr val="7C3AED"/>
              </a:gs>
              <a:gs pos="100000">
                <a:srgbClr val="06B6D4"/>
              </a:gs>
            </a:gsLst>
            <a:lin ang="3600000" scaled="1"/>
          </a:gradFill>
          <a:ln>
            <a:noFill/>
          </a:ln>
          <a:effectLst>
            <a:outerShdw blurRad="82296" dist="4572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641080" y="2432304"/>
            <a:ext cx="257860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spc="300">
                <a:solidFill>
                  <a:srgbClr val="F5F2FC"/>
                </a:solidFill>
                <a:latin typeface="Consolas"/>
              </a:rPr>
              <a:t>DEADLINE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22792" y="2724912"/>
            <a:ext cx="2761488" cy="8686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5000" b="1" i="0">
                <a:solidFill>
                  <a:srgbClr val="F5F2FC"/>
                </a:solidFill>
                <a:latin typeface="Segoe UI Semibold"/>
              </a:rPr>
              <a:t>JUL 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41080" y="3566160"/>
            <a:ext cx="2596896" cy="6766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 i="0">
                <a:solidFill>
                  <a:srgbClr val="F5F2FC"/>
                </a:solidFill>
                <a:latin typeface="Segoe UI"/>
              </a:rPr>
              <a:t>Rollout starts, done Jul 13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641080" y="4370832"/>
            <a:ext cx="2578608" cy="177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641080" y="4498848"/>
            <a:ext cx="257860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spc="200">
                <a:solidFill>
                  <a:srgbClr val="F2E9FF"/>
                </a:solidFill>
                <a:latin typeface="Consolas"/>
              </a:rPr>
              <a:t>WHO IS AFFECTED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41080" y="4818888"/>
            <a:ext cx="2596896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FBF4FF"/>
                </a:solidFill>
                <a:latin typeface="Segoe UI"/>
              </a:rPr>
              <a:t>Tenants with CA targeting Register security information, on Windows and macOS.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41080" y="5760720"/>
            <a:ext cx="257860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1">
                <a:solidFill>
                  <a:srgbClr val="E9DCFF"/>
                </a:solidFill>
                <a:latin typeface="Segoe UI"/>
              </a:rPr>
              <a:t>Source: Microsoft Learn</a:t>
            </a:r>
          </a:p>
        </p:txBody>
      </p:sp>
      <p:pic>
        <p:nvPicPr>
          <p:cNvPr id="30" name="Picture 29" descr="logo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6928" y="6455664"/>
            <a:ext cx="237744" cy="237744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868680" y="6437376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i="0">
                <a:solidFill>
                  <a:srgbClr val="8B83A8"/>
                </a:solidFill>
                <a:latin typeface="Segoe UI"/>
              </a:rPr>
              <a:t>CloudHour</a:t>
            </a:r>
            <a:r>
              <a:rPr sz="950" b="0" i="0">
                <a:solidFill>
                  <a:srgbClr val="8B83A8"/>
                </a:solidFill>
                <a:latin typeface="Segoe UI"/>
              </a:rPr>
              <a:t>   ·   Microsoft EMS Community  ·  Jul 2026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11535" y="6437376"/>
            <a:ext cx="6858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50" b="1" i="0">
                <a:solidFill>
                  <a:srgbClr val="8B83A8"/>
                </a:solidFill>
                <a:latin typeface="Consolas"/>
              </a:rPr>
              <a:t>11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s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3504" y="548640"/>
            <a:ext cx="10058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 spc="260">
                <a:solidFill>
                  <a:srgbClr val="FF2E88"/>
                </a:solidFill>
                <a:latin typeface="Consolas"/>
              </a:rPr>
              <a:t>TOPIC 2  ·  ROUND-TABLE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896112"/>
            <a:ext cx="105156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500" b="1" i="0">
                <a:solidFill>
                  <a:srgbClr val="F5F2FC"/>
                </a:solidFill>
                <a:latin typeface="Segoe UI Semibold"/>
              </a:rPr>
              <a:t>Let us talk: registration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3504" y="2011680"/>
            <a:ext cx="5309463" cy="1627632"/>
          </a:xfrm>
          <a:prstGeom prst="roundRect">
            <a:avLst>
              <a:gd name="adj" fmla="val 10000"/>
            </a:avLst>
          </a:prstGeom>
          <a:solidFill>
            <a:srgbClr val="1A1436"/>
          </a:solidFill>
          <a:ln w="12700">
            <a:solidFill>
              <a:srgbClr val="342B5E"/>
            </a:solidFill>
          </a:ln>
          <a:effectLst>
            <a:outerShdw blurRad="82296" dist="4572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914400" y="2322576"/>
            <a:ext cx="603504" cy="603504"/>
          </a:xfrm>
          <a:prstGeom prst="ellipse">
            <a:avLst/>
          </a:prstGeom>
          <a:gradFill rotWithShape="1">
            <a:gsLst>
              <a:gs pos="0">
                <a:srgbClr val="7C3AED"/>
              </a:gs>
              <a:gs pos="100000">
                <a:srgbClr val="06B6D4"/>
              </a:gs>
            </a:gsLst>
            <a:lin ang="27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cha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3205" y="2461381"/>
            <a:ext cx="325892" cy="32589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700784" y="2286000"/>
            <a:ext cx="3937863" cy="11704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4000"/>
              </a:lnSpc>
            </a:pPr>
            <a:r>
              <a:rPr sz="1450" b="0" i="0">
                <a:solidFill>
                  <a:srgbClr val="F5F2FC"/>
                </a:solidFill>
                <a:latin typeface="Segoe UI"/>
              </a:rPr>
              <a:t>Do you have CA policies on the Register security information action today?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727" y="2011680"/>
            <a:ext cx="5309463" cy="1627632"/>
          </a:xfrm>
          <a:prstGeom prst="roundRect">
            <a:avLst>
              <a:gd name="adj" fmla="val 10000"/>
            </a:avLst>
          </a:prstGeom>
          <a:solidFill>
            <a:srgbClr val="1A1436"/>
          </a:solidFill>
          <a:ln w="12700">
            <a:solidFill>
              <a:srgbClr val="342B5E"/>
            </a:solidFill>
          </a:ln>
          <a:effectLst>
            <a:outerShdw blurRad="82296" dist="4572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6589623" y="2322576"/>
            <a:ext cx="603504" cy="603504"/>
          </a:xfrm>
          <a:prstGeom prst="ellipse">
            <a:avLst/>
          </a:prstGeom>
          <a:gradFill rotWithShape="1">
            <a:gsLst>
              <a:gs pos="0">
                <a:srgbClr val="7C3AED"/>
              </a:gs>
              <a:gs pos="100000">
                <a:srgbClr val="06B6D4"/>
              </a:gs>
            </a:gsLst>
            <a:lin ang="27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cha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8429" y="2461381"/>
            <a:ext cx="325892" cy="32589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376007" y="2286000"/>
            <a:ext cx="3937863" cy="11704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4000"/>
              </a:lnSpc>
            </a:pPr>
            <a:r>
              <a:rPr sz="1450" b="0" i="0">
                <a:solidFill>
                  <a:srgbClr val="F5F2FC"/>
                </a:solidFill>
                <a:latin typeface="Segoe UI"/>
              </a:rPr>
              <a:t>Can a brand-new user satisfy your grant controls before they own any credential? Do you hand out Temporary Access Passes?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3504" y="3895344"/>
            <a:ext cx="5309463" cy="1627632"/>
          </a:xfrm>
          <a:prstGeom prst="roundRect">
            <a:avLst>
              <a:gd name="adj" fmla="val 10000"/>
            </a:avLst>
          </a:prstGeom>
          <a:solidFill>
            <a:srgbClr val="1A1436"/>
          </a:solidFill>
          <a:ln w="12700">
            <a:solidFill>
              <a:srgbClr val="342B5E"/>
            </a:solidFill>
          </a:ln>
          <a:effectLst>
            <a:outerShdw blurRad="82296" dist="4572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914400" y="4206240"/>
            <a:ext cx="603504" cy="603504"/>
          </a:xfrm>
          <a:prstGeom prst="ellipse">
            <a:avLst/>
          </a:prstGeom>
          <a:gradFill rotWithShape="1">
            <a:gsLst>
              <a:gs pos="0">
                <a:srgbClr val="7C3AED"/>
              </a:gs>
              <a:gs pos="100000">
                <a:srgbClr val="06B6D4"/>
              </a:gs>
            </a:gsLst>
            <a:lin ang="27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cha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3205" y="4345045"/>
            <a:ext cx="325892" cy="32589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700784" y="4169663"/>
            <a:ext cx="3937863" cy="11704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4000"/>
              </a:lnSpc>
            </a:pPr>
            <a:r>
              <a:rPr sz="1450" b="0" i="0">
                <a:solidFill>
                  <a:srgbClr val="F5F2FC"/>
                </a:solidFill>
                <a:latin typeface="Segoe UI"/>
              </a:rPr>
              <a:t>Trusted-location rules during enrollment: helpful, or a trap for remote and new hires?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78727" y="3895344"/>
            <a:ext cx="5309463" cy="1627632"/>
          </a:xfrm>
          <a:prstGeom prst="roundRect">
            <a:avLst>
              <a:gd name="adj" fmla="val 10000"/>
            </a:avLst>
          </a:prstGeom>
          <a:solidFill>
            <a:srgbClr val="1A1436"/>
          </a:solidFill>
          <a:ln w="12700">
            <a:solidFill>
              <a:srgbClr val="342B5E"/>
            </a:solidFill>
          </a:ln>
          <a:effectLst>
            <a:outerShdw blurRad="82296" dist="4572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6589623" y="4206240"/>
            <a:ext cx="603504" cy="603504"/>
          </a:xfrm>
          <a:prstGeom prst="ellipse">
            <a:avLst/>
          </a:prstGeom>
          <a:gradFill rotWithShape="1">
            <a:gsLst>
              <a:gs pos="0">
                <a:srgbClr val="7C3AED"/>
              </a:gs>
              <a:gs pos="100000">
                <a:srgbClr val="06B6D4"/>
              </a:gs>
            </a:gsLst>
            <a:lin ang="27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Picture 18" descr="cha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8429" y="4345045"/>
            <a:ext cx="325892" cy="325892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7376007" y="4169663"/>
            <a:ext cx="3937863" cy="11704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4000"/>
              </a:lnSpc>
            </a:pPr>
            <a:r>
              <a:rPr sz="1450" b="0" i="0">
                <a:solidFill>
                  <a:srgbClr val="F5F2FC"/>
                </a:solidFill>
                <a:latin typeface="Segoe UI"/>
              </a:rPr>
              <a:t>Are you set to test in report-only before July 6?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3504" y="5897880"/>
            <a:ext cx="1098468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1">
                <a:solidFill>
                  <a:srgbClr val="B6AED2"/>
                </a:solidFill>
                <a:latin typeface="Segoe UI"/>
              </a:rPr>
              <a:t>Unmute and jump in. There are no wrong answers here.</a:t>
            </a:r>
          </a:p>
        </p:txBody>
      </p:sp>
      <p:pic>
        <p:nvPicPr>
          <p:cNvPr id="22" name="Picture 21" descr="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6455664"/>
            <a:ext cx="237744" cy="237744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868680" y="6437376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i="0">
                <a:solidFill>
                  <a:srgbClr val="8B83A8"/>
                </a:solidFill>
                <a:latin typeface="Segoe UI"/>
              </a:rPr>
              <a:t>CloudHour</a:t>
            </a:r>
            <a:r>
              <a:rPr sz="950" b="0" i="0">
                <a:solidFill>
                  <a:srgbClr val="8B83A8"/>
                </a:solidFill>
                <a:latin typeface="Segoe UI"/>
              </a:rPr>
              <a:t>   ·   Microsoft EMS Community  ·  Jul 2026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11535" y="6437376"/>
            <a:ext cx="6858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50" b="1" i="0">
                <a:solidFill>
                  <a:srgbClr val="8B83A8"/>
                </a:solidFill>
                <a:latin typeface="Consolas"/>
              </a:rPr>
              <a:t>12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cont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3504" y="548640"/>
            <a:ext cx="10058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 spc="260">
                <a:solidFill>
                  <a:srgbClr val="22D3EE"/>
                </a:solidFill>
                <a:latin typeface="Consolas"/>
              </a:rPr>
              <a:t>TOPIC 3  ·  LICENSING · INTUNE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896112"/>
            <a:ext cx="74066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300" b="1" i="0">
                <a:solidFill>
                  <a:srgbClr val="F5F2FC"/>
                </a:solidFill>
                <a:latin typeface="Segoe UI Semibold"/>
              </a:rPr>
              <a:t>M365 + Intune Suite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1481328"/>
            <a:ext cx="74066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 i="0">
                <a:solidFill>
                  <a:srgbClr val="22D3EE"/>
                </a:solidFill>
                <a:latin typeface="Segoe UI Semibold"/>
              </a:rPr>
              <a:t>Repackaging &amp; price rise</a:t>
            </a:r>
          </a:p>
        </p:txBody>
      </p:sp>
      <p:sp>
        <p:nvSpPr>
          <p:cNvPr id="6" name="Oval 5"/>
          <p:cNvSpPr/>
          <p:nvPr/>
        </p:nvSpPr>
        <p:spPr>
          <a:xfrm>
            <a:off x="603504" y="2331720"/>
            <a:ext cx="548640" cy="548640"/>
          </a:xfrm>
          <a:prstGeom prst="ellipse">
            <a:avLst/>
          </a:prstGeom>
          <a:gradFill rotWithShape="1">
            <a:gsLst>
              <a:gs pos="0">
                <a:srgbClr val="FF2E88"/>
              </a:gs>
              <a:gs pos="52000">
                <a:srgbClr val="7C3AED"/>
              </a:gs>
              <a:gs pos="100000">
                <a:srgbClr val="06B6D4"/>
              </a:gs>
            </a:gsLst>
            <a:lin ang="21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pack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664" y="2468879"/>
            <a:ext cx="274320" cy="2743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353312" y="2276856"/>
            <a:ext cx="6400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50" b="1" i="0">
                <a:solidFill>
                  <a:srgbClr val="F5F2FC"/>
                </a:solidFill>
                <a:latin typeface="Segoe UI"/>
              </a:rPr>
              <a:t>What is changing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53312" y="2624327"/>
            <a:ext cx="64465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80" b="0" i="0">
                <a:solidFill>
                  <a:srgbClr val="B6AED2"/>
                </a:solidFill>
                <a:latin typeface="Segoe UI"/>
              </a:rPr>
              <a:t>M365 plans get new bundled value and a price increase. Existing customers stay on current pricing until renewal.</a:t>
            </a:r>
          </a:p>
        </p:txBody>
      </p:sp>
      <p:sp>
        <p:nvSpPr>
          <p:cNvPr id="10" name="Oval 9"/>
          <p:cNvSpPr/>
          <p:nvPr/>
        </p:nvSpPr>
        <p:spPr>
          <a:xfrm>
            <a:off x="603504" y="3264408"/>
            <a:ext cx="548640" cy="548640"/>
          </a:xfrm>
          <a:prstGeom prst="ellipse">
            <a:avLst/>
          </a:prstGeom>
          <a:gradFill rotWithShape="1">
            <a:gsLst>
              <a:gs pos="0">
                <a:srgbClr val="FF2E88"/>
              </a:gs>
              <a:gs pos="52000">
                <a:srgbClr val="7C3AED"/>
              </a:gs>
              <a:gs pos="100000">
                <a:srgbClr val="06B6D4"/>
              </a:gs>
            </a:gsLst>
            <a:lin ang="21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bol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0664" y="3401568"/>
            <a:ext cx="274320" cy="2743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353312" y="3209544"/>
            <a:ext cx="6400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50" b="1" i="0">
                <a:solidFill>
                  <a:srgbClr val="F5F2FC"/>
                </a:solidFill>
                <a:latin typeface="Segoe UI"/>
              </a:rPr>
              <a:t>E3 now includes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53312" y="3557015"/>
            <a:ext cx="64465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80" b="0" i="0">
                <a:solidFill>
                  <a:srgbClr val="B6AED2"/>
                </a:solidFill>
                <a:latin typeface="Segoe UI"/>
              </a:rPr>
              <a:t>Defender for Office 365 P1, Intune Remote Help, Intune Advanced Analytics and Intune Plan 2.</a:t>
            </a:r>
          </a:p>
        </p:txBody>
      </p:sp>
      <p:sp>
        <p:nvSpPr>
          <p:cNvPr id="14" name="Oval 13"/>
          <p:cNvSpPr/>
          <p:nvPr/>
        </p:nvSpPr>
        <p:spPr>
          <a:xfrm>
            <a:off x="603504" y="4197096"/>
            <a:ext cx="548640" cy="548640"/>
          </a:xfrm>
          <a:prstGeom prst="ellipse">
            <a:avLst/>
          </a:prstGeom>
          <a:gradFill rotWithShape="1">
            <a:gsLst>
              <a:gs pos="0">
                <a:srgbClr val="FF2E88"/>
              </a:gs>
              <a:gs pos="52000">
                <a:srgbClr val="7C3AED"/>
              </a:gs>
              <a:gs pos="100000">
                <a:srgbClr val="06B6D4"/>
              </a:gs>
            </a:gsLst>
            <a:lin ang="21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shiel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0664" y="4334256"/>
            <a:ext cx="274320" cy="27432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353312" y="4142232"/>
            <a:ext cx="6400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50" b="1" i="0">
                <a:solidFill>
                  <a:srgbClr val="F5F2FC"/>
                </a:solidFill>
                <a:latin typeface="Segoe UI"/>
              </a:rPr>
              <a:t>E5 adds on top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53312" y="4489704"/>
            <a:ext cx="64465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80" b="0" i="0">
                <a:solidFill>
                  <a:srgbClr val="B6AED2"/>
                </a:solidFill>
                <a:latin typeface="Segoe UI"/>
              </a:rPr>
              <a:t>Security Copilot, Endpoint Privilege Management, Cloud PKI and Enterprise App Management.</a:t>
            </a:r>
          </a:p>
        </p:txBody>
      </p:sp>
      <p:sp>
        <p:nvSpPr>
          <p:cNvPr id="18" name="Oval 17"/>
          <p:cNvSpPr/>
          <p:nvPr/>
        </p:nvSpPr>
        <p:spPr>
          <a:xfrm>
            <a:off x="603504" y="5129783"/>
            <a:ext cx="548640" cy="548640"/>
          </a:xfrm>
          <a:prstGeom prst="ellipse">
            <a:avLst/>
          </a:prstGeom>
          <a:gradFill rotWithShape="1">
            <a:gsLst>
              <a:gs pos="0">
                <a:srgbClr val="FF2E88"/>
              </a:gs>
              <a:gs pos="52000">
                <a:srgbClr val="7C3AED"/>
              </a:gs>
              <a:gs pos="100000">
                <a:srgbClr val="06B6D4"/>
              </a:gs>
            </a:gsLst>
            <a:lin ang="21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Picture 18" descr="calenda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0664" y="5266944"/>
            <a:ext cx="274320" cy="27432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353312" y="5074920"/>
            <a:ext cx="6400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50" b="1" i="0">
                <a:solidFill>
                  <a:srgbClr val="F5F2FC"/>
                </a:solidFill>
                <a:latin typeface="Segoe UI"/>
              </a:rPr>
              <a:t>Timeline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53312" y="5422392"/>
            <a:ext cx="64465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80" b="0" i="0">
                <a:solidFill>
                  <a:srgbClr val="B6AED2"/>
                </a:solidFill>
                <a:latin typeface="Segoe UI"/>
              </a:rPr>
              <a:t>30 days of Message Center notice before features land. Rollout completes by August 1, 2026.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75320" y="2148840"/>
            <a:ext cx="3310128" cy="3886200"/>
          </a:xfrm>
          <a:prstGeom prst="roundRect">
            <a:avLst>
              <a:gd name="adj" fmla="val 10000"/>
            </a:avLst>
          </a:prstGeom>
          <a:gradFill rotWithShape="1">
            <a:gsLst>
              <a:gs pos="0">
                <a:srgbClr val="FF2E88"/>
              </a:gs>
              <a:gs pos="52000">
                <a:srgbClr val="7C3AED"/>
              </a:gs>
              <a:gs pos="100000">
                <a:srgbClr val="06B6D4"/>
              </a:gs>
            </a:gsLst>
            <a:lin ang="3600000" scaled="1"/>
          </a:gradFill>
          <a:ln>
            <a:noFill/>
          </a:ln>
          <a:effectLst>
            <a:outerShdw blurRad="82296" dist="4572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641080" y="2432304"/>
            <a:ext cx="257860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spc="300">
                <a:solidFill>
                  <a:srgbClr val="F5F2FC"/>
                </a:solidFill>
                <a:latin typeface="Consolas"/>
              </a:rPr>
              <a:t>DEADLINE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22792" y="2724912"/>
            <a:ext cx="2761488" cy="8686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5000" b="1" i="0">
                <a:solidFill>
                  <a:srgbClr val="F5F2FC"/>
                </a:solidFill>
                <a:latin typeface="Segoe UI Semibold"/>
              </a:rPr>
              <a:t>JUL 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41080" y="3566160"/>
            <a:ext cx="2596896" cy="6766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 i="0">
                <a:solidFill>
                  <a:srgbClr val="F5F2FC"/>
                </a:solidFill>
                <a:latin typeface="Segoe UI"/>
              </a:rPr>
              <a:t>Prices up, features by Aug 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641080" y="4370832"/>
            <a:ext cx="2578608" cy="177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641080" y="4498848"/>
            <a:ext cx="257860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spc="200">
                <a:solidFill>
                  <a:srgbClr val="F2E9FF"/>
                </a:solidFill>
                <a:latin typeface="Consolas"/>
              </a:rPr>
              <a:t>WHO IS AFFECTED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41080" y="4818888"/>
            <a:ext cx="2596896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FBF4FF"/>
                </a:solidFill>
                <a:latin typeface="Segoe UI"/>
              </a:rPr>
              <a:t>All M365 and EMS E3 and E5 tenants, especially today's Intune Suite add-on customers.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41080" y="5760720"/>
            <a:ext cx="257860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1">
                <a:solidFill>
                  <a:srgbClr val="E9DCFF"/>
                </a:solidFill>
                <a:latin typeface="Segoe UI"/>
              </a:rPr>
              <a:t>Source: Microsoft Learn</a:t>
            </a:r>
          </a:p>
        </p:txBody>
      </p:sp>
      <p:pic>
        <p:nvPicPr>
          <p:cNvPr id="30" name="Picture 29" descr="logo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6928" y="6455664"/>
            <a:ext cx="237744" cy="237744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868680" y="6437376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i="0">
                <a:solidFill>
                  <a:srgbClr val="8B83A8"/>
                </a:solidFill>
                <a:latin typeface="Segoe UI"/>
              </a:rPr>
              <a:t>CloudHour</a:t>
            </a:r>
            <a:r>
              <a:rPr sz="950" b="0" i="0">
                <a:solidFill>
                  <a:srgbClr val="8B83A8"/>
                </a:solidFill>
                <a:latin typeface="Segoe UI"/>
              </a:rPr>
              <a:t>   ·   Microsoft EMS Community  ·  Jul 2026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11535" y="6437376"/>
            <a:ext cx="6858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50" b="1" i="0">
                <a:solidFill>
                  <a:srgbClr val="8B83A8"/>
                </a:solidFill>
                <a:latin typeface="Consolas"/>
              </a:rPr>
              <a:t>13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s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3504" y="548640"/>
            <a:ext cx="10058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 spc="260">
                <a:solidFill>
                  <a:srgbClr val="FF2E88"/>
                </a:solidFill>
                <a:latin typeface="Consolas"/>
              </a:rPr>
              <a:t>TOPIC 3  ·  ROUND-TABLE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896112"/>
            <a:ext cx="105156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500" b="1" i="0">
                <a:solidFill>
                  <a:srgbClr val="F5F2FC"/>
                </a:solidFill>
                <a:latin typeface="Segoe UI Semibold"/>
              </a:rPr>
              <a:t>Let us talk: licensing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3504" y="2011680"/>
            <a:ext cx="5309463" cy="1627632"/>
          </a:xfrm>
          <a:prstGeom prst="roundRect">
            <a:avLst>
              <a:gd name="adj" fmla="val 10000"/>
            </a:avLst>
          </a:prstGeom>
          <a:solidFill>
            <a:srgbClr val="1A1436"/>
          </a:solidFill>
          <a:ln w="12700">
            <a:solidFill>
              <a:srgbClr val="342B5E"/>
            </a:solidFill>
          </a:ln>
          <a:effectLst>
            <a:outerShdw blurRad="82296" dist="4572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914400" y="2322576"/>
            <a:ext cx="603504" cy="603504"/>
          </a:xfrm>
          <a:prstGeom prst="ellipse">
            <a:avLst/>
          </a:prstGeom>
          <a:gradFill rotWithShape="1">
            <a:gsLst>
              <a:gs pos="0">
                <a:srgbClr val="FF2E88"/>
              </a:gs>
              <a:gs pos="52000">
                <a:srgbClr val="7C3AED"/>
              </a:gs>
              <a:gs pos="100000">
                <a:srgbClr val="06B6D4"/>
              </a:gs>
            </a:gsLst>
            <a:lin ang="27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cha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3205" y="2461381"/>
            <a:ext cx="325892" cy="32589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700784" y="2286000"/>
            <a:ext cx="3937863" cy="11704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4000"/>
              </a:lnSpc>
            </a:pPr>
            <a:r>
              <a:rPr sz="1450" b="0" i="0">
                <a:solidFill>
                  <a:srgbClr val="F5F2FC"/>
                </a:solidFill>
                <a:latin typeface="Segoe UI"/>
              </a:rPr>
              <a:t>Already paying for Remote Help, EPM or Advanced Analytics as add-ons? Time to consolidate?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727" y="2011680"/>
            <a:ext cx="5309463" cy="1627632"/>
          </a:xfrm>
          <a:prstGeom prst="roundRect">
            <a:avLst>
              <a:gd name="adj" fmla="val 10000"/>
            </a:avLst>
          </a:prstGeom>
          <a:solidFill>
            <a:srgbClr val="1A1436"/>
          </a:solidFill>
          <a:ln w="12700">
            <a:solidFill>
              <a:srgbClr val="342B5E"/>
            </a:solidFill>
          </a:ln>
          <a:effectLst>
            <a:outerShdw blurRad="82296" dist="4572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6589623" y="2322576"/>
            <a:ext cx="603504" cy="603504"/>
          </a:xfrm>
          <a:prstGeom prst="ellipse">
            <a:avLst/>
          </a:prstGeom>
          <a:gradFill rotWithShape="1">
            <a:gsLst>
              <a:gs pos="0">
                <a:srgbClr val="FF2E88"/>
              </a:gs>
              <a:gs pos="52000">
                <a:srgbClr val="7C3AED"/>
              </a:gs>
              <a:gs pos="100000">
                <a:srgbClr val="06B6D4"/>
              </a:gs>
            </a:gsLst>
            <a:lin ang="27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cha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8429" y="2461381"/>
            <a:ext cx="325892" cy="32589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376007" y="2286000"/>
            <a:ext cx="3937863" cy="11704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4000"/>
              </a:lnSpc>
            </a:pPr>
            <a:r>
              <a:rPr sz="1450" b="0" i="0">
                <a:solidFill>
                  <a:srgbClr val="F5F2FC"/>
                </a:solidFill>
                <a:latin typeface="Segoe UI"/>
              </a:rPr>
              <a:t>Of the newly bundled features, what do you switch on first?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3504" y="3895344"/>
            <a:ext cx="5309463" cy="1627632"/>
          </a:xfrm>
          <a:prstGeom prst="roundRect">
            <a:avLst>
              <a:gd name="adj" fmla="val 10000"/>
            </a:avLst>
          </a:prstGeom>
          <a:solidFill>
            <a:srgbClr val="1A1436"/>
          </a:solidFill>
          <a:ln w="12700">
            <a:solidFill>
              <a:srgbClr val="342B5E"/>
            </a:solidFill>
          </a:ln>
          <a:effectLst>
            <a:outerShdw blurRad="82296" dist="4572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914400" y="4206240"/>
            <a:ext cx="603504" cy="603504"/>
          </a:xfrm>
          <a:prstGeom prst="ellipse">
            <a:avLst/>
          </a:prstGeom>
          <a:gradFill rotWithShape="1">
            <a:gsLst>
              <a:gs pos="0">
                <a:srgbClr val="FF2E88"/>
              </a:gs>
              <a:gs pos="52000">
                <a:srgbClr val="7C3AED"/>
              </a:gs>
              <a:gs pos="100000">
                <a:srgbClr val="06B6D4"/>
              </a:gs>
            </a:gsLst>
            <a:lin ang="27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cha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3205" y="4345045"/>
            <a:ext cx="325892" cy="32589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700784" y="4169663"/>
            <a:ext cx="3937863" cy="11704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4000"/>
              </a:lnSpc>
            </a:pPr>
            <a:r>
              <a:rPr sz="1450" b="0" i="0">
                <a:solidFill>
                  <a:srgbClr val="F5F2FC"/>
                </a:solidFill>
                <a:latin typeface="Segoe UI"/>
              </a:rPr>
              <a:t>Does this change your add-on or renewal strategy this year?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78727" y="3895344"/>
            <a:ext cx="5309463" cy="1627632"/>
          </a:xfrm>
          <a:prstGeom prst="roundRect">
            <a:avLst>
              <a:gd name="adj" fmla="val 10000"/>
            </a:avLst>
          </a:prstGeom>
          <a:solidFill>
            <a:srgbClr val="1A1436"/>
          </a:solidFill>
          <a:ln w="12700">
            <a:solidFill>
              <a:srgbClr val="342B5E"/>
            </a:solidFill>
          </a:ln>
          <a:effectLst>
            <a:outerShdw blurRad="82296" dist="4572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6589623" y="4206240"/>
            <a:ext cx="603504" cy="603504"/>
          </a:xfrm>
          <a:prstGeom prst="ellipse">
            <a:avLst/>
          </a:prstGeom>
          <a:gradFill rotWithShape="1">
            <a:gsLst>
              <a:gs pos="0">
                <a:srgbClr val="FF2E88"/>
              </a:gs>
              <a:gs pos="52000">
                <a:srgbClr val="7C3AED"/>
              </a:gs>
              <a:gs pos="100000">
                <a:srgbClr val="06B6D4"/>
              </a:gs>
            </a:gsLst>
            <a:lin ang="27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Picture 18" descr="cha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8429" y="4345045"/>
            <a:ext cx="325892" cy="325892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7376007" y="4169663"/>
            <a:ext cx="3937863" cy="11704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4000"/>
              </a:lnSpc>
            </a:pPr>
            <a:r>
              <a:rPr sz="1450" b="0" i="0">
                <a:solidFill>
                  <a:srgbClr val="F5F2FC"/>
                </a:solidFill>
                <a:latin typeface="Segoe UI"/>
              </a:rPr>
              <a:t>GCC and sovereign tenants get features later. Does that affect your rollout?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3504" y="5897880"/>
            <a:ext cx="1098468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1">
                <a:solidFill>
                  <a:srgbClr val="B6AED2"/>
                </a:solidFill>
                <a:latin typeface="Segoe UI"/>
              </a:rPr>
              <a:t>Unmute and jump in. There are no wrong answers here.</a:t>
            </a:r>
          </a:p>
        </p:txBody>
      </p:sp>
      <p:pic>
        <p:nvPicPr>
          <p:cNvPr id="22" name="Picture 21" descr="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6455664"/>
            <a:ext cx="237744" cy="237744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868680" y="6437376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i="0">
                <a:solidFill>
                  <a:srgbClr val="8B83A8"/>
                </a:solidFill>
                <a:latin typeface="Segoe UI"/>
              </a:rPr>
              <a:t>CloudHour</a:t>
            </a:r>
            <a:r>
              <a:rPr sz="950" b="0" i="0">
                <a:solidFill>
                  <a:srgbClr val="8B83A8"/>
                </a:solidFill>
                <a:latin typeface="Segoe UI"/>
              </a:rPr>
              <a:t>   ·   Microsoft EMS Community  ·  Jul 2026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11535" y="6437376"/>
            <a:ext cx="6858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50" b="1" i="0">
                <a:solidFill>
                  <a:srgbClr val="8B83A8"/>
                </a:solidFill>
                <a:latin typeface="Consolas"/>
              </a:rPr>
              <a:t>14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3504" y="548640"/>
            <a:ext cx="10058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 spc="260">
                <a:solidFill>
                  <a:srgbClr val="22D3EE"/>
                </a:solidFill>
                <a:latin typeface="Consolas"/>
              </a:rPr>
              <a:t>TOPIC 4  ·  INTUNE · DEFENDER · ENDPOINTS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896112"/>
            <a:ext cx="74066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300" b="1" i="0">
                <a:solidFill>
                  <a:srgbClr val="F5F2FC"/>
                </a:solidFill>
                <a:latin typeface="Segoe UI Semibold"/>
              </a:rPr>
              <a:t>Endpoint platform watch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1481328"/>
            <a:ext cx="74066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 i="0">
                <a:solidFill>
                  <a:srgbClr val="22D3EE"/>
                </a:solidFill>
                <a:latin typeface="Segoe UI Semibold"/>
              </a:rPr>
              <a:t>Windows, Android and iOS</a:t>
            </a:r>
          </a:p>
        </p:txBody>
      </p:sp>
      <p:sp>
        <p:nvSpPr>
          <p:cNvPr id="6" name="Oval 5"/>
          <p:cNvSpPr/>
          <p:nvPr/>
        </p:nvSpPr>
        <p:spPr>
          <a:xfrm>
            <a:off x="603504" y="2331720"/>
            <a:ext cx="548640" cy="548640"/>
          </a:xfrm>
          <a:prstGeom prst="ellipse">
            <a:avLst/>
          </a:prstGeom>
          <a:gradFill rotWithShape="1">
            <a:gsLst>
              <a:gs pos="0">
                <a:srgbClr val="FF2E88"/>
              </a:gs>
              <a:gs pos="100000">
                <a:srgbClr val="7C3AED"/>
              </a:gs>
            </a:gsLst>
            <a:lin ang="21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664" y="2468879"/>
            <a:ext cx="274320" cy="2743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353312" y="2276856"/>
            <a:ext cx="6400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50" b="1" i="0">
                <a:solidFill>
                  <a:srgbClr val="F5F2FC"/>
                </a:solidFill>
                <a:latin typeface="Segoe UI"/>
              </a:rPr>
              <a:t>Windows: Secure Boot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53312" y="2624327"/>
            <a:ext cx="64465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80" b="0" i="0">
                <a:solidFill>
                  <a:srgbClr val="B6AED2"/>
                </a:solidFill>
                <a:latin typeface="Segoe UI"/>
              </a:rPr>
              <a:t>The first 2011 certs lapsed in late June. The boot-manager cert follows Oct 19. Deploy the 2023 certs now via Intune or Windows Update.</a:t>
            </a:r>
          </a:p>
        </p:txBody>
      </p:sp>
      <p:sp>
        <p:nvSpPr>
          <p:cNvPr id="10" name="Oval 9"/>
          <p:cNvSpPr/>
          <p:nvPr/>
        </p:nvSpPr>
        <p:spPr>
          <a:xfrm>
            <a:off x="603504" y="3264408"/>
            <a:ext cx="548640" cy="548640"/>
          </a:xfrm>
          <a:prstGeom prst="ellipse">
            <a:avLst/>
          </a:prstGeom>
          <a:gradFill rotWithShape="1">
            <a:gsLst>
              <a:gs pos="0">
                <a:srgbClr val="FF2E88"/>
              </a:gs>
              <a:gs pos="100000">
                <a:srgbClr val="7C3AED"/>
              </a:gs>
            </a:gsLst>
            <a:lin ang="21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0664" y="3401568"/>
            <a:ext cx="274320" cy="2743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353312" y="3209544"/>
            <a:ext cx="6400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50" b="1" i="0">
                <a:solidFill>
                  <a:srgbClr val="F5F2FC"/>
                </a:solidFill>
                <a:latin typeface="Segoe UI"/>
              </a:rPr>
              <a:t>Windows: Defender EDR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53312" y="3557015"/>
            <a:ext cx="64465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80" b="0" i="0">
                <a:solidFill>
                  <a:srgbClr val="B6AED2"/>
                </a:solidFill>
                <a:latin typeface="Segoe UI"/>
              </a:rPr>
              <a:t>EDR updates split from the monthly bundle and move to Microsoft Update. Allow other Microsoft products in your update rings, see MC1381119.</a:t>
            </a:r>
          </a:p>
        </p:txBody>
      </p:sp>
      <p:sp>
        <p:nvSpPr>
          <p:cNvPr id="14" name="Oval 13"/>
          <p:cNvSpPr/>
          <p:nvPr/>
        </p:nvSpPr>
        <p:spPr>
          <a:xfrm>
            <a:off x="603504" y="4197096"/>
            <a:ext cx="548640" cy="548640"/>
          </a:xfrm>
          <a:prstGeom prst="ellipse">
            <a:avLst/>
          </a:prstGeom>
          <a:gradFill rotWithShape="1">
            <a:gsLst>
              <a:gs pos="0">
                <a:srgbClr val="FF2E88"/>
              </a:gs>
              <a:gs pos="100000">
                <a:srgbClr val="7C3AED"/>
              </a:gs>
            </a:gsLst>
            <a:lin ang="21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peopl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0664" y="4334256"/>
            <a:ext cx="274320" cy="27432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353312" y="4142232"/>
            <a:ext cx="6400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50" b="1" i="0">
                <a:solidFill>
                  <a:srgbClr val="F5F2FC"/>
                </a:solidFill>
                <a:latin typeface="Segoe UI"/>
              </a:rPr>
              <a:t>Android: Teams devices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53312" y="4489704"/>
            <a:ext cx="64465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80" b="0" i="0">
                <a:solidFill>
                  <a:srgbClr val="B6AED2"/>
                </a:solidFill>
                <a:latin typeface="Segoe UI"/>
              </a:rPr>
              <a:t>Teams certification ends for Android 10 and 11 certified hardware on Sep 3, 2026. Plan firmware updates or replacements.</a:t>
            </a:r>
          </a:p>
        </p:txBody>
      </p:sp>
      <p:sp>
        <p:nvSpPr>
          <p:cNvPr id="18" name="Oval 17"/>
          <p:cNvSpPr/>
          <p:nvPr/>
        </p:nvSpPr>
        <p:spPr>
          <a:xfrm>
            <a:off x="603504" y="5129783"/>
            <a:ext cx="548640" cy="548640"/>
          </a:xfrm>
          <a:prstGeom prst="ellipse">
            <a:avLst/>
          </a:prstGeom>
          <a:gradFill rotWithShape="1">
            <a:gsLst>
              <a:gs pos="0">
                <a:srgbClr val="FF2E88"/>
              </a:gs>
              <a:gs pos="100000">
                <a:srgbClr val="7C3AED"/>
              </a:gs>
            </a:gsLst>
            <a:lin ang="21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0664" y="5266944"/>
            <a:ext cx="274320" cy="27432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353312" y="5074920"/>
            <a:ext cx="6400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50" b="1" i="0">
                <a:solidFill>
                  <a:srgbClr val="F5F2FC"/>
                </a:solidFill>
                <a:latin typeface="Segoe UI"/>
              </a:rPr>
              <a:t>iOS: Defender shifts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53312" y="5422392"/>
            <a:ext cx="64465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80" b="0" i="0">
                <a:solidFill>
                  <a:srgbClr val="B6AED2"/>
                </a:solidFill>
                <a:latin typeface="Segoe UI"/>
              </a:rPr>
              <a:t>Defender for iOS retires the user trust-this-network control in June and in-app OS-update notices in July, MC1381122. Compliance moves to Intune.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75320" y="2148840"/>
            <a:ext cx="3310128" cy="3886200"/>
          </a:xfrm>
          <a:prstGeom prst="roundRect">
            <a:avLst>
              <a:gd name="adj" fmla="val 10000"/>
            </a:avLst>
          </a:prstGeom>
          <a:gradFill rotWithShape="1">
            <a:gsLst>
              <a:gs pos="0">
                <a:srgbClr val="FF2E88"/>
              </a:gs>
              <a:gs pos="100000">
                <a:srgbClr val="7C3AED"/>
              </a:gs>
            </a:gsLst>
            <a:lin ang="3600000" scaled="1"/>
          </a:gradFill>
          <a:ln>
            <a:noFill/>
          </a:ln>
          <a:effectLst>
            <a:outerShdw blurRad="82296" dist="4572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641080" y="2432304"/>
            <a:ext cx="257860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spc="300">
                <a:solidFill>
                  <a:srgbClr val="F5F2FC"/>
                </a:solidFill>
                <a:latin typeface="Consolas"/>
              </a:rPr>
              <a:t>DEADLINE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22792" y="2724912"/>
            <a:ext cx="2761488" cy="8686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3400" b="1" i="0">
                <a:solidFill>
                  <a:srgbClr val="F5F2FC"/>
                </a:solidFill>
                <a:latin typeface="Segoe UI Semibold"/>
              </a:rPr>
              <a:t>JUN-OCT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41080" y="3566160"/>
            <a:ext cx="2596896" cy="6766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 i="0">
                <a:solidFill>
                  <a:srgbClr val="F5F2FC"/>
                </a:solidFill>
                <a:latin typeface="Segoe UI"/>
              </a:rPr>
              <a:t>Three platforms, one quarter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641080" y="4370832"/>
            <a:ext cx="2578608" cy="177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641080" y="4498848"/>
            <a:ext cx="257860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spc="200">
                <a:solidFill>
                  <a:srgbClr val="F2E9FF"/>
                </a:solidFill>
                <a:latin typeface="Consolas"/>
              </a:rPr>
              <a:t>WHO IS AFFECTED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41080" y="4818888"/>
            <a:ext cx="2596896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FBF4FF"/>
                </a:solidFill>
                <a:latin typeface="Segoe UI"/>
              </a:rPr>
              <a:t>Anyone managing Windows, Android or iOS endpoints.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41080" y="5760720"/>
            <a:ext cx="257860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1">
                <a:solidFill>
                  <a:srgbClr val="E9DCFF"/>
                </a:solidFill>
                <a:latin typeface="Segoe UI"/>
              </a:rPr>
              <a:t>Source: Microsoft Learn</a:t>
            </a:r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6928" y="6455664"/>
            <a:ext cx="237744" cy="237744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868680" y="6437376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i="0">
                <a:solidFill>
                  <a:srgbClr val="8B83A8"/>
                </a:solidFill>
                <a:latin typeface="Segoe UI"/>
              </a:rPr>
              <a:t>CloudHour</a:t>
            </a:r>
            <a:r>
              <a:rPr sz="950" b="0" i="0">
                <a:solidFill>
                  <a:srgbClr val="8B83A8"/>
                </a:solidFill>
                <a:latin typeface="Segoe UI"/>
              </a:rPr>
              <a:t>   ·   Microsoft EMS Community  ·  Jul 2026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11535" y="6437376"/>
            <a:ext cx="6858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50" b="1" i="0">
                <a:solidFill>
                  <a:srgbClr val="8B83A8"/>
                </a:solidFill>
                <a:latin typeface="Consolas"/>
              </a:rPr>
              <a:t>15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3504" y="548640"/>
            <a:ext cx="10058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 spc="260">
                <a:solidFill>
                  <a:srgbClr val="FF2E88"/>
                </a:solidFill>
                <a:latin typeface="Consolas"/>
              </a:rPr>
              <a:t>TOPIC 4  ·  ROUND-TABLE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896112"/>
            <a:ext cx="105156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500" b="1" i="0">
                <a:solidFill>
                  <a:srgbClr val="F5F2FC"/>
                </a:solidFill>
                <a:latin typeface="Segoe UI Semibold"/>
              </a:rPr>
              <a:t>Let us talk: endpoints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3504" y="2011680"/>
            <a:ext cx="5309463" cy="1627632"/>
          </a:xfrm>
          <a:prstGeom prst="roundRect">
            <a:avLst>
              <a:gd name="adj" fmla="val 10000"/>
            </a:avLst>
          </a:prstGeom>
          <a:solidFill>
            <a:srgbClr val="1A1436"/>
          </a:solidFill>
          <a:ln w="12700">
            <a:solidFill>
              <a:srgbClr val="342B5E"/>
            </a:solidFill>
          </a:ln>
          <a:effectLst>
            <a:outerShdw blurRad="82296" dist="4572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914400" y="2322576"/>
            <a:ext cx="603504" cy="603504"/>
          </a:xfrm>
          <a:prstGeom prst="ellipse">
            <a:avLst/>
          </a:prstGeom>
          <a:gradFill rotWithShape="1">
            <a:gsLst>
              <a:gs pos="0">
                <a:srgbClr val="FF2E88"/>
              </a:gs>
              <a:gs pos="100000">
                <a:srgbClr val="7C3AED"/>
              </a:gs>
            </a:gsLst>
            <a:lin ang="27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3205" y="2461381"/>
            <a:ext cx="325892" cy="32589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700784" y="2286000"/>
            <a:ext cx="3937863" cy="11704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4000"/>
              </a:lnSpc>
            </a:pPr>
            <a:r>
              <a:rPr sz="1450" b="0" i="0">
                <a:solidFill>
                  <a:srgbClr val="F5F2FC"/>
                </a:solidFill>
                <a:latin typeface="Segoe UI"/>
              </a:rPr>
              <a:t>Secure Boot: do you know how many devices still need the 2023 certs, and how are you tracking it?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727" y="2011680"/>
            <a:ext cx="5309463" cy="1627632"/>
          </a:xfrm>
          <a:prstGeom prst="roundRect">
            <a:avLst>
              <a:gd name="adj" fmla="val 10000"/>
            </a:avLst>
          </a:prstGeom>
          <a:solidFill>
            <a:srgbClr val="1A1436"/>
          </a:solidFill>
          <a:ln w="12700">
            <a:solidFill>
              <a:srgbClr val="342B5E"/>
            </a:solidFill>
          </a:ln>
          <a:effectLst>
            <a:outerShdw blurRad="82296" dist="4572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6589623" y="2322576"/>
            <a:ext cx="603504" cy="603504"/>
          </a:xfrm>
          <a:prstGeom prst="ellipse">
            <a:avLst/>
          </a:prstGeom>
          <a:gradFill rotWithShape="1">
            <a:gsLst>
              <a:gs pos="0">
                <a:srgbClr val="FF2E88"/>
              </a:gs>
              <a:gs pos="100000">
                <a:srgbClr val="7C3AED"/>
              </a:gs>
            </a:gsLst>
            <a:lin ang="27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8429" y="2461381"/>
            <a:ext cx="325892" cy="32589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376007" y="2286000"/>
            <a:ext cx="3937863" cy="11704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4000"/>
              </a:lnSpc>
            </a:pPr>
            <a:r>
              <a:rPr sz="1450" b="0" i="0">
                <a:solidFill>
                  <a:srgbClr val="F5F2FC"/>
                </a:solidFill>
                <a:latin typeface="Segoe UI"/>
              </a:rPr>
              <a:t>Defender EDR moving to Microsoft Update: are your WSUS or update-ring settings ready?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3504" y="3895344"/>
            <a:ext cx="5309463" cy="1627632"/>
          </a:xfrm>
          <a:prstGeom prst="roundRect">
            <a:avLst>
              <a:gd name="adj" fmla="val 10000"/>
            </a:avLst>
          </a:prstGeom>
          <a:solidFill>
            <a:srgbClr val="1A1436"/>
          </a:solidFill>
          <a:ln w="12700">
            <a:solidFill>
              <a:srgbClr val="342B5E"/>
            </a:solidFill>
          </a:ln>
          <a:effectLst>
            <a:outerShdw blurRad="82296" dist="4572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914400" y="4206240"/>
            <a:ext cx="603504" cy="603504"/>
          </a:xfrm>
          <a:prstGeom prst="ellipse">
            <a:avLst/>
          </a:prstGeom>
          <a:gradFill rotWithShape="1">
            <a:gsLst>
              <a:gs pos="0">
                <a:srgbClr val="FF2E88"/>
              </a:gs>
              <a:gs pos="100000">
                <a:srgbClr val="7C3AED"/>
              </a:gs>
            </a:gsLst>
            <a:lin ang="27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3205" y="4345045"/>
            <a:ext cx="325892" cy="32589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700784" y="4169663"/>
            <a:ext cx="3937863" cy="11704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4000"/>
              </a:lnSpc>
            </a:pPr>
            <a:r>
              <a:rPr sz="1450" b="0" i="0">
                <a:solidFill>
                  <a:srgbClr val="F5F2FC"/>
                </a:solidFill>
                <a:latin typeface="Segoe UI"/>
              </a:rPr>
              <a:t>Still running Teams-certified Android 10 or 11 hardware? What is the refresh plan?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78727" y="3895344"/>
            <a:ext cx="5309463" cy="1627632"/>
          </a:xfrm>
          <a:prstGeom prst="roundRect">
            <a:avLst>
              <a:gd name="adj" fmla="val 10000"/>
            </a:avLst>
          </a:prstGeom>
          <a:solidFill>
            <a:srgbClr val="1A1436"/>
          </a:solidFill>
          <a:ln w="12700">
            <a:solidFill>
              <a:srgbClr val="342B5E"/>
            </a:solidFill>
          </a:ln>
          <a:effectLst>
            <a:outerShdw blurRad="82296" dist="4572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6589623" y="4206240"/>
            <a:ext cx="603504" cy="603504"/>
          </a:xfrm>
          <a:prstGeom prst="ellipse">
            <a:avLst/>
          </a:prstGeom>
          <a:gradFill rotWithShape="1">
            <a:gsLst>
              <a:gs pos="0">
                <a:srgbClr val="FF2E88"/>
              </a:gs>
              <a:gs pos="100000">
                <a:srgbClr val="7C3AED"/>
              </a:gs>
            </a:gsLst>
            <a:lin ang="27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8429" y="4345045"/>
            <a:ext cx="325892" cy="325892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7376007" y="4169663"/>
            <a:ext cx="3937863" cy="11704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4000"/>
              </a:lnSpc>
            </a:pPr>
            <a:r>
              <a:rPr sz="1450" b="0" i="0">
                <a:solidFill>
                  <a:srgbClr val="F5F2FC"/>
                </a:solidFill>
                <a:latin typeface="Segoe UI"/>
              </a:rPr>
              <a:t>Are your Intune OS-compliance policies ready to own update enforcement on iOS?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3504" y="5897880"/>
            <a:ext cx="1098468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1">
                <a:solidFill>
                  <a:srgbClr val="B6AED2"/>
                </a:solidFill>
                <a:latin typeface="Segoe UI"/>
              </a:rPr>
              <a:t>Unmute and jump in. There are no wrong answers here.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6455664"/>
            <a:ext cx="237744" cy="237744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868680" y="6437376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i="0">
                <a:solidFill>
                  <a:srgbClr val="8B83A8"/>
                </a:solidFill>
                <a:latin typeface="Segoe UI"/>
              </a:rPr>
              <a:t>CloudHour</a:t>
            </a:r>
            <a:r>
              <a:rPr sz="950" b="0" i="0">
                <a:solidFill>
                  <a:srgbClr val="8B83A8"/>
                </a:solidFill>
                <a:latin typeface="Segoe UI"/>
              </a:rPr>
              <a:t>   ·   Microsoft EMS Community  ·  Jul 2026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11535" y="6437376"/>
            <a:ext cx="6858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50" b="1" i="0">
                <a:solidFill>
                  <a:srgbClr val="8B83A8"/>
                </a:solidFill>
                <a:latin typeface="Consolas"/>
              </a:rPr>
              <a:t>16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3504" y="548640"/>
            <a:ext cx="10058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 spc="260">
                <a:solidFill>
                  <a:srgbClr val="22D3EE"/>
                </a:solidFill>
                <a:latin typeface="Consolas"/>
              </a:rPr>
              <a:t>TOPIC 5  ·  ENTRA ID · HYBRID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896112"/>
            <a:ext cx="74066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300" b="1" i="0">
                <a:solidFill>
                  <a:srgbClr val="F5F2FC"/>
                </a:solidFill>
                <a:latin typeface="Segoe UI Semibold"/>
              </a:rPr>
              <a:t>Connect Sync to Cloud Sync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1481328"/>
            <a:ext cx="74066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 i="0">
                <a:solidFill>
                  <a:srgbClr val="22D3EE"/>
                </a:solidFill>
                <a:latin typeface="Segoe UI Semibold"/>
              </a:rPr>
              <a:t>The move begins</a:t>
            </a:r>
          </a:p>
        </p:txBody>
      </p:sp>
      <p:sp>
        <p:nvSpPr>
          <p:cNvPr id="6" name="Oval 5"/>
          <p:cNvSpPr/>
          <p:nvPr/>
        </p:nvSpPr>
        <p:spPr>
          <a:xfrm>
            <a:off x="603504" y="2331720"/>
            <a:ext cx="548640" cy="548640"/>
          </a:xfrm>
          <a:prstGeom prst="ellipse">
            <a:avLst/>
          </a:prstGeom>
          <a:gradFill rotWithShape="1">
            <a:gsLst>
              <a:gs pos="0">
                <a:srgbClr val="7C3AED"/>
              </a:gs>
              <a:gs pos="100000">
                <a:srgbClr val="06B6D4"/>
              </a:gs>
            </a:gsLst>
            <a:lin ang="21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syn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664" y="2468879"/>
            <a:ext cx="274320" cy="2743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353312" y="2276856"/>
            <a:ext cx="6400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50" b="1" i="0">
                <a:solidFill>
                  <a:srgbClr val="F5F2FC"/>
                </a:solidFill>
                <a:latin typeface="Segoe UI"/>
              </a:rPr>
              <a:t>What is happening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53312" y="2624327"/>
            <a:ext cx="64465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80" b="0" i="0">
                <a:solidFill>
                  <a:srgbClr val="B6AED2"/>
                </a:solidFill>
                <a:latin typeface="Segoe UI"/>
              </a:rPr>
              <a:t>From July 2026, Microsoft begins phased notifications via Message Center, Connect Health and email to move tenants toward Cloud Sync.</a:t>
            </a:r>
          </a:p>
        </p:txBody>
      </p:sp>
      <p:sp>
        <p:nvSpPr>
          <p:cNvPr id="10" name="Oval 9"/>
          <p:cNvSpPr/>
          <p:nvPr/>
        </p:nvSpPr>
        <p:spPr>
          <a:xfrm>
            <a:off x="603504" y="3264408"/>
            <a:ext cx="548640" cy="548640"/>
          </a:xfrm>
          <a:prstGeom prst="ellipse">
            <a:avLst/>
          </a:prstGeom>
          <a:gradFill rotWithShape="1">
            <a:gsLst>
              <a:gs pos="0">
                <a:srgbClr val="7C3AED"/>
              </a:gs>
              <a:gs pos="100000">
                <a:srgbClr val="06B6D4"/>
              </a:gs>
            </a:gsLst>
            <a:lin ang="21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clou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0664" y="3401568"/>
            <a:ext cx="274320" cy="2743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353312" y="3209544"/>
            <a:ext cx="6400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50" b="1" i="0">
                <a:solidFill>
                  <a:srgbClr val="F5F2FC"/>
                </a:solidFill>
                <a:latin typeface="Segoe UI"/>
              </a:rPr>
              <a:t>Why Cloud Sync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53312" y="3557015"/>
            <a:ext cx="64465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80" b="0" i="0">
                <a:solidFill>
                  <a:srgbClr val="B6AED2"/>
                </a:solidFill>
                <a:latin typeface="Segoe UI"/>
              </a:rPr>
              <a:t>Recommended default for new and eligible deployments: lightweight agents, built-in high availability, no SQL server.</a:t>
            </a:r>
          </a:p>
        </p:txBody>
      </p:sp>
      <p:sp>
        <p:nvSpPr>
          <p:cNvPr id="14" name="Oval 13"/>
          <p:cNvSpPr/>
          <p:nvPr/>
        </p:nvSpPr>
        <p:spPr>
          <a:xfrm>
            <a:off x="603504" y="4197096"/>
            <a:ext cx="548640" cy="548640"/>
          </a:xfrm>
          <a:prstGeom prst="ellipse">
            <a:avLst/>
          </a:prstGeom>
          <a:gradFill rotWithShape="1">
            <a:gsLst>
              <a:gs pos="0">
                <a:srgbClr val="7C3AED"/>
              </a:gs>
              <a:gs pos="100000">
                <a:srgbClr val="06B6D4"/>
              </a:gs>
            </a:gsLst>
            <a:lin ang="21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0664" y="4334256"/>
            <a:ext cx="274320" cy="27432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353312" y="4142232"/>
            <a:ext cx="6400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50" b="1" i="0">
                <a:solidFill>
                  <a:srgbClr val="F5F2FC"/>
                </a:solidFill>
                <a:latin typeface="Segoe UI"/>
              </a:rPr>
              <a:t>The hard date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53312" y="4489704"/>
            <a:ext cx="64465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80" b="0" i="0">
                <a:solidFill>
                  <a:srgbClr val="B6AED2"/>
                </a:solidFill>
                <a:latin typeface="Segoe UI"/>
              </a:rPr>
              <a:t>Connect Sync must be on v2.5.79.0 or later by Sep 30, 2026 or sync stops. This is a version cut-off, not a Cloud Sync deadline.</a:t>
            </a:r>
          </a:p>
        </p:txBody>
      </p:sp>
      <p:sp>
        <p:nvSpPr>
          <p:cNvPr id="18" name="Oval 17"/>
          <p:cNvSpPr/>
          <p:nvPr/>
        </p:nvSpPr>
        <p:spPr>
          <a:xfrm>
            <a:off x="603504" y="5129783"/>
            <a:ext cx="548640" cy="548640"/>
          </a:xfrm>
          <a:prstGeom prst="ellipse">
            <a:avLst/>
          </a:prstGeom>
          <a:gradFill rotWithShape="1">
            <a:gsLst>
              <a:gs pos="0">
                <a:srgbClr val="7C3AED"/>
              </a:gs>
              <a:gs pos="100000">
                <a:srgbClr val="06B6D4"/>
              </a:gs>
            </a:gsLst>
            <a:lin ang="21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Picture 18" descr="cloc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0664" y="5266944"/>
            <a:ext cx="274320" cy="27432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353312" y="5074920"/>
            <a:ext cx="6400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50" b="1" i="0">
                <a:solidFill>
                  <a:srgbClr val="F5F2FC"/>
                </a:solidFill>
                <a:latin typeface="Segoe UI"/>
              </a:rPr>
              <a:t>No final EOL yet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53312" y="5422392"/>
            <a:ext cx="64465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80" b="0" i="0">
                <a:solidFill>
                  <a:srgbClr val="B6AED2"/>
                </a:solidFill>
                <a:latin typeface="Segoe UI"/>
              </a:rPr>
              <a:t>Connect Sync stays for scenarios Cloud Sync does not cover. It retires only after feature parity.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75320" y="2148840"/>
            <a:ext cx="3310128" cy="3886200"/>
          </a:xfrm>
          <a:prstGeom prst="roundRect">
            <a:avLst>
              <a:gd name="adj" fmla="val 10000"/>
            </a:avLst>
          </a:prstGeom>
          <a:gradFill rotWithShape="1">
            <a:gsLst>
              <a:gs pos="0">
                <a:srgbClr val="7C3AED"/>
              </a:gs>
              <a:gs pos="100000">
                <a:srgbClr val="06B6D4"/>
              </a:gs>
            </a:gsLst>
            <a:lin ang="3600000" scaled="1"/>
          </a:gradFill>
          <a:ln>
            <a:noFill/>
          </a:ln>
          <a:effectLst>
            <a:outerShdw blurRad="82296" dist="4572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641080" y="2432304"/>
            <a:ext cx="257860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spc="300">
                <a:solidFill>
                  <a:srgbClr val="F5F2FC"/>
                </a:solidFill>
                <a:latin typeface="Consolas"/>
              </a:rPr>
              <a:t>DEADLINE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22792" y="2724912"/>
            <a:ext cx="2761488" cy="8686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5000" b="1" i="0">
                <a:solidFill>
                  <a:srgbClr val="F5F2FC"/>
                </a:solidFill>
                <a:latin typeface="Segoe UI Semibold"/>
              </a:rPr>
              <a:t>SEP 30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41080" y="3566160"/>
            <a:ext cx="2596896" cy="6766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 i="0">
                <a:solidFill>
                  <a:srgbClr val="F5F2FC"/>
                </a:solidFill>
                <a:latin typeface="Segoe UI"/>
              </a:rPr>
              <a:t>Connect Sync v2.5.79.0+ or sync stops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641080" y="4370832"/>
            <a:ext cx="2578608" cy="177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641080" y="4498848"/>
            <a:ext cx="257860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spc="200">
                <a:solidFill>
                  <a:srgbClr val="F2E9FF"/>
                </a:solidFill>
                <a:latin typeface="Consolas"/>
              </a:rPr>
              <a:t>WHO IS AFFECTED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41080" y="4818888"/>
            <a:ext cx="2596896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FBF4FF"/>
                </a:solidFill>
                <a:latin typeface="Segoe UI"/>
              </a:rPr>
              <a:t>Hybrid identity admins still running Entra Connect Sync.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41080" y="5760720"/>
            <a:ext cx="257860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1">
                <a:solidFill>
                  <a:srgbClr val="E9DCFF"/>
                </a:solidFill>
                <a:latin typeface="Segoe UI"/>
              </a:rPr>
              <a:t>Source: Microsoft Learn</a:t>
            </a:r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6928" y="6455664"/>
            <a:ext cx="237744" cy="237744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868680" y="6437376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i="0">
                <a:solidFill>
                  <a:srgbClr val="8B83A8"/>
                </a:solidFill>
                <a:latin typeface="Segoe UI"/>
              </a:rPr>
              <a:t>CloudHour</a:t>
            </a:r>
            <a:r>
              <a:rPr sz="950" b="0" i="0">
                <a:solidFill>
                  <a:srgbClr val="8B83A8"/>
                </a:solidFill>
                <a:latin typeface="Segoe UI"/>
              </a:rPr>
              <a:t>   ·   Microsoft EMS Community  ·  Jul 2026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11535" y="6437376"/>
            <a:ext cx="6858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50" b="1" i="0">
                <a:solidFill>
                  <a:srgbClr val="8B83A8"/>
                </a:solidFill>
                <a:latin typeface="Consolas"/>
              </a:rPr>
              <a:t>17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3504" y="548640"/>
            <a:ext cx="10058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 spc="260">
                <a:solidFill>
                  <a:srgbClr val="FF2E88"/>
                </a:solidFill>
                <a:latin typeface="Consolas"/>
              </a:rPr>
              <a:t>TOPIC 5  ·  ROUND-TABLE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896112"/>
            <a:ext cx="105156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500" b="1" i="0">
                <a:solidFill>
                  <a:srgbClr val="F5F2FC"/>
                </a:solidFill>
                <a:latin typeface="Segoe UI Semibold"/>
              </a:rPr>
              <a:t>Let us talk: sync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3504" y="2011680"/>
            <a:ext cx="5309463" cy="1627632"/>
          </a:xfrm>
          <a:prstGeom prst="roundRect">
            <a:avLst>
              <a:gd name="adj" fmla="val 10000"/>
            </a:avLst>
          </a:prstGeom>
          <a:solidFill>
            <a:srgbClr val="1A1436"/>
          </a:solidFill>
          <a:ln w="12700">
            <a:solidFill>
              <a:srgbClr val="342B5E"/>
            </a:solidFill>
          </a:ln>
          <a:effectLst>
            <a:outerShdw blurRad="82296" dist="4572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914400" y="2322576"/>
            <a:ext cx="603504" cy="603504"/>
          </a:xfrm>
          <a:prstGeom prst="ellipse">
            <a:avLst/>
          </a:prstGeom>
          <a:gradFill rotWithShape="1">
            <a:gsLst>
              <a:gs pos="0">
                <a:srgbClr val="7C3AED"/>
              </a:gs>
              <a:gs pos="100000">
                <a:srgbClr val="06B6D4"/>
              </a:gs>
            </a:gsLst>
            <a:lin ang="27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3205" y="2461381"/>
            <a:ext cx="325892" cy="32589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700784" y="2286000"/>
            <a:ext cx="3937863" cy="11704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4000"/>
              </a:lnSpc>
            </a:pPr>
            <a:r>
              <a:rPr sz="1450" b="0" i="0">
                <a:solidFill>
                  <a:srgbClr val="F5F2FC"/>
                </a:solidFill>
                <a:latin typeface="Segoe UI"/>
              </a:rPr>
              <a:t>Connect Sync or Cloud Sync today, and what keeps you on it?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727" y="2011680"/>
            <a:ext cx="5309463" cy="1627632"/>
          </a:xfrm>
          <a:prstGeom prst="roundRect">
            <a:avLst>
              <a:gd name="adj" fmla="val 10000"/>
            </a:avLst>
          </a:prstGeom>
          <a:solidFill>
            <a:srgbClr val="1A1436"/>
          </a:solidFill>
          <a:ln w="12700">
            <a:solidFill>
              <a:srgbClr val="342B5E"/>
            </a:solidFill>
          </a:ln>
          <a:effectLst>
            <a:outerShdw blurRad="82296" dist="4572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6589623" y="2322576"/>
            <a:ext cx="603504" cy="603504"/>
          </a:xfrm>
          <a:prstGeom prst="ellipse">
            <a:avLst/>
          </a:prstGeom>
          <a:gradFill rotWithShape="1">
            <a:gsLst>
              <a:gs pos="0">
                <a:srgbClr val="7C3AED"/>
              </a:gs>
              <a:gs pos="100000">
                <a:srgbClr val="06B6D4"/>
              </a:gs>
            </a:gsLst>
            <a:lin ang="27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8429" y="2461381"/>
            <a:ext cx="325892" cy="32589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376007" y="2286000"/>
            <a:ext cx="3937863" cy="11704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4000"/>
              </a:lnSpc>
            </a:pPr>
            <a:r>
              <a:rPr sz="1450" b="0" i="0">
                <a:solidFill>
                  <a:srgbClr val="F5F2FC"/>
                </a:solidFill>
                <a:latin typeface="Segoe UI"/>
              </a:rPr>
              <a:t>Run the Cloud Sync readiness check: what blocks you, device sync, big groups, filtering?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3504" y="3895344"/>
            <a:ext cx="5309463" cy="1627632"/>
          </a:xfrm>
          <a:prstGeom prst="roundRect">
            <a:avLst>
              <a:gd name="adj" fmla="val 10000"/>
            </a:avLst>
          </a:prstGeom>
          <a:solidFill>
            <a:srgbClr val="1A1436"/>
          </a:solidFill>
          <a:ln w="12700">
            <a:solidFill>
              <a:srgbClr val="342B5E"/>
            </a:solidFill>
          </a:ln>
          <a:effectLst>
            <a:outerShdw blurRad="82296" dist="4572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914400" y="4206240"/>
            <a:ext cx="603504" cy="603504"/>
          </a:xfrm>
          <a:prstGeom prst="ellipse">
            <a:avLst/>
          </a:prstGeom>
          <a:gradFill rotWithShape="1">
            <a:gsLst>
              <a:gs pos="0">
                <a:srgbClr val="7C3AED"/>
              </a:gs>
              <a:gs pos="100000">
                <a:srgbClr val="06B6D4"/>
              </a:gs>
            </a:gsLst>
            <a:lin ang="27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3205" y="4345045"/>
            <a:ext cx="325892" cy="32589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700784" y="4169663"/>
            <a:ext cx="3937863" cy="11704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4000"/>
              </a:lnSpc>
            </a:pPr>
            <a:r>
              <a:rPr sz="1450" b="0" i="0">
                <a:solidFill>
                  <a:srgbClr val="F5F2FC"/>
                </a:solidFill>
                <a:latin typeface="Segoe UI"/>
              </a:rPr>
              <a:t>Are you on Connect Sync v2.5.79.0+ before Sep 30?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78727" y="3895344"/>
            <a:ext cx="5309463" cy="1627632"/>
          </a:xfrm>
          <a:prstGeom prst="roundRect">
            <a:avLst>
              <a:gd name="adj" fmla="val 10000"/>
            </a:avLst>
          </a:prstGeom>
          <a:solidFill>
            <a:srgbClr val="1A1436"/>
          </a:solidFill>
          <a:ln w="12700">
            <a:solidFill>
              <a:srgbClr val="342B5E"/>
            </a:solidFill>
          </a:ln>
          <a:effectLst>
            <a:outerShdw blurRad="82296" dist="4572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6589623" y="4206240"/>
            <a:ext cx="603504" cy="603504"/>
          </a:xfrm>
          <a:prstGeom prst="ellipse">
            <a:avLst/>
          </a:prstGeom>
          <a:gradFill rotWithShape="1">
            <a:gsLst>
              <a:gs pos="0">
                <a:srgbClr val="7C3AED"/>
              </a:gs>
              <a:gs pos="100000">
                <a:srgbClr val="06B6D4"/>
              </a:gs>
            </a:gsLst>
            <a:lin ang="27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8429" y="4345045"/>
            <a:ext cx="325892" cy="325892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7376007" y="4169663"/>
            <a:ext cx="3937863" cy="11704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4000"/>
              </a:lnSpc>
            </a:pPr>
            <a:r>
              <a:rPr sz="1450" b="0" i="0">
                <a:solidFill>
                  <a:srgbClr val="F5F2FC"/>
                </a:solidFill>
                <a:latin typeface="Segoe UI"/>
              </a:rPr>
              <a:t>Anyone run both side by side during migration? How did it go?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3504" y="5897880"/>
            <a:ext cx="1098468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1">
                <a:solidFill>
                  <a:srgbClr val="B6AED2"/>
                </a:solidFill>
                <a:latin typeface="Segoe UI"/>
              </a:rPr>
              <a:t>Unmute and jump in. There are no wrong answers here.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6455664"/>
            <a:ext cx="237744" cy="237744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868680" y="6437376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i="0">
                <a:solidFill>
                  <a:srgbClr val="8B83A8"/>
                </a:solidFill>
                <a:latin typeface="Segoe UI"/>
              </a:rPr>
              <a:t>CloudHour</a:t>
            </a:r>
            <a:r>
              <a:rPr sz="950" b="0" i="0">
                <a:solidFill>
                  <a:srgbClr val="8B83A8"/>
                </a:solidFill>
                <a:latin typeface="Segoe UI"/>
              </a:rPr>
              <a:t>   ·   Microsoft EMS Community  ·  Jul 2026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11535" y="6437376"/>
            <a:ext cx="6858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50" b="1" i="0">
                <a:solidFill>
                  <a:srgbClr val="8B83A8"/>
                </a:solidFill>
                <a:latin typeface="Consolas"/>
              </a:rPr>
              <a:t>18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3504" y="548640"/>
            <a:ext cx="10058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 spc="260">
                <a:solidFill>
                  <a:srgbClr val="22D3EE"/>
                </a:solidFill>
                <a:latin typeface="Consolas"/>
              </a:rPr>
              <a:t>TOPIC 6  ·  PURVIEW · DATA &amp;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896112"/>
            <a:ext cx="74066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300" b="1" i="0">
                <a:solidFill>
                  <a:srgbClr val="F5F2FC"/>
                </a:solidFill>
                <a:latin typeface="Segoe UI Semibold"/>
              </a:rPr>
              <a:t>Purview + Copilot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1481328"/>
            <a:ext cx="74066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 i="0">
                <a:solidFill>
                  <a:srgbClr val="22D3EE"/>
                </a:solidFill>
                <a:latin typeface="Segoe UI Semibold"/>
              </a:rPr>
              <a:t>Where does your AI data live?</a:t>
            </a:r>
          </a:p>
        </p:txBody>
      </p:sp>
      <p:sp>
        <p:nvSpPr>
          <p:cNvPr id="6" name="Oval 5"/>
          <p:cNvSpPr/>
          <p:nvPr/>
        </p:nvSpPr>
        <p:spPr>
          <a:xfrm>
            <a:off x="603504" y="2331720"/>
            <a:ext cx="548640" cy="548640"/>
          </a:xfrm>
          <a:prstGeom prst="ellipse">
            <a:avLst/>
          </a:prstGeom>
          <a:gradFill rotWithShape="1">
            <a:gsLst>
              <a:gs pos="0">
                <a:srgbClr val="FF2E88"/>
              </a:gs>
              <a:gs pos="100000">
                <a:srgbClr val="7C3AED"/>
              </a:gs>
            </a:gsLst>
            <a:lin ang="21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664" y="2468879"/>
            <a:ext cx="274320" cy="2743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353312" y="2276856"/>
            <a:ext cx="6400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50" b="1" i="0">
                <a:solidFill>
                  <a:srgbClr val="F5F2FC"/>
                </a:solidFill>
                <a:latin typeface="Segoe UI"/>
              </a:rPr>
              <a:t>Where it lives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53312" y="2624327"/>
            <a:ext cx="64465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80" b="0" i="0">
                <a:solidFill>
                  <a:srgbClr val="B6AED2"/>
                </a:solidFill>
                <a:latin typeface="Segoe UI"/>
              </a:rPr>
              <a:t>Every Copilot prompt and response is stored in the user Exchange Online mailbox as a hidden, message-class item.</a:t>
            </a:r>
          </a:p>
        </p:txBody>
      </p:sp>
      <p:sp>
        <p:nvSpPr>
          <p:cNvPr id="10" name="Oval 9"/>
          <p:cNvSpPr/>
          <p:nvPr/>
        </p:nvSpPr>
        <p:spPr>
          <a:xfrm>
            <a:off x="603504" y="3264408"/>
            <a:ext cx="548640" cy="548640"/>
          </a:xfrm>
          <a:prstGeom prst="ellipse">
            <a:avLst/>
          </a:prstGeom>
          <a:gradFill rotWithShape="1">
            <a:gsLst>
              <a:gs pos="0">
                <a:srgbClr val="FF2E88"/>
              </a:gs>
              <a:gs pos="100000">
                <a:srgbClr val="7C3AED"/>
              </a:gs>
            </a:gsLst>
            <a:lin ang="21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0664" y="3401568"/>
            <a:ext cx="274320" cy="2743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353312" y="3209544"/>
            <a:ext cx="6400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50" b="1" i="0">
                <a:solidFill>
                  <a:srgbClr val="F5F2FC"/>
                </a:solidFill>
                <a:latin typeface="Segoe UI"/>
              </a:rPr>
              <a:t>Audit vs content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53312" y="3557015"/>
            <a:ext cx="64465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80" b="0" i="0">
                <a:solidFill>
                  <a:srgbClr val="B6AED2"/>
                </a:solidFill>
                <a:latin typeface="Segoe UI"/>
              </a:rPr>
              <a:t>Purview Audit logs capture the metadata, who, when and which app. They do not store the prompt or response text.</a:t>
            </a:r>
          </a:p>
        </p:txBody>
      </p:sp>
      <p:sp>
        <p:nvSpPr>
          <p:cNvPr id="14" name="Oval 13"/>
          <p:cNvSpPr/>
          <p:nvPr/>
        </p:nvSpPr>
        <p:spPr>
          <a:xfrm>
            <a:off x="603504" y="4197096"/>
            <a:ext cx="548640" cy="548640"/>
          </a:xfrm>
          <a:prstGeom prst="ellipse">
            <a:avLst/>
          </a:prstGeom>
          <a:gradFill rotWithShape="1">
            <a:gsLst>
              <a:gs pos="0">
                <a:srgbClr val="FF2E88"/>
              </a:gs>
              <a:gs pos="100000">
                <a:srgbClr val="7C3AED"/>
              </a:gs>
            </a:gsLst>
            <a:lin ang="21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0664" y="4334256"/>
            <a:ext cx="274320" cy="27432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353312" y="4142232"/>
            <a:ext cx="6400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50" b="1" i="0">
                <a:solidFill>
                  <a:srgbClr val="F5F2FC"/>
                </a:solidFill>
                <a:latin typeface="Segoe UI"/>
              </a:rPr>
              <a:t>Getting the content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53312" y="4489704"/>
            <a:ext cx="64465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80" b="0" i="0">
                <a:solidFill>
                  <a:srgbClr val="B6AED2"/>
                </a:solidFill>
                <a:latin typeface="Segoe UI"/>
              </a:rPr>
              <a:t>To read the actual interaction you use eDiscovery and Content Search against the mailbox, ItemClass IPM.SkypeTeams.Message.Copilot.</a:t>
            </a:r>
          </a:p>
        </p:txBody>
      </p:sp>
      <p:sp>
        <p:nvSpPr>
          <p:cNvPr id="18" name="Oval 17"/>
          <p:cNvSpPr/>
          <p:nvPr/>
        </p:nvSpPr>
        <p:spPr>
          <a:xfrm>
            <a:off x="603504" y="5129783"/>
            <a:ext cx="548640" cy="548640"/>
          </a:xfrm>
          <a:prstGeom prst="ellipse">
            <a:avLst/>
          </a:prstGeom>
          <a:gradFill rotWithShape="1">
            <a:gsLst>
              <a:gs pos="0">
                <a:srgbClr val="FF2E88"/>
              </a:gs>
              <a:gs pos="100000">
                <a:srgbClr val="7C3AED"/>
              </a:gs>
            </a:gsLst>
            <a:lin ang="21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0664" y="5266944"/>
            <a:ext cx="274320" cy="27432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353312" y="5074920"/>
            <a:ext cx="6400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50" b="1" i="0">
                <a:solidFill>
                  <a:srgbClr val="F5F2FC"/>
                </a:solidFill>
                <a:latin typeface="Segoe UI"/>
              </a:rPr>
              <a:t>Govern 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53312" y="5422392"/>
            <a:ext cx="64465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80" b="0" i="0">
                <a:solidFill>
                  <a:srgbClr val="B6AED2"/>
                </a:solidFill>
                <a:latin typeface="Segoe UI"/>
              </a:rPr>
              <a:t>Retention, sensitivity labels, Communication Compliance and DSPM for AI all apply to Copilot data.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75320" y="2148840"/>
            <a:ext cx="3310128" cy="3886200"/>
          </a:xfrm>
          <a:prstGeom prst="roundRect">
            <a:avLst>
              <a:gd name="adj" fmla="val 10000"/>
            </a:avLst>
          </a:prstGeom>
          <a:gradFill rotWithShape="1">
            <a:gsLst>
              <a:gs pos="0">
                <a:srgbClr val="FF2E88"/>
              </a:gs>
              <a:gs pos="100000">
                <a:srgbClr val="7C3AED"/>
              </a:gs>
            </a:gsLst>
            <a:lin ang="3600000" scaled="1"/>
          </a:gradFill>
          <a:ln>
            <a:noFill/>
          </a:ln>
          <a:effectLst>
            <a:outerShdw blurRad="82296" dist="4572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641080" y="2432304"/>
            <a:ext cx="257860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spc="300">
                <a:solidFill>
                  <a:srgbClr val="F5F2FC"/>
                </a:solidFill>
                <a:latin typeface="Consolas"/>
              </a:rPr>
              <a:t>DEADLINE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22792" y="2724912"/>
            <a:ext cx="2761488" cy="8686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5000" b="1" i="0">
                <a:solidFill>
                  <a:srgbClr val="F5F2FC"/>
                </a:solidFill>
                <a:latin typeface="Segoe UI Semibold"/>
              </a:rPr>
              <a:t>NOW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41080" y="3566160"/>
            <a:ext cx="2596896" cy="6766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 i="0">
                <a:solidFill>
                  <a:srgbClr val="F5F2FC"/>
                </a:solidFill>
                <a:latin typeface="Segoe UI"/>
              </a:rPr>
              <a:t>Govern it before you scale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641080" y="4370832"/>
            <a:ext cx="2578608" cy="177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641080" y="4498848"/>
            <a:ext cx="257860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spc="200">
                <a:solidFill>
                  <a:srgbClr val="F2E9FF"/>
                </a:solidFill>
                <a:latin typeface="Consolas"/>
              </a:rPr>
              <a:t>WHO IS AFFECTED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41080" y="4818888"/>
            <a:ext cx="2596896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FBF4FF"/>
                </a:solidFill>
                <a:latin typeface="Segoe UI"/>
              </a:rPr>
              <a:t>Anyone rolling out Microsoft 365 Copilot.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41080" y="5760720"/>
            <a:ext cx="257860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1">
                <a:solidFill>
                  <a:srgbClr val="E9DCFF"/>
                </a:solidFill>
                <a:latin typeface="Segoe UI"/>
              </a:rPr>
              <a:t>Source: Microsoft Learn</a:t>
            </a:r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6928" y="6455664"/>
            <a:ext cx="237744" cy="237744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868680" y="6437376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i="0">
                <a:solidFill>
                  <a:srgbClr val="8B83A8"/>
                </a:solidFill>
                <a:latin typeface="Segoe UI"/>
              </a:rPr>
              <a:t>CloudHour</a:t>
            </a:r>
            <a:r>
              <a:rPr sz="950" b="0" i="0">
                <a:solidFill>
                  <a:srgbClr val="8B83A8"/>
                </a:solidFill>
                <a:latin typeface="Segoe UI"/>
              </a:rPr>
              <a:t>   ·   Microsoft EMS Community  ·  Jul 2026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11535" y="6437376"/>
            <a:ext cx="6858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50" b="1" i="0">
                <a:solidFill>
                  <a:srgbClr val="8B83A8"/>
                </a:solidFill>
                <a:latin typeface="Consolas"/>
              </a:rPr>
              <a:t>19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3504" y="548640"/>
            <a:ext cx="10058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 spc="260">
                <a:solidFill>
                  <a:srgbClr val="FF2E88"/>
                </a:solidFill>
                <a:latin typeface="Consolas"/>
              </a:rPr>
              <a:t>TOPIC 6  ·  COMMUNITY QUIZ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896112"/>
            <a:ext cx="10789920" cy="469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200" b="1" i="0">
                <a:solidFill>
                  <a:srgbClr val="F5F2FC"/>
                </a:solidFill>
                <a:latin typeface="Segoe UI Semibold"/>
              </a:rPr>
              <a:t>Quick quiz: 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3504" y="1783080"/>
            <a:ext cx="10984687" cy="1325880"/>
          </a:xfrm>
          <a:prstGeom prst="roundRect">
            <a:avLst>
              <a:gd name="adj" fmla="val 10000"/>
            </a:avLst>
          </a:prstGeom>
          <a:solidFill>
            <a:srgbClr val="1A1436"/>
          </a:solidFill>
          <a:ln w="12700">
            <a:solidFill>
              <a:srgbClr val="342B5E"/>
            </a:solidFill>
          </a:ln>
          <a:effectLst>
            <a:outerShdw blurRad="82296" dist="4572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03504" y="3429000"/>
            <a:ext cx="3448202" cy="841248"/>
          </a:xfrm>
          <a:prstGeom prst="roundRect">
            <a:avLst>
              <a:gd name="adj" fmla="val 16000"/>
            </a:avLst>
          </a:prstGeom>
          <a:solidFill>
            <a:srgbClr val="211A40"/>
          </a:solidFill>
          <a:ln w="12700">
            <a:solidFill>
              <a:srgbClr val="342B5E"/>
            </a:solidFill>
          </a:ln>
          <a:effectLst>
            <a:outerShdw blurRad="82296" dist="4572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77824" y="3685032"/>
            <a:ext cx="329184" cy="329184"/>
          </a:xfrm>
          <a:prstGeom prst="ellipse">
            <a:avLst/>
          </a:prstGeom>
          <a:noFill/>
          <a:ln w="19050">
            <a:solidFill>
              <a:srgbClr val="8B83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371746" y="3429000"/>
            <a:ext cx="3448202" cy="841248"/>
          </a:xfrm>
          <a:prstGeom prst="roundRect">
            <a:avLst>
              <a:gd name="adj" fmla="val 16000"/>
            </a:avLst>
          </a:prstGeom>
          <a:solidFill>
            <a:srgbClr val="211A40"/>
          </a:solidFill>
          <a:ln w="12700">
            <a:solidFill>
              <a:srgbClr val="342B5E"/>
            </a:solidFill>
          </a:ln>
          <a:effectLst>
            <a:outerShdw blurRad="82296" dist="4572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4646066" y="3685032"/>
            <a:ext cx="329184" cy="329184"/>
          </a:xfrm>
          <a:prstGeom prst="ellipse">
            <a:avLst/>
          </a:prstGeom>
          <a:noFill/>
          <a:ln w="19050">
            <a:solidFill>
              <a:srgbClr val="8B83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8139988" y="3429000"/>
            <a:ext cx="3448202" cy="841248"/>
          </a:xfrm>
          <a:prstGeom prst="roundRect">
            <a:avLst>
              <a:gd name="adj" fmla="val 16000"/>
            </a:avLst>
          </a:prstGeom>
          <a:solidFill>
            <a:srgbClr val="211A40"/>
          </a:solidFill>
          <a:ln w="12700">
            <a:solidFill>
              <a:srgbClr val="342B5E"/>
            </a:solidFill>
          </a:ln>
          <a:effectLst>
            <a:outerShdw blurRad="82296" dist="4572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8414308" y="3685032"/>
            <a:ext cx="329184" cy="329184"/>
          </a:xfrm>
          <a:prstGeom prst="ellipse">
            <a:avLst/>
          </a:prstGeom>
          <a:noFill/>
          <a:ln w="19050">
            <a:solidFill>
              <a:srgbClr val="8B83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03504" y="4434840"/>
            <a:ext cx="3448202" cy="841248"/>
          </a:xfrm>
          <a:prstGeom prst="roundRect">
            <a:avLst>
              <a:gd name="adj" fmla="val 16000"/>
            </a:avLst>
          </a:prstGeom>
          <a:solidFill>
            <a:srgbClr val="211A40"/>
          </a:solidFill>
          <a:ln w="12700">
            <a:solidFill>
              <a:srgbClr val="342B5E"/>
            </a:solidFill>
          </a:ln>
          <a:effectLst>
            <a:outerShdw blurRad="82296" dist="4572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877824" y="4690872"/>
            <a:ext cx="329184" cy="329184"/>
          </a:xfrm>
          <a:prstGeom prst="ellipse">
            <a:avLst/>
          </a:prstGeom>
          <a:noFill/>
          <a:ln w="19050">
            <a:solidFill>
              <a:srgbClr val="8B83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4371746" y="4434840"/>
            <a:ext cx="3448202" cy="841248"/>
          </a:xfrm>
          <a:prstGeom prst="roundRect">
            <a:avLst>
              <a:gd name="adj" fmla="val 16000"/>
            </a:avLst>
          </a:prstGeom>
          <a:solidFill>
            <a:srgbClr val="211A40"/>
          </a:solidFill>
          <a:ln w="12700">
            <a:solidFill>
              <a:srgbClr val="342B5E"/>
            </a:solidFill>
          </a:ln>
          <a:effectLst>
            <a:outerShdw blurRad="82296" dist="4572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4646066" y="4690872"/>
            <a:ext cx="329184" cy="329184"/>
          </a:xfrm>
          <a:prstGeom prst="ellipse">
            <a:avLst/>
          </a:prstGeom>
          <a:noFill/>
          <a:ln w="19050">
            <a:solidFill>
              <a:srgbClr val="8B83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139988" y="4434840"/>
            <a:ext cx="3448202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1">
                <a:solidFill>
                  <a:srgbClr val="B6AED2"/>
                </a:solidFill>
                <a:latin typeface="Segoe UI"/>
              </a:rPr>
              <a:t>Vote in chat, then we talk it through. Answer is in the notes.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6455664"/>
            <a:ext cx="237744" cy="237744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868680" y="6437376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i="0">
                <a:solidFill>
                  <a:srgbClr val="8B83A8"/>
                </a:solidFill>
                <a:latin typeface="Segoe UI"/>
              </a:rPr>
              <a:t>CloudHour</a:t>
            </a:r>
            <a:r>
              <a:rPr sz="950" b="0" i="0">
                <a:solidFill>
                  <a:srgbClr val="8B83A8"/>
                </a:solidFill>
                <a:latin typeface="Segoe UI"/>
              </a:rPr>
              <a:t>   ·   Microsoft EMS Community  ·  Jul 2026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11535" y="6437376"/>
            <a:ext cx="6858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50" b="1" i="0">
                <a:solidFill>
                  <a:srgbClr val="8B83A8"/>
                </a:solidFill>
                <a:latin typeface="Consolas"/>
              </a:rPr>
              <a:t>20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3504" y="548640"/>
            <a:ext cx="10058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 spc="260">
                <a:solidFill>
                  <a:srgbClr val="FF2E88"/>
                </a:solidFill>
                <a:latin typeface="Consolas"/>
              </a:rPr>
              <a:t>OPEN FLOOR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896112"/>
            <a:ext cx="67665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800" b="1" i="0">
                <a:solidFill>
                  <a:srgbClr val="F5F2FC"/>
                </a:solidFill>
                <a:latin typeface="Segoe UI Semibold"/>
              </a:rPr>
              <a:t>Topic from the crowd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1783080"/>
            <a:ext cx="603504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 i="0">
                <a:solidFill>
                  <a:srgbClr val="B6AED2"/>
                </a:solidFill>
                <a:latin typeface="Segoe UI"/>
              </a:rPr>
              <a:t>Your turn.
What is eating your week, what broke this month, and what do you want next month CloudHour to dig into?</a:t>
            </a:r>
          </a:p>
        </p:txBody>
      </p:sp>
      <p:sp>
        <p:nvSpPr>
          <p:cNvPr id="6" name="Oval 5"/>
          <p:cNvSpPr/>
          <p:nvPr/>
        </p:nvSpPr>
        <p:spPr>
          <a:xfrm>
            <a:off x="603504" y="3703320"/>
            <a:ext cx="457200" cy="457200"/>
          </a:xfrm>
          <a:prstGeom prst="ellipse">
            <a:avLst/>
          </a:prstGeom>
          <a:gradFill rotWithShape="1">
            <a:gsLst>
              <a:gs pos="0">
                <a:srgbClr val="FF2E88"/>
              </a:gs>
              <a:gs pos="52000">
                <a:srgbClr val="7C3AED"/>
              </a:gs>
              <a:gs pos="100000">
                <a:srgbClr val="06B6D4"/>
              </a:gs>
            </a:gsLst>
            <a:lin ang="18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376" y="3822191"/>
            <a:ext cx="219456" cy="21945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261872" y="3666744"/>
            <a:ext cx="54864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50" b="0" i="0">
                <a:solidFill>
                  <a:srgbClr val="F5F2FC"/>
                </a:solidFill>
                <a:latin typeface="Segoe UI"/>
              </a:rPr>
              <a:t>What is your biggest EMS headache right now?</a:t>
            </a:r>
          </a:p>
        </p:txBody>
      </p:sp>
      <p:sp>
        <p:nvSpPr>
          <p:cNvPr id="9" name="Oval 8"/>
          <p:cNvSpPr/>
          <p:nvPr/>
        </p:nvSpPr>
        <p:spPr>
          <a:xfrm>
            <a:off x="603504" y="4361688"/>
            <a:ext cx="457200" cy="457200"/>
          </a:xfrm>
          <a:prstGeom prst="ellipse">
            <a:avLst/>
          </a:prstGeom>
          <a:gradFill rotWithShape="1">
            <a:gsLst>
              <a:gs pos="0">
                <a:srgbClr val="FF2E88"/>
              </a:gs>
              <a:gs pos="52000">
                <a:srgbClr val="7C3AED"/>
              </a:gs>
              <a:gs pos="100000">
                <a:srgbClr val="06B6D4"/>
              </a:gs>
            </a:gsLst>
            <a:lin ang="18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376" y="4480559"/>
            <a:ext cx="219456" cy="21945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261872" y="4325112"/>
            <a:ext cx="54864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50" b="0" i="0">
                <a:solidFill>
                  <a:srgbClr val="F5F2FC"/>
                </a:solidFill>
                <a:latin typeface="Segoe UI"/>
              </a:rPr>
              <a:t>A win worth sharing with the room?</a:t>
            </a:r>
          </a:p>
        </p:txBody>
      </p:sp>
      <p:sp>
        <p:nvSpPr>
          <p:cNvPr id="12" name="Oval 11"/>
          <p:cNvSpPr/>
          <p:nvPr/>
        </p:nvSpPr>
        <p:spPr>
          <a:xfrm>
            <a:off x="603504" y="5020056"/>
            <a:ext cx="457200" cy="457200"/>
          </a:xfrm>
          <a:prstGeom prst="ellipse">
            <a:avLst/>
          </a:prstGeom>
          <a:gradFill rotWithShape="1">
            <a:gsLst>
              <a:gs pos="0">
                <a:srgbClr val="FF2E88"/>
              </a:gs>
              <a:gs pos="52000">
                <a:srgbClr val="7C3AED"/>
              </a:gs>
              <a:gs pos="100000">
                <a:srgbClr val="06B6D4"/>
              </a:gs>
            </a:gsLst>
            <a:lin ang="18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376" y="5138928"/>
            <a:ext cx="219456" cy="21945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261872" y="4983480"/>
            <a:ext cx="54864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50" b="0" i="0">
                <a:solidFill>
                  <a:srgbClr val="F5F2FC"/>
                </a:solidFill>
                <a:latin typeface="Segoe UI"/>
              </a:rPr>
              <a:t>A topic for next month?</a:t>
            </a:r>
          </a:p>
        </p:txBody>
      </p:sp>
      <p:pic>
        <p:nvPicPr>
          <p:cNvPr id="15" name="Picture 14" descr="image16.jpe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0" y="1783080"/>
            <a:ext cx="4297680" cy="2864421"/>
          </a:xfrm>
          <a:prstGeom prst="roundRect">
            <a:avLst>
              <a:gd name="adj" fmla="val 6000"/>
            </a:avLst>
          </a:prstGeom>
          <a:ln w="15875">
            <a:solidFill>
              <a:srgbClr val="342B5E"/>
            </a:solidFill>
          </a:ln>
          <a:effectLst>
            <a:outerShdw blurRad="91440" dist="54864" dir="5400000" rotWithShape="0">
              <a:srgbClr val="000000">
                <a:alpha val="50000"/>
              </a:srgbClr>
            </a:outerShdw>
          </a:effectLst>
        </p:spPr>
      </p:pic>
      <p:sp>
        <p:nvSpPr>
          <p:cNvPr id="16" name="TextBox 15"/>
          <p:cNvSpPr txBox="1"/>
          <p:nvPr/>
        </p:nvSpPr>
        <p:spPr>
          <a:xfrm>
            <a:off x="7315200" y="5532120"/>
            <a:ext cx="4297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50" b="0" i="1">
                <a:solidFill>
                  <a:srgbClr val="8B83A8"/>
                </a:solidFill>
                <a:latin typeface="Segoe UI"/>
              </a:rPr>
              <a:t>The floor is yours. Unmute and go.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6928" y="6455664"/>
            <a:ext cx="237744" cy="237744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68680" y="6437376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i="0">
                <a:solidFill>
                  <a:srgbClr val="8B83A8"/>
                </a:solidFill>
                <a:latin typeface="Segoe UI"/>
              </a:rPr>
              <a:t>CloudHour</a:t>
            </a:r>
            <a:r>
              <a:rPr sz="950" b="0" i="0">
                <a:solidFill>
                  <a:srgbClr val="8B83A8"/>
                </a:solidFill>
                <a:latin typeface="Segoe UI"/>
              </a:rPr>
              <a:t>   ·   Microsoft EMS Community  ·  Jul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11535" y="6437376"/>
            <a:ext cx="6858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50" b="1" i="0">
                <a:solidFill>
                  <a:srgbClr val="8B83A8"/>
                </a:solidFill>
                <a:latin typeface="Consolas"/>
              </a:rPr>
              <a:t>21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504" y="548640"/>
            <a:ext cx="640080" cy="6400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426464" y="603504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1" i="0" spc="260">
                <a:solidFill>
                  <a:srgbClr val="F5F2FC"/>
                </a:solidFill>
                <a:latin typeface="Consolas"/>
              </a:rPr>
              <a:t>MICROSOFT EMS COMMUNITY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2286000"/>
            <a:ext cx="1097280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200" b="1" i="0">
                <a:solidFill>
                  <a:srgbClr val="F5F2FC"/>
                </a:solidFill>
                <a:effectLst>
                  <a:glow rad="64008">
                    <a:srgbClr val="7C3AED">
                      <a:alpha val="55000"/>
                    </a:srgbClr>
                  </a:glow>
                </a:effectLst>
                <a:latin typeface="Segoe UI Semibold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" y="3749039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0" i="0">
                <a:solidFill>
                  <a:srgbClr val="F5F2FC"/>
                </a:solidFill>
                <a:latin typeface="Segoe UI"/>
              </a:rPr>
              <a:t>for joining CloudHour. See you next month, and bring a colleague.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3504" y="4754880"/>
            <a:ext cx="3200400" cy="4572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F2E88"/>
              </a:gs>
              <a:gs pos="100000">
                <a:srgbClr val="7C3AED"/>
              </a:gs>
            </a:gsLst>
            <a:lin ang="72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03504" y="4736592"/>
            <a:ext cx="32004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 spc="100">
                <a:solidFill>
                  <a:srgbClr val="F5F2FC"/>
                </a:solidFill>
                <a:latin typeface="Consolas"/>
              </a:rPr>
              <a:t>aka.ms/M365EMSDiscord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032504" y="4754880"/>
            <a:ext cx="2377440" cy="4572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7C3AED"/>
              </a:gs>
              <a:gs pos="100000">
                <a:srgbClr val="06B6D4"/>
              </a:gs>
            </a:gsLst>
            <a:lin ang="72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032504" y="4736592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 spc="100">
                <a:solidFill>
                  <a:srgbClr val="F5F2FC"/>
                </a:solidFill>
                <a:latin typeface="Consolas"/>
              </a:rPr>
              <a:t>msems.community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" y="612648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8B83A8"/>
                </a:solidFill>
                <a:latin typeface="Segoe UI"/>
              </a:rPr>
              <a:t>Independent and community-run. Not affiliated with, endorsed by, or sponsored by Microsoft. Product names are trademarks of the Microsoft group of companies.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defa4170-0d19-0005-0003-bc88714345d2}" enabled="1" method="Standard" siteId="{070b4049-26e7-41a4-ab19-a71b3bae9c73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78</TotalTime>
  <Words>3740</Words>
  <Application>Microsoft Office PowerPoint</Application>
  <PresentationFormat>Widescreen</PresentationFormat>
  <Paragraphs>422</Paragraphs>
  <Slides>25</Slides>
  <Notes>17</Notes>
  <HiddenSlides>1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6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Jonas Bøgvad</cp:lastModifiedBy>
  <cp:revision>37</cp:revision>
  <dcterms:created xsi:type="dcterms:W3CDTF">2013-01-27T09:14:16Z</dcterms:created>
  <dcterms:modified xsi:type="dcterms:W3CDTF">2026-07-31T13:30:58Z</dcterms:modified>
  <cp:category/>
</cp:coreProperties>
</file>