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58" r:id="rId5"/>
    <p:sldId id="261" r:id="rId6"/>
    <p:sldId id="264" r:id="rId7"/>
    <p:sldId id="259" r:id="rId8"/>
    <p:sldId id="265" r:id="rId9"/>
    <p:sldId id="262" r:id="rId10"/>
    <p:sldId id="263" r:id="rId11"/>
  </p:sldIdLst>
  <p:sldSz cx="18288000" cy="10287000"/>
  <p:notesSz cx="6858000" cy="9144000"/>
  <p:embeddedFontLst>
    <p:embeddedFont>
      <p:font typeface="League Spartan" pitchFamily="2" charset="77"/>
      <p:regular r:id="rId13"/>
      <p:bold r:id="rId14"/>
    </p:embeddedFont>
    <p:embeddedFont>
      <p:font typeface="Poppins" pitchFamily="2" charset="77"/>
      <p:regular r:id="rId15"/>
      <p:bold r:id="rId16"/>
      <p:italic r:id="rId17"/>
      <p:boldItalic r:id="rId18"/>
    </p:embeddedFont>
    <p:embeddedFont>
      <p:font typeface="Poppins Bold" pitchFamily="2" charset="77"/>
      <p:regular r:id="rId19"/>
      <p:bold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Bold" panose="02000000000000000000" pitchFamily="2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87372" autoAdjust="0"/>
  </p:normalViewPr>
  <p:slideViewPr>
    <p:cSldViewPr>
      <p:cViewPr>
        <p:scale>
          <a:sx n="70" d="100"/>
          <a:sy n="70" d="100"/>
        </p:scale>
        <p:origin x="1032" y="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F72DE3-DF5A-9642-9DAF-EB0410D417A6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59BC4-1CF1-7A4F-BFA1-B46C12D5E059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8569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9BF75-BFE3-9121-F32E-1A5339A2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3005248-8006-CD48-4995-85AC072FE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5AEA5A3-4C55-4D0E-DFD1-2E8F31BFC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learn.microsoft.com</a:t>
            </a:r>
            <a:r>
              <a:rPr lang="nl-NL" dirty="0"/>
              <a:t>/en-</a:t>
            </a:r>
            <a:r>
              <a:rPr lang="nl-NL" dirty="0" err="1"/>
              <a:t>us</a:t>
            </a:r>
            <a:r>
              <a:rPr lang="nl-NL" dirty="0"/>
              <a:t>/</a:t>
            </a:r>
            <a:r>
              <a:rPr lang="nl-NL" dirty="0" err="1"/>
              <a:t>entra</a:t>
            </a:r>
            <a:r>
              <a:rPr lang="nl-NL" dirty="0"/>
              <a:t>/</a:t>
            </a:r>
            <a:r>
              <a:rPr lang="nl-NL" dirty="0" err="1"/>
              <a:t>fundamentals</a:t>
            </a:r>
            <a:r>
              <a:rPr lang="nl-NL" dirty="0"/>
              <a:t>/</a:t>
            </a:r>
            <a:r>
              <a:rPr lang="nl-NL" dirty="0" err="1"/>
              <a:t>whats-new#upcoming-change</a:t>
            </a:r>
            <a:r>
              <a:rPr lang="nl-NL" dirty="0"/>
              <a:t>--microsoft-entra-connect-security-update-to-block-hard-match-for-users-with-microsoft-entra-roles</a:t>
            </a:r>
          </a:p>
          <a:p>
            <a:endParaRPr lang="nl-NL" dirty="0"/>
          </a:p>
          <a:p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techcommunity.microsoft.com</a:t>
            </a:r>
            <a:r>
              <a:rPr lang="nl-NL" dirty="0"/>
              <a:t>/blog/</a:t>
            </a:r>
            <a:r>
              <a:rPr lang="nl-NL" dirty="0" err="1"/>
              <a:t>microsoft</a:t>
            </a:r>
            <a:r>
              <a:rPr lang="nl-NL" dirty="0"/>
              <a:t>-</a:t>
            </a:r>
            <a:r>
              <a:rPr lang="nl-NL" dirty="0" err="1"/>
              <a:t>entra</a:t>
            </a:r>
            <a:r>
              <a:rPr lang="nl-NL" dirty="0"/>
              <a:t>-blog/strengthen-identity-resilience-recover-with-confidence-using-microsoft-entra-bac/4462426</a:t>
            </a:r>
            <a:br>
              <a:rPr lang="nl-NL" dirty="0"/>
            </a:br>
            <a:br>
              <a:rPr lang="nl-NL" dirty="0"/>
            </a:br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learn.microsoft.com</a:t>
            </a:r>
            <a:r>
              <a:rPr lang="nl-NL" dirty="0"/>
              <a:t>/en-</a:t>
            </a:r>
            <a:r>
              <a:rPr lang="nl-NL" dirty="0" err="1"/>
              <a:t>us</a:t>
            </a:r>
            <a:r>
              <a:rPr lang="nl-NL" dirty="0"/>
              <a:t>/</a:t>
            </a:r>
            <a:r>
              <a:rPr lang="nl-NL" dirty="0" err="1"/>
              <a:t>entra</a:t>
            </a:r>
            <a:r>
              <a:rPr lang="nl-NL" dirty="0"/>
              <a:t>/</a:t>
            </a:r>
            <a:r>
              <a:rPr lang="nl-NL" dirty="0" err="1"/>
              <a:t>fundamentals</a:t>
            </a:r>
            <a:r>
              <a:rPr lang="nl-NL" dirty="0"/>
              <a:t>/</a:t>
            </a:r>
            <a:r>
              <a:rPr lang="nl-NL" dirty="0" err="1"/>
              <a:t>whats-new#general-availability</a:t>
            </a:r>
            <a:r>
              <a:rPr lang="nl-NL" dirty="0"/>
              <a:t>---</a:t>
            </a:r>
            <a:r>
              <a:rPr lang="nl-NL" dirty="0" err="1"/>
              <a:t>external</a:t>
            </a:r>
            <a:r>
              <a:rPr lang="nl-NL" dirty="0"/>
              <a:t>-</a:t>
            </a:r>
            <a:r>
              <a:rPr lang="nl-NL" dirty="0" err="1"/>
              <a:t>mfa</a:t>
            </a:r>
            <a:r>
              <a:rPr lang="nl-NL" dirty="0"/>
              <a:t>-is-</a:t>
            </a:r>
            <a:r>
              <a:rPr lang="nl-NL" dirty="0" err="1"/>
              <a:t>generally</a:t>
            </a:r>
            <a:r>
              <a:rPr lang="nl-NL" dirty="0"/>
              <a:t>-</a:t>
            </a:r>
            <a:r>
              <a:rPr lang="nl-NL" dirty="0" err="1"/>
              <a:t>available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222E4BC-78FB-17FE-EA68-A77D5781A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59BC4-1CF1-7A4F-BFA1-B46C12D5E059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0258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learn.microsoft.com</a:t>
            </a:r>
            <a:r>
              <a:rPr lang="nl-NL" dirty="0"/>
              <a:t>/en-</a:t>
            </a:r>
            <a:r>
              <a:rPr lang="nl-NL" dirty="0" err="1"/>
              <a:t>us</a:t>
            </a:r>
            <a:r>
              <a:rPr lang="nl-NL" dirty="0"/>
              <a:t>/</a:t>
            </a:r>
            <a:r>
              <a:rPr lang="nl-NL" dirty="0" err="1"/>
              <a:t>deployedge</a:t>
            </a:r>
            <a:r>
              <a:rPr lang="nl-NL" dirty="0"/>
              <a:t>/</a:t>
            </a:r>
            <a:r>
              <a:rPr lang="nl-NL" dirty="0" err="1"/>
              <a:t>microsoft</a:t>
            </a:r>
            <a:r>
              <a:rPr lang="nl-NL" dirty="0"/>
              <a:t>-</a:t>
            </a:r>
            <a:r>
              <a:rPr lang="nl-NL" dirty="0" err="1"/>
              <a:t>edge</a:t>
            </a:r>
            <a:r>
              <a:rPr lang="nl-NL" dirty="0"/>
              <a:t>-cross-tenant-support-</a:t>
            </a:r>
            <a:r>
              <a:rPr lang="nl-NL" dirty="0" err="1"/>
              <a:t>using</a:t>
            </a:r>
            <a:r>
              <a:rPr lang="nl-NL" dirty="0"/>
              <a:t>-</a:t>
            </a:r>
            <a:r>
              <a:rPr lang="nl-NL" dirty="0" err="1"/>
              <a:t>intune</a:t>
            </a:r>
            <a:r>
              <a:rPr lang="nl-NL" dirty="0"/>
              <a:t>-mam</a:t>
            </a:r>
          </a:p>
          <a:p>
            <a:endParaRPr lang="nl-NL" dirty="0"/>
          </a:p>
          <a:p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www.linkedin.com</a:t>
            </a:r>
            <a:r>
              <a:rPr lang="nl-NL" dirty="0"/>
              <a:t>/feed/update/urn:li:activity:7444339740335616000/?</a:t>
            </a:r>
            <a:r>
              <a:rPr lang="nl-NL" dirty="0" err="1"/>
              <a:t>originTrackingId</a:t>
            </a:r>
            <a:r>
              <a:rPr lang="nl-NL" dirty="0"/>
              <a:t>=z1XhISGG8icH52tvvZOxnw%3D%3D</a:t>
            </a:r>
          </a:p>
          <a:p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learn.microsoft.com</a:t>
            </a:r>
            <a:r>
              <a:rPr lang="nl-NL" dirty="0"/>
              <a:t>/en-</a:t>
            </a:r>
            <a:r>
              <a:rPr lang="nl-NL" dirty="0" err="1"/>
              <a:t>us</a:t>
            </a:r>
            <a:r>
              <a:rPr lang="nl-NL" dirty="0"/>
              <a:t>/</a:t>
            </a:r>
            <a:r>
              <a:rPr lang="nl-NL" dirty="0" err="1"/>
              <a:t>defender-xdr</a:t>
            </a:r>
            <a:r>
              <a:rPr lang="nl-NL" dirty="0"/>
              <a:t>/whats-new#march-2026</a:t>
            </a:r>
          </a:p>
          <a:p>
            <a:endParaRPr lang="nl-NL" dirty="0"/>
          </a:p>
          <a:p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techcommunity.microsoft.com</a:t>
            </a:r>
            <a:r>
              <a:rPr lang="nl-NL" dirty="0"/>
              <a:t>/blog/</a:t>
            </a:r>
            <a:r>
              <a:rPr lang="nl-NL" dirty="0" err="1"/>
              <a:t>microsoftsentinelblog</a:t>
            </a:r>
            <a:r>
              <a:rPr lang="nl-NL" dirty="0"/>
              <a:t>/what%E2%80%99s-new-in-microsoft-sentinel-rsac-2026/4503971</a:t>
            </a:r>
            <a:br>
              <a:rPr lang="nl-NL" dirty="0"/>
            </a:br>
            <a:br>
              <a:rPr lang="nl-NL" dirty="0"/>
            </a:br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learn.microsoft.com</a:t>
            </a:r>
            <a:r>
              <a:rPr lang="nl-NL" dirty="0"/>
              <a:t>/en-</a:t>
            </a:r>
            <a:r>
              <a:rPr lang="nl-NL" dirty="0" err="1"/>
              <a:t>us</a:t>
            </a:r>
            <a:r>
              <a:rPr lang="nl-NL" dirty="0"/>
              <a:t>/</a:t>
            </a:r>
            <a:r>
              <a:rPr lang="nl-NL" dirty="0" err="1"/>
              <a:t>azure</a:t>
            </a:r>
            <a:r>
              <a:rPr lang="nl-NL" dirty="0"/>
              <a:t>/</a:t>
            </a:r>
            <a:r>
              <a:rPr lang="nl-NL" dirty="0" err="1"/>
              <a:t>osconfig</a:t>
            </a:r>
            <a:r>
              <a:rPr lang="nl-NL" dirty="0"/>
              <a:t>/</a:t>
            </a:r>
            <a:r>
              <a:rPr lang="nl-NL" dirty="0" err="1"/>
              <a:t>overview-laps-azure-arc?tabs</a:t>
            </a:r>
            <a:r>
              <a:rPr lang="nl-NL" dirty="0"/>
              <a:t>=</a:t>
            </a:r>
            <a:r>
              <a:rPr lang="nl-NL" dirty="0" err="1"/>
              <a:t>azure-vm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59BC4-1CF1-7A4F-BFA1-B46C12D5E059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6793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59BC4-1CF1-7A4F-BFA1-B46C12D5E059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1879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www.cisa.gov</a:t>
            </a:r>
            <a:r>
              <a:rPr lang="nl-NL" dirty="0"/>
              <a:t>/</a:t>
            </a:r>
            <a:r>
              <a:rPr lang="nl-NL" dirty="0" err="1"/>
              <a:t>news</a:t>
            </a:r>
            <a:r>
              <a:rPr lang="nl-NL" dirty="0"/>
              <a:t>-events/alerts/2026/03/18/cisa-urges-endpoint-management-system-hardening-after-cyberattack-against-us-organization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59BC4-1CF1-7A4F-BFA1-B46C12D5E059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811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gif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t="-9333" b="-933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17675" y="0"/>
            <a:ext cx="805519" cy="2673350"/>
            <a:chOff x="0" y="0"/>
            <a:chExt cx="212153" cy="7040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7675" y="7613650"/>
            <a:ext cx="805519" cy="2673350"/>
            <a:chOff x="0" y="0"/>
            <a:chExt cx="212153" cy="7040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300200" y="3190875"/>
            <a:ext cx="2546350" cy="7410450"/>
            <a:chOff x="0" y="0"/>
            <a:chExt cx="670644" cy="19517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0644" cy="1951724"/>
            </a:xfrm>
            <a:custGeom>
              <a:avLst/>
              <a:gdLst/>
              <a:ahLst/>
              <a:cxnLst/>
              <a:rect l="l" t="t" r="r" b="b"/>
              <a:pathLst>
                <a:path w="670644" h="1951724">
                  <a:moveTo>
                    <a:pt x="155060" y="0"/>
                  </a:moveTo>
                  <a:lnTo>
                    <a:pt x="515583" y="0"/>
                  </a:lnTo>
                  <a:cubicBezTo>
                    <a:pt x="601221" y="0"/>
                    <a:pt x="670644" y="69423"/>
                    <a:pt x="670644" y="155060"/>
                  </a:cubicBezTo>
                  <a:lnTo>
                    <a:pt x="670644" y="1796663"/>
                  </a:lnTo>
                  <a:cubicBezTo>
                    <a:pt x="670644" y="1882301"/>
                    <a:pt x="601221" y="1951724"/>
                    <a:pt x="515583" y="1951724"/>
                  </a:cubicBezTo>
                  <a:lnTo>
                    <a:pt x="155060" y="1951724"/>
                  </a:lnTo>
                  <a:cubicBezTo>
                    <a:pt x="113936" y="1951724"/>
                    <a:pt x="74496" y="1935387"/>
                    <a:pt x="45416" y="1906307"/>
                  </a:cubicBezTo>
                  <a:cubicBezTo>
                    <a:pt x="16337" y="1877228"/>
                    <a:pt x="0" y="1837788"/>
                    <a:pt x="0" y="1796663"/>
                  </a:cubicBezTo>
                  <a:lnTo>
                    <a:pt x="0" y="155060"/>
                  </a:lnTo>
                  <a:cubicBezTo>
                    <a:pt x="0" y="69423"/>
                    <a:pt x="69423" y="0"/>
                    <a:pt x="155060" y="0"/>
                  </a:cubicBez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70644" cy="1999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17675" y="3238271"/>
            <a:ext cx="5118304" cy="98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8"/>
              </a:lnSpc>
              <a:spcBef>
                <a:spcPct val="0"/>
              </a:spcBef>
            </a:pPr>
            <a:r>
              <a:rPr lang="en-US" sz="566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WELCOME TO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7675" y="4102084"/>
            <a:ext cx="10236607" cy="135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16"/>
              </a:lnSpc>
              <a:spcBef>
                <a:spcPct val="0"/>
              </a:spcBef>
            </a:pPr>
            <a:r>
              <a:rPr lang="en-US" sz="801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CLOUDHOUR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7675" y="5376026"/>
            <a:ext cx="9204044" cy="1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6"/>
              </a:lnSpc>
            </a:pPr>
            <a:r>
              <a:rPr lang="en-US" sz="29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CloudHour</a:t>
            </a:r>
            <a:r>
              <a:rPr lang="en-US" sz="29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will be starting shortly...</a:t>
            </a:r>
          </a:p>
          <a:p>
            <a:pPr algn="l">
              <a:lnSpc>
                <a:spcPts val="4136"/>
              </a:lnSpc>
              <a:spcBef>
                <a:spcPct val="0"/>
              </a:spcBef>
            </a:pPr>
            <a:r>
              <a:rPr lang="en-US" sz="29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Please feel free to grab a drink and invite your friends!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555779" y="1028700"/>
            <a:ext cx="6290771" cy="8453837"/>
            <a:chOff x="0" y="0"/>
            <a:chExt cx="3663950" cy="4923790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-51090" r="-51090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-2057400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9791700"/>
            <a:ext cx="6959600" cy="990600"/>
            <a:chOff x="0" y="0"/>
            <a:chExt cx="1832981" cy="2608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49900" y="-2353537"/>
            <a:ext cx="3086100" cy="3086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952500"/>
            <a:ext cx="3713163" cy="695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1"/>
              </a:lnSpc>
              <a:spcBef>
                <a:spcPct val="0"/>
              </a:spcBef>
            </a:pPr>
            <a:r>
              <a:rPr lang="en-US" sz="4108">
                <a:solidFill>
                  <a:srgbClr val="EFEF89"/>
                </a:solidFill>
                <a:latin typeface="Roboto"/>
                <a:ea typeface="Roboto"/>
                <a:cs typeface="Roboto"/>
                <a:sym typeface="Roboto"/>
              </a:rPr>
              <a:t>WHAT 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564413"/>
            <a:ext cx="5330825" cy="98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7"/>
              </a:lnSpc>
              <a:spcBef>
                <a:spcPct val="0"/>
              </a:spcBef>
            </a:pPr>
            <a:r>
              <a:rPr lang="en-US" sz="5812">
                <a:solidFill>
                  <a:srgbClr val="EFEF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HOUR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990965"/>
            <a:ext cx="8235694" cy="1393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  <a:spcBef>
                <a:spcPct val="0"/>
              </a:spcBef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CloudHour is a round-table discussion where we focus on a few key topics for collaborative discussion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712050"/>
            <a:ext cx="8235694" cy="46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it is important</a:t>
            </a:r>
          </a:p>
          <a:p>
            <a:pPr marL="570740" lvl="1" indent="-285370" algn="l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Rapid changes in cloud security and tech</a:t>
            </a:r>
          </a:p>
          <a:p>
            <a:pPr marL="570740" lvl="1" indent="-285370" algn="l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Stay updated and connected for growth as a community. </a:t>
            </a:r>
          </a:p>
          <a:p>
            <a:pPr algn="l">
              <a:lnSpc>
                <a:spcPts val="3700"/>
              </a:lnSpc>
            </a:pPr>
            <a:endParaRPr lang="en-US" sz="264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r>
              <a:rPr lang="en-US" sz="26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will it benefit the community</a:t>
            </a:r>
          </a:p>
          <a:p>
            <a:pPr marL="570740" lvl="1" indent="-285370" algn="l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engagement with hosts and community members</a:t>
            </a:r>
          </a:p>
          <a:p>
            <a:pPr marL="570740" lvl="1" indent="-285370" algn="l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Ask open questions and speak your opinion</a:t>
            </a:r>
          </a:p>
          <a:p>
            <a:pPr marL="570740" lvl="1" indent="-285370" algn="l">
              <a:lnSpc>
                <a:spcPts val="3700"/>
              </a:lnSpc>
              <a:spcBef>
                <a:spcPct val="0"/>
              </a:spcBef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Opportunity to shape the next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86100" cy="826135"/>
            <a:chOff x="0" y="0"/>
            <a:chExt cx="812800" cy="217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17583"/>
            </a:xfrm>
            <a:custGeom>
              <a:avLst/>
              <a:gdLst/>
              <a:ahLst/>
              <a:cxnLst/>
              <a:rect l="l" t="t" r="r" b="b"/>
              <a:pathLst>
                <a:path w="812800" h="217583">
                  <a:moveTo>
                    <a:pt x="0" y="0"/>
                  </a:moveTo>
                  <a:lnTo>
                    <a:pt x="812800" y="0"/>
                  </a:lnTo>
                  <a:lnTo>
                    <a:pt x="812800" y="217583"/>
                  </a:lnTo>
                  <a:lnTo>
                    <a:pt x="0" y="217583"/>
                  </a:ln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265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01900" y="9460865"/>
            <a:ext cx="3086100" cy="826135"/>
            <a:chOff x="0" y="0"/>
            <a:chExt cx="812800" cy="2175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17583"/>
            </a:xfrm>
            <a:custGeom>
              <a:avLst/>
              <a:gdLst/>
              <a:ahLst/>
              <a:cxnLst/>
              <a:rect l="l" t="t" r="r" b="b"/>
              <a:pathLst>
                <a:path w="812800" h="217583">
                  <a:moveTo>
                    <a:pt x="0" y="0"/>
                  </a:moveTo>
                  <a:lnTo>
                    <a:pt x="812800" y="0"/>
                  </a:lnTo>
                  <a:lnTo>
                    <a:pt x="812800" y="217583"/>
                  </a:lnTo>
                  <a:lnTo>
                    <a:pt x="0" y="217583"/>
                  </a:ln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265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71402" y="413067"/>
            <a:ext cx="4649653" cy="464965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8296" y="0"/>
                  </a:moveTo>
                  <a:lnTo>
                    <a:pt x="774504" y="0"/>
                  </a:lnTo>
                  <a:cubicBezTo>
                    <a:pt x="784661" y="0"/>
                    <a:pt x="794401" y="4035"/>
                    <a:pt x="801583" y="11217"/>
                  </a:cubicBezTo>
                  <a:cubicBezTo>
                    <a:pt x="808765" y="18399"/>
                    <a:pt x="812800" y="28139"/>
                    <a:pt x="812800" y="38296"/>
                  </a:cubicBezTo>
                  <a:lnTo>
                    <a:pt x="812800" y="774504"/>
                  </a:lnTo>
                  <a:cubicBezTo>
                    <a:pt x="812800" y="784661"/>
                    <a:pt x="808765" y="794401"/>
                    <a:pt x="801583" y="801583"/>
                  </a:cubicBezTo>
                  <a:cubicBezTo>
                    <a:pt x="794401" y="808765"/>
                    <a:pt x="784661" y="812800"/>
                    <a:pt x="774504" y="812800"/>
                  </a:cubicBezTo>
                  <a:lnTo>
                    <a:pt x="38296" y="812800"/>
                  </a:lnTo>
                  <a:cubicBezTo>
                    <a:pt x="28139" y="812800"/>
                    <a:pt x="18399" y="808765"/>
                    <a:pt x="11217" y="801583"/>
                  </a:cubicBezTo>
                  <a:cubicBezTo>
                    <a:pt x="4035" y="794401"/>
                    <a:pt x="0" y="784661"/>
                    <a:pt x="0" y="774504"/>
                  </a:cubicBezTo>
                  <a:lnTo>
                    <a:pt x="0" y="38296"/>
                  </a:lnTo>
                  <a:cubicBezTo>
                    <a:pt x="0" y="28139"/>
                    <a:pt x="4035" y="18399"/>
                    <a:pt x="11217" y="11217"/>
                  </a:cubicBezTo>
                  <a:cubicBezTo>
                    <a:pt x="18399" y="4035"/>
                    <a:pt x="28139" y="0"/>
                    <a:pt x="38296" y="0"/>
                  </a:cubicBezTo>
                  <a:close/>
                </a:path>
              </a:pathLst>
            </a:custGeom>
            <a:blipFill>
              <a:blip r:embed="rId2"/>
              <a:stretch>
                <a:fillRect r="-13377"/>
              </a:stretch>
            </a:blipFill>
            <a:ln w="38100" cap="rnd">
              <a:solidFill>
                <a:srgbClr val="EFEF89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2503" y="2520315"/>
            <a:ext cx="6131277" cy="2623185"/>
            <a:chOff x="0" y="0"/>
            <a:chExt cx="949895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9895" cy="406400"/>
            </a:xfrm>
            <a:custGeom>
              <a:avLst/>
              <a:gdLst/>
              <a:ahLst/>
              <a:cxnLst/>
              <a:rect l="l" t="t" r="r" b="b"/>
              <a:pathLst>
                <a:path w="949895" h="406400">
                  <a:moveTo>
                    <a:pt x="0" y="0"/>
                  </a:moveTo>
                  <a:lnTo>
                    <a:pt x="949895" y="0"/>
                  </a:lnTo>
                  <a:lnTo>
                    <a:pt x="949895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3"/>
              <a:stretch>
                <a:fillRect t="-3466" b="-3466"/>
              </a:stretch>
            </a:blipFill>
            <a:ln w="38100" cap="sq">
              <a:solidFill>
                <a:srgbClr val="EFEF89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5799091"/>
            <a:ext cx="4834056" cy="3661774"/>
            <a:chOff x="0" y="0"/>
            <a:chExt cx="107301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3010" cy="812800"/>
            </a:xfrm>
            <a:custGeom>
              <a:avLst/>
              <a:gdLst/>
              <a:ahLst/>
              <a:cxnLst/>
              <a:rect l="l" t="t" r="r" b="b"/>
              <a:pathLst>
                <a:path w="1073010" h="812800">
                  <a:moveTo>
                    <a:pt x="36835" y="0"/>
                  </a:moveTo>
                  <a:lnTo>
                    <a:pt x="1036175" y="0"/>
                  </a:lnTo>
                  <a:cubicBezTo>
                    <a:pt x="1056518" y="0"/>
                    <a:pt x="1073010" y="16492"/>
                    <a:pt x="1073010" y="36835"/>
                  </a:cubicBezTo>
                  <a:lnTo>
                    <a:pt x="1073010" y="775965"/>
                  </a:lnTo>
                  <a:cubicBezTo>
                    <a:pt x="1073010" y="785734"/>
                    <a:pt x="1069129" y="795103"/>
                    <a:pt x="1062221" y="802011"/>
                  </a:cubicBezTo>
                  <a:cubicBezTo>
                    <a:pt x="1055313" y="808919"/>
                    <a:pt x="1045944" y="812800"/>
                    <a:pt x="1036175" y="812800"/>
                  </a:cubicBezTo>
                  <a:lnTo>
                    <a:pt x="36835" y="812800"/>
                  </a:lnTo>
                  <a:cubicBezTo>
                    <a:pt x="27066" y="812800"/>
                    <a:pt x="17697" y="808919"/>
                    <a:pt x="10789" y="802011"/>
                  </a:cubicBezTo>
                  <a:cubicBezTo>
                    <a:pt x="3881" y="795103"/>
                    <a:pt x="0" y="785734"/>
                    <a:pt x="0" y="775965"/>
                  </a:cubicBezTo>
                  <a:lnTo>
                    <a:pt x="0" y="36835"/>
                  </a:lnTo>
                  <a:cubicBezTo>
                    <a:pt x="0" y="27066"/>
                    <a:pt x="3881" y="17697"/>
                    <a:pt x="10789" y="10789"/>
                  </a:cubicBezTo>
                  <a:cubicBezTo>
                    <a:pt x="17697" y="3881"/>
                    <a:pt x="27066" y="0"/>
                    <a:pt x="36835" y="0"/>
                  </a:cubicBezTo>
                  <a:close/>
                </a:path>
              </a:pathLst>
            </a:custGeom>
            <a:blipFill>
              <a:blip r:embed="rId4"/>
              <a:stretch>
                <a:fillRect t="-8504"/>
              </a:stretch>
            </a:blipFill>
            <a:ln w="38100" cap="rnd">
              <a:solidFill>
                <a:srgbClr val="EFEF89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80346" y="6369836"/>
            <a:ext cx="6131277" cy="2623185"/>
            <a:chOff x="0" y="0"/>
            <a:chExt cx="949895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49895" cy="406400"/>
            </a:xfrm>
            <a:custGeom>
              <a:avLst/>
              <a:gdLst/>
              <a:ahLst/>
              <a:cxnLst/>
              <a:rect l="l" t="t" r="r" b="b"/>
              <a:pathLst>
                <a:path w="949895" h="406400">
                  <a:moveTo>
                    <a:pt x="0" y="0"/>
                  </a:moveTo>
                  <a:lnTo>
                    <a:pt x="949895" y="0"/>
                  </a:lnTo>
                  <a:lnTo>
                    <a:pt x="949895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5"/>
              <a:stretch>
                <a:fillRect r="-4998"/>
              </a:stretch>
            </a:blipFill>
            <a:ln w="38100" cap="sq">
              <a:solidFill>
                <a:srgbClr val="EFEF89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6" name="Freeform 16"/>
          <p:cNvSpPr/>
          <p:nvPr/>
        </p:nvSpPr>
        <p:spPr>
          <a:xfrm>
            <a:off x="7771402" y="107076"/>
            <a:ext cx="241865" cy="719059"/>
          </a:xfrm>
          <a:custGeom>
            <a:avLst/>
            <a:gdLst/>
            <a:ahLst/>
            <a:cxnLst/>
            <a:rect l="l" t="t" r="r" b="b"/>
            <a:pathLst>
              <a:path w="241865" h="719059">
                <a:moveTo>
                  <a:pt x="0" y="0"/>
                </a:moveTo>
                <a:lnTo>
                  <a:pt x="241866" y="0"/>
                </a:lnTo>
                <a:lnTo>
                  <a:pt x="241866" y="719059"/>
                </a:lnTo>
                <a:lnTo>
                  <a:pt x="0" y="71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7" name="Freeform 17"/>
          <p:cNvSpPr/>
          <p:nvPr/>
        </p:nvSpPr>
        <p:spPr>
          <a:xfrm>
            <a:off x="14001246" y="8630666"/>
            <a:ext cx="524930" cy="627634"/>
          </a:xfrm>
          <a:custGeom>
            <a:avLst/>
            <a:gdLst/>
            <a:ahLst/>
            <a:cxnLst/>
            <a:rect l="l" t="t" r="r" b="b"/>
            <a:pathLst>
              <a:path w="524930" h="627634">
                <a:moveTo>
                  <a:pt x="0" y="0"/>
                </a:moveTo>
                <a:lnTo>
                  <a:pt x="524930" y="0"/>
                </a:lnTo>
                <a:lnTo>
                  <a:pt x="524930" y="627634"/>
                </a:lnTo>
                <a:lnTo>
                  <a:pt x="0" y="627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TextBox 18"/>
          <p:cNvSpPr txBox="1"/>
          <p:nvPr/>
        </p:nvSpPr>
        <p:spPr>
          <a:xfrm>
            <a:off x="14412201" y="336867"/>
            <a:ext cx="3198845" cy="614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955"/>
              </a:lnSpc>
              <a:spcBef>
                <a:spcPct val="0"/>
              </a:spcBef>
            </a:pPr>
            <a:r>
              <a:rPr lang="en-US" sz="3539">
                <a:solidFill>
                  <a:srgbClr val="EFEF89"/>
                </a:solidFill>
                <a:latin typeface="Roboto"/>
                <a:ea typeface="Roboto"/>
                <a:cs typeface="Roboto"/>
                <a:sym typeface="Roboto"/>
              </a:rPr>
              <a:t>DISCORD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21055" y="898789"/>
            <a:ext cx="5285241" cy="1061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90"/>
              </a:lnSpc>
              <a:spcBef>
                <a:spcPct val="0"/>
              </a:spcBef>
            </a:pPr>
            <a:r>
              <a:rPr lang="en-US" sz="6207">
                <a:solidFill>
                  <a:srgbClr val="EFEF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SERVER TAG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5778" y="9258300"/>
            <a:ext cx="3086100" cy="387350"/>
            <a:chOff x="0" y="0"/>
            <a:chExt cx="812800" cy="1020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02018"/>
            </a:xfrm>
            <a:custGeom>
              <a:avLst/>
              <a:gdLst/>
              <a:ahLst/>
              <a:cxnLst/>
              <a:rect l="l" t="t" r="r" b="b"/>
              <a:pathLst>
                <a:path w="812800" h="102018">
                  <a:moveTo>
                    <a:pt x="0" y="0"/>
                  </a:moveTo>
                  <a:lnTo>
                    <a:pt x="812800" y="0"/>
                  </a:lnTo>
                  <a:lnTo>
                    <a:pt x="812800" y="102018"/>
                  </a:lnTo>
                  <a:lnTo>
                    <a:pt x="0" y="102018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149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096938" y="-647155"/>
            <a:ext cx="1054100" cy="3086100"/>
            <a:chOff x="0" y="0"/>
            <a:chExt cx="27762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7623" cy="812800"/>
            </a:xfrm>
            <a:custGeom>
              <a:avLst/>
              <a:gdLst/>
              <a:ahLst/>
              <a:cxnLst/>
              <a:rect l="l" t="t" r="r" b="b"/>
              <a:pathLst>
                <a:path w="277623" h="812800">
                  <a:moveTo>
                    <a:pt x="0" y="0"/>
                  </a:moveTo>
                  <a:lnTo>
                    <a:pt x="277623" y="0"/>
                  </a:lnTo>
                  <a:lnTo>
                    <a:pt x="27762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762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6938" y="8492298"/>
            <a:ext cx="1054100" cy="3086100"/>
            <a:chOff x="0" y="0"/>
            <a:chExt cx="277623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7623" cy="812800"/>
            </a:xfrm>
            <a:custGeom>
              <a:avLst/>
              <a:gdLst/>
              <a:ahLst/>
              <a:cxnLst/>
              <a:rect l="l" t="t" r="r" b="b"/>
              <a:pathLst>
                <a:path w="277623" h="812800">
                  <a:moveTo>
                    <a:pt x="0" y="0"/>
                  </a:moveTo>
                  <a:lnTo>
                    <a:pt x="277623" y="0"/>
                  </a:lnTo>
                  <a:lnTo>
                    <a:pt x="27762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7762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418195" y="3067165"/>
            <a:ext cx="5100531" cy="1141547"/>
          </a:xfrm>
          <a:custGeom>
            <a:avLst/>
            <a:gdLst/>
            <a:ahLst/>
            <a:cxnLst/>
            <a:rect l="l" t="t" r="r" b="b"/>
            <a:pathLst>
              <a:path w="5100531" h="1141547">
                <a:moveTo>
                  <a:pt x="0" y="0"/>
                </a:moveTo>
                <a:lnTo>
                  <a:pt x="5100531" y="0"/>
                </a:lnTo>
                <a:lnTo>
                  <a:pt x="5100531" y="1141547"/>
                </a:lnTo>
                <a:lnTo>
                  <a:pt x="0" y="1141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47625" cap="sq">
            <a:solidFill>
              <a:srgbClr val="EFEF89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7418195" y="5890088"/>
            <a:ext cx="6073469" cy="1343755"/>
          </a:xfrm>
          <a:custGeom>
            <a:avLst/>
            <a:gdLst/>
            <a:ahLst/>
            <a:cxnLst/>
            <a:rect l="l" t="t" r="r" b="b"/>
            <a:pathLst>
              <a:path w="6073469" h="1343755">
                <a:moveTo>
                  <a:pt x="0" y="0"/>
                </a:moveTo>
                <a:lnTo>
                  <a:pt x="6073468" y="0"/>
                </a:lnTo>
                <a:lnTo>
                  <a:pt x="6073468" y="1343755"/>
                </a:lnTo>
                <a:lnTo>
                  <a:pt x="0" y="1343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3" name="Group 13"/>
          <p:cNvGrpSpPr/>
          <p:nvPr/>
        </p:nvGrpSpPr>
        <p:grpSpPr>
          <a:xfrm>
            <a:off x="11897724" y="6125198"/>
            <a:ext cx="621001" cy="621001"/>
            <a:chOff x="0" y="0"/>
            <a:chExt cx="163556" cy="1635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3556" cy="163556"/>
            </a:xfrm>
            <a:custGeom>
              <a:avLst/>
              <a:gdLst/>
              <a:ahLst/>
              <a:cxnLst/>
              <a:rect l="l" t="t" r="r" b="b"/>
              <a:pathLst>
                <a:path w="163556" h="163556">
                  <a:moveTo>
                    <a:pt x="0" y="0"/>
                  </a:moveTo>
                  <a:lnTo>
                    <a:pt x="163556" y="0"/>
                  </a:lnTo>
                  <a:lnTo>
                    <a:pt x="163556" y="163556"/>
                  </a:lnTo>
                  <a:lnTo>
                    <a:pt x="0" y="1635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EFEF89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3556" cy="211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455778" y="683867"/>
            <a:ext cx="3713163" cy="695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1"/>
              </a:lnSpc>
              <a:spcBef>
                <a:spcPct val="0"/>
              </a:spcBef>
            </a:pPr>
            <a:r>
              <a:rPr lang="en-US" sz="4108">
                <a:solidFill>
                  <a:srgbClr val="EFEF89"/>
                </a:solidFill>
                <a:latin typeface="Roboto"/>
                <a:ea typeface="Roboto"/>
                <a:cs typeface="Roboto"/>
                <a:sym typeface="Roboto"/>
              </a:rPr>
              <a:t>BEFORE WE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55778" y="1295780"/>
            <a:ext cx="5330825" cy="98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7"/>
              </a:lnSpc>
              <a:spcBef>
                <a:spcPct val="0"/>
              </a:spcBef>
            </a:pPr>
            <a:r>
              <a:rPr lang="en-US" sz="5812">
                <a:solidFill>
                  <a:srgbClr val="EFEF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START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990965"/>
            <a:ext cx="6140194" cy="932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  <a:spcBef>
                <a:spcPct val="0"/>
              </a:spcBef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 you prefer not to talk or be asked questions, please press mute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5778" y="3932723"/>
            <a:ext cx="6140194" cy="47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  <a:spcBef>
                <a:spcPct val="0"/>
              </a:spcBef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 mic </a:t>
            </a:r>
            <a:r>
              <a:rPr lang="en-US" sz="26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is allowed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6481" y="5813888"/>
            <a:ext cx="6140194" cy="932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  <a:spcBef>
                <a:spcPct val="0"/>
              </a:spcBef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Remember to open the chat and engage with our community!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4767" y="3310430"/>
            <a:ext cx="5246370" cy="524637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7697" r="-12396"/>
              </a:stretch>
            </a:blipFill>
            <a:ln w="38100" cap="sq">
              <a:solidFill>
                <a:srgbClr val="EFEF89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7279374" y="1439550"/>
            <a:ext cx="0" cy="8104282"/>
          </a:xfrm>
          <a:prstGeom prst="line">
            <a:avLst/>
          </a:prstGeom>
          <a:ln w="38100" cap="flat">
            <a:solidFill>
              <a:srgbClr val="EFEF8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9144000" y="2950460"/>
            <a:ext cx="6657333" cy="866572"/>
            <a:chOff x="0" y="0"/>
            <a:chExt cx="1753372" cy="2282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3372" cy="228233"/>
            </a:xfrm>
            <a:custGeom>
              <a:avLst/>
              <a:gdLst/>
              <a:ahLst/>
              <a:cxnLst/>
              <a:rect l="l" t="t" r="r" b="b"/>
              <a:pathLst>
                <a:path w="1753372" h="228233">
                  <a:moveTo>
                    <a:pt x="0" y="0"/>
                  </a:moveTo>
                  <a:lnTo>
                    <a:pt x="1753372" y="0"/>
                  </a:lnTo>
                  <a:lnTo>
                    <a:pt x="1753372" y="228233"/>
                  </a:lnTo>
                  <a:lnTo>
                    <a:pt x="0" y="228233"/>
                  </a:lnTo>
                  <a:close/>
                </a:path>
              </a:pathLst>
            </a:custGeom>
            <a:solidFill>
              <a:srgbClr val="574874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1753372" cy="313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Links to share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280691" y="2358723"/>
            <a:ext cx="4090445" cy="757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3"/>
              </a:lnSpc>
              <a:spcBef>
                <a:spcPct val="0"/>
              </a:spcBef>
            </a:pPr>
            <a:r>
              <a:rPr lang="en-US" sz="4459">
                <a:solidFill>
                  <a:srgbClr val="EFEF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0" y="4124528"/>
            <a:ext cx="6657333" cy="866572"/>
            <a:chOff x="0" y="0"/>
            <a:chExt cx="1753372" cy="2282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53372" cy="228233"/>
            </a:xfrm>
            <a:custGeom>
              <a:avLst/>
              <a:gdLst/>
              <a:ahLst/>
              <a:cxnLst/>
              <a:rect l="l" t="t" r="r" b="b"/>
              <a:pathLst>
                <a:path w="1753372" h="228233">
                  <a:moveTo>
                    <a:pt x="0" y="0"/>
                  </a:moveTo>
                  <a:lnTo>
                    <a:pt x="1753372" y="0"/>
                  </a:lnTo>
                  <a:lnTo>
                    <a:pt x="1753372" y="228233"/>
                  </a:lnTo>
                  <a:lnTo>
                    <a:pt x="0" y="228233"/>
                  </a:lnTo>
                  <a:close/>
                </a:path>
              </a:pathLst>
            </a:custGeom>
            <a:solidFill>
              <a:srgbClr val="B1171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1753372" cy="313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Sebastian – Low hanging fruit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0" y="5295900"/>
            <a:ext cx="6657333" cy="866572"/>
            <a:chOff x="0" y="0"/>
            <a:chExt cx="1753372" cy="2282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53372" cy="228233"/>
            </a:xfrm>
            <a:custGeom>
              <a:avLst/>
              <a:gdLst/>
              <a:ahLst/>
              <a:cxnLst/>
              <a:rect l="l" t="t" r="r" b="b"/>
              <a:pathLst>
                <a:path w="1753372" h="228233">
                  <a:moveTo>
                    <a:pt x="0" y="0"/>
                  </a:moveTo>
                  <a:lnTo>
                    <a:pt x="1753372" y="0"/>
                  </a:lnTo>
                  <a:lnTo>
                    <a:pt x="1753372" y="228233"/>
                  </a:lnTo>
                  <a:lnTo>
                    <a:pt x="0" y="228233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1753372" cy="313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Stryker incident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6469968"/>
            <a:ext cx="6657333" cy="1428547"/>
            <a:chOff x="0" y="0"/>
            <a:chExt cx="1753372" cy="3762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53372" cy="376243"/>
            </a:xfrm>
            <a:custGeom>
              <a:avLst/>
              <a:gdLst/>
              <a:ahLst/>
              <a:cxnLst/>
              <a:rect l="l" t="t" r="r" b="b"/>
              <a:pathLst>
                <a:path w="1753372" h="376243">
                  <a:moveTo>
                    <a:pt x="0" y="0"/>
                  </a:moveTo>
                  <a:lnTo>
                    <a:pt x="1753372" y="0"/>
                  </a:lnTo>
                  <a:lnTo>
                    <a:pt x="1753372" y="376243"/>
                  </a:lnTo>
                  <a:lnTo>
                    <a:pt x="0" y="376243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1753372" cy="46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Open floor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19087-AC25-DE2E-D564-6D56559A8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5A9C17-E22C-1831-630F-F3CA99C7B442}"/>
              </a:ext>
            </a:extLst>
          </p:cNvPr>
          <p:cNvGrpSpPr/>
          <p:nvPr/>
        </p:nvGrpSpPr>
        <p:grpSpPr>
          <a:xfrm>
            <a:off x="-591898" y="8900904"/>
            <a:ext cx="4514850" cy="714793"/>
            <a:chOff x="0" y="0"/>
            <a:chExt cx="1189096" cy="1882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03A0D64-8D07-2A0D-9DDB-9490B3DB3DD6}"/>
                </a:ext>
              </a:extLst>
            </p:cNvPr>
            <p:cNvSpPr/>
            <p:nvPr/>
          </p:nvSpPr>
          <p:spPr>
            <a:xfrm>
              <a:off x="0" y="0"/>
              <a:ext cx="1189096" cy="188258"/>
            </a:xfrm>
            <a:custGeom>
              <a:avLst/>
              <a:gdLst/>
              <a:ahLst/>
              <a:cxnLst/>
              <a:rect l="l" t="t" r="r" b="b"/>
              <a:pathLst>
                <a:path w="1189096" h="188258">
                  <a:moveTo>
                    <a:pt x="0" y="0"/>
                  </a:moveTo>
                  <a:lnTo>
                    <a:pt x="1189096" y="0"/>
                  </a:lnTo>
                  <a:lnTo>
                    <a:pt x="1189096" y="188258"/>
                  </a:lnTo>
                  <a:lnTo>
                    <a:pt x="0" y="188258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8F9C46A-A960-44A0-BEF1-5B5287FD0D0B}"/>
                </a:ext>
              </a:extLst>
            </p:cNvPr>
            <p:cNvSpPr txBox="1"/>
            <p:nvPr/>
          </p:nvSpPr>
          <p:spPr>
            <a:xfrm>
              <a:off x="0" y="-47625"/>
              <a:ext cx="1189096" cy="235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77304B0-A43D-CB1A-C658-C98B455A3B67}"/>
              </a:ext>
            </a:extLst>
          </p:cNvPr>
          <p:cNvGrpSpPr/>
          <p:nvPr/>
        </p:nvGrpSpPr>
        <p:grpSpPr>
          <a:xfrm>
            <a:off x="12614978" y="0"/>
            <a:ext cx="5673022" cy="10287000"/>
            <a:chOff x="0" y="0"/>
            <a:chExt cx="878900" cy="159372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6D7A850-F63E-0779-8504-4DDE2688319C}"/>
                </a:ext>
              </a:extLst>
            </p:cNvPr>
            <p:cNvSpPr/>
            <p:nvPr/>
          </p:nvSpPr>
          <p:spPr>
            <a:xfrm>
              <a:off x="0" y="0"/>
              <a:ext cx="878900" cy="1593725"/>
            </a:xfrm>
            <a:custGeom>
              <a:avLst/>
              <a:gdLst/>
              <a:ahLst/>
              <a:cxnLst/>
              <a:rect l="l" t="t" r="r" b="b"/>
              <a:pathLst>
                <a:path w="878900" h="1593725">
                  <a:moveTo>
                    <a:pt x="0" y="0"/>
                  </a:moveTo>
                  <a:lnTo>
                    <a:pt x="878900" y="0"/>
                  </a:lnTo>
                  <a:lnTo>
                    <a:pt x="87890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85875" r="-8587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11D9B9E3-3C04-B822-1593-E13887D97BD0}"/>
              </a:ext>
            </a:extLst>
          </p:cNvPr>
          <p:cNvSpPr txBox="1"/>
          <p:nvPr/>
        </p:nvSpPr>
        <p:spPr>
          <a:xfrm>
            <a:off x="414164" y="656807"/>
            <a:ext cx="3713163" cy="695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1"/>
              </a:lnSpc>
              <a:spcBef>
                <a:spcPct val="0"/>
              </a:spcBef>
            </a:pPr>
            <a:r>
              <a:rPr lang="en-US" sz="4108">
                <a:solidFill>
                  <a:srgbClr val="EFEF89"/>
                </a:solidFill>
                <a:latin typeface="Roboto"/>
                <a:ea typeface="Roboto"/>
                <a:cs typeface="Roboto"/>
                <a:sym typeface="Roboto"/>
              </a:rPr>
              <a:t>SHARING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0D048DB-2557-38E5-4526-2698F5D1B982}"/>
              </a:ext>
            </a:extLst>
          </p:cNvPr>
          <p:cNvSpPr txBox="1"/>
          <p:nvPr/>
        </p:nvSpPr>
        <p:spPr>
          <a:xfrm>
            <a:off x="363681" y="1325072"/>
            <a:ext cx="9999519" cy="1002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37"/>
              </a:lnSpc>
              <a:spcBef>
                <a:spcPct val="0"/>
              </a:spcBef>
            </a:pPr>
            <a:r>
              <a:rPr lang="en-US" sz="5812" dirty="0">
                <a:solidFill>
                  <a:srgbClr val="EFEF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LINKS TO SHARE - Entra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223AE74-5471-D14E-DA22-8F62CF8FDE08}"/>
              </a:ext>
            </a:extLst>
          </p:cNvPr>
          <p:cNvSpPr txBox="1"/>
          <p:nvPr/>
        </p:nvSpPr>
        <p:spPr>
          <a:xfrm>
            <a:off x="363681" y="3990967"/>
            <a:ext cx="17396610" cy="103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86"/>
              </a:lnSpc>
              <a:spcBef>
                <a:spcPct val="0"/>
              </a:spcBef>
            </a:pPr>
            <a: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Entra Connect update to block hard match for users </a:t>
            </a:r>
            <a:b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with Microsoft Entra roles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986050D-1B99-2BC1-CEE9-3E7E8A923881}"/>
              </a:ext>
            </a:extLst>
          </p:cNvPr>
          <p:cNvSpPr txBox="1"/>
          <p:nvPr/>
        </p:nvSpPr>
        <p:spPr>
          <a:xfrm>
            <a:off x="0" y="3492014"/>
            <a:ext cx="10515600" cy="53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Entra connect - Upcoming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81D9DA4-59AF-B562-6F55-B743F2D0F071}"/>
              </a:ext>
            </a:extLst>
          </p:cNvPr>
          <p:cNvSpPr txBox="1"/>
          <p:nvPr/>
        </p:nvSpPr>
        <p:spPr>
          <a:xfrm>
            <a:off x="363681" y="5619673"/>
            <a:ext cx="17396610" cy="103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86"/>
              </a:lnSpc>
              <a:spcBef>
                <a:spcPct val="0"/>
              </a:spcBef>
            </a:pPr>
            <a: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Native solution restores users, groups, applications, </a:t>
            </a:r>
            <a:b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 Conditional Access policies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8D0D71D-BF87-65A7-30C5-A2FD07D27234}"/>
              </a:ext>
            </a:extLst>
          </p:cNvPr>
          <p:cNvSpPr txBox="1"/>
          <p:nvPr/>
        </p:nvSpPr>
        <p:spPr>
          <a:xfrm>
            <a:off x="914400" y="5072576"/>
            <a:ext cx="7613375" cy="53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Entra Backup and Recovery - Preview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ABF13AD6-F421-6530-01E6-91BA22A49D0A}"/>
              </a:ext>
            </a:extLst>
          </p:cNvPr>
          <p:cNvSpPr txBox="1"/>
          <p:nvPr/>
        </p:nvSpPr>
        <p:spPr>
          <a:xfrm>
            <a:off x="914400" y="6644181"/>
            <a:ext cx="7613375" cy="53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External </a:t>
            </a:r>
            <a:r>
              <a:rPr lang="en-US" sz="3231" b="1" dirty="0" err="1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MfA</a:t>
            </a: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 - GA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41423779-FB8C-E142-A55B-E1268CD24155}"/>
              </a:ext>
            </a:extLst>
          </p:cNvPr>
          <p:cNvSpPr txBox="1"/>
          <p:nvPr/>
        </p:nvSpPr>
        <p:spPr>
          <a:xfrm>
            <a:off x="363681" y="7182134"/>
            <a:ext cx="17396610" cy="51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6"/>
              </a:lnSpc>
              <a:spcBef>
                <a:spcPct val="0"/>
              </a:spcBef>
            </a:pPr>
            <a: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External Authentication methods GA in Entra ID</a:t>
            </a:r>
          </a:p>
        </p:txBody>
      </p:sp>
    </p:spTree>
    <p:extLst>
      <p:ext uri="{BB962C8B-B14F-4D97-AF65-F5344CB8AC3E}">
        <p14:creationId xmlns:p14="http://schemas.microsoft.com/office/powerpoint/2010/main" val="278817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1898" y="8900904"/>
            <a:ext cx="4514850" cy="714793"/>
            <a:chOff x="0" y="0"/>
            <a:chExt cx="1189096" cy="1882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9096" cy="188258"/>
            </a:xfrm>
            <a:custGeom>
              <a:avLst/>
              <a:gdLst/>
              <a:ahLst/>
              <a:cxnLst/>
              <a:rect l="l" t="t" r="r" b="b"/>
              <a:pathLst>
                <a:path w="1189096" h="188258">
                  <a:moveTo>
                    <a:pt x="0" y="0"/>
                  </a:moveTo>
                  <a:lnTo>
                    <a:pt x="1189096" y="0"/>
                  </a:lnTo>
                  <a:lnTo>
                    <a:pt x="1189096" y="188258"/>
                  </a:lnTo>
                  <a:lnTo>
                    <a:pt x="0" y="188258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89096" cy="235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14978" y="0"/>
            <a:ext cx="5673022" cy="10287000"/>
            <a:chOff x="0" y="0"/>
            <a:chExt cx="878900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78900" cy="1593725"/>
            </a:xfrm>
            <a:custGeom>
              <a:avLst/>
              <a:gdLst/>
              <a:ahLst/>
              <a:cxnLst/>
              <a:rect l="l" t="t" r="r" b="b"/>
              <a:pathLst>
                <a:path w="878900" h="1593725">
                  <a:moveTo>
                    <a:pt x="0" y="0"/>
                  </a:moveTo>
                  <a:lnTo>
                    <a:pt x="878900" y="0"/>
                  </a:lnTo>
                  <a:lnTo>
                    <a:pt x="87890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85875" r="-8587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14164" y="656807"/>
            <a:ext cx="3713163" cy="695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1"/>
              </a:lnSpc>
              <a:spcBef>
                <a:spcPct val="0"/>
              </a:spcBef>
            </a:pPr>
            <a:r>
              <a:rPr lang="en-US" sz="4108">
                <a:solidFill>
                  <a:srgbClr val="EFEF89"/>
                </a:solidFill>
                <a:latin typeface="Roboto"/>
                <a:ea typeface="Roboto"/>
                <a:cs typeface="Roboto"/>
                <a:sym typeface="Roboto"/>
              </a:rPr>
              <a:t>SHARING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3681" y="1325072"/>
            <a:ext cx="10761519" cy="1002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137"/>
              </a:lnSpc>
              <a:spcBef>
                <a:spcPct val="0"/>
              </a:spcBef>
            </a:pPr>
            <a:r>
              <a:rPr lang="en-US" sz="5812" dirty="0">
                <a:solidFill>
                  <a:srgbClr val="EFEF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LINKS TO SHARE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3681" y="3990967"/>
            <a:ext cx="17396610" cy="51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6"/>
              </a:lnSpc>
              <a:spcBef>
                <a:spcPct val="0"/>
              </a:spcBef>
            </a:pPr>
            <a: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Cross tenant MAM policies in Edge profiles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4164" y="3473276"/>
            <a:ext cx="7613375" cy="53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Cross-tenant MAM for Edge - preview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3681" y="5249501"/>
            <a:ext cx="17396610" cy="51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6"/>
              </a:lnSpc>
              <a:spcBef>
                <a:spcPct val="0"/>
              </a:spcBef>
            </a:pPr>
            <a: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Widely identity security enhancements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4750548"/>
            <a:ext cx="9372600" cy="53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Identity security enhancements - preview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3681" y="6512519"/>
            <a:ext cx="17396610" cy="51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6"/>
              </a:lnSpc>
              <a:spcBef>
                <a:spcPct val="0"/>
              </a:spcBef>
            </a:pPr>
            <a: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RSAC announcements for Microsoft Sentinel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0" y="6013565"/>
            <a:ext cx="7613375" cy="53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RSAC 2026 Sentinel news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DA93C-28AC-6877-B9DC-F161449696EC}"/>
              </a:ext>
            </a:extLst>
          </p:cNvPr>
          <p:cNvSpPr txBox="1"/>
          <p:nvPr/>
        </p:nvSpPr>
        <p:spPr>
          <a:xfrm>
            <a:off x="116264" y="7065648"/>
            <a:ext cx="7613375" cy="53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LAPS for Azure arc - preview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55B73F86-A9C2-BF51-2689-E051D7C772FD}"/>
              </a:ext>
            </a:extLst>
          </p:cNvPr>
          <p:cNvSpPr txBox="1"/>
          <p:nvPr/>
        </p:nvSpPr>
        <p:spPr>
          <a:xfrm>
            <a:off x="521112" y="7561157"/>
            <a:ext cx="17396610" cy="516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6"/>
              </a:lnSpc>
              <a:spcBef>
                <a:spcPct val="0"/>
              </a:spcBef>
            </a:pPr>
            <a: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Manage LAPS for Azure Arc onboarded machines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96694E-1F78-5A84-197A-8228C9A5C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99E619C-7935-917F-CEDD-8792CFDE8C74}"/>
              </a:ext>
            </a:extLst>
          </p:cNvPr>
          <p:cNvGrpSpPr/>
          <p:nvPr/>
        </p:nvGrpSpPr>
        <p:grpSpPr>
          <a:xfrm>
            <a:off x="0" y="232526"/>
            <a:ext cx="18288000" cy="10287000"/>
            <a:chOff x="0" y="0"/>
            <a:chExt cx="1444978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227B43-2C2C-36E6-A50E-6BE4D26C4BD5}"/>
                </a:ext>
              </a:extLst>
            </p:cNvPr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>
                <a:alphaModFix amt="10999"/>
              </a:blip>
              <a:stretch>
                <a:fillRect t="-9333" b="-9333"/>
              </a:stretch>
            </a:blipFill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1EA3866-2C81-F5FA-EF59-FA289EBF8E0E}"/>
              </a:ext>
            </a:extLst>
          </p:cNvPr>
          <p:cNvGrpSpPr/>
          <p:nvPr/>
        </p:nvGrpSpPr>
        <p:grpSpPr>
          <a:xfrm>
            <a:off x="1717675" y="0"/>
            <a:ext cx="805519" cy="2673350"/>
            <a:chOff x="0" y="0"/>
            <a:chExt cx="212153" cy="70409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5706C62-64E5-27A4-E42F-D929B2B06E64}"/>
                </a:ext>
              </a:extLst>
            </p:cNvPr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02A8AEB-CAEB-51F4-08E8-6AFFC79A28BA}"/>
                </a:ext>
              </a:extLst>
            </p:cNvPr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CDE3BDCB-BF1B-CE26-4D7D-F00093C729A1}"/>
              </a:ext>
            </a:extLst>
          </p:cNvPr>
          <p:cNvGrpSpPr/>
          <p:nvPr/>
        </p:nvGrpSpPr>
        <p:grpSpPr>
          <a:xfrm>
            <a:off x="12146939" y="8466953"/>
            <a:ext cx="805519" cy="2673350"/>
            <a:chOff x="0" y="0"/>
            <a:chExt cx="212153" cy="704092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5AAAC52-ADCD-0291-6226-7BF5F848F1B1}"/>
                </a:ext>
              </a:extLst>
            </p:cNvPr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2BBFC44-D2B9-B7D4-F391-C71B342D2AF6}"/>
                </a:ext>
              </a:extLst>
            </p:cNvPr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11615C-E230-87AF-9EAF-9C2342F2170B}"/>
              </a:ext>
            </a:extLst>
          </p:cNvPr>
          <p:cNvGrpSpPr/>
          <p:nvPr/>
        </p:nvGrpSpPr>
        <p:grpSpPr>
          <a:xfrm>
            <a:off x="17507989" y="1847850"/>
            <a:ext cx="2546350" cy="7410450"/>
            <a:chOff x="0" y="0"/>
            <a:chExt cx="670644" cy="195172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DC8804B-F93B-BF1C-5EEF-2A4F4B24B545}"/>
                </a:ext>
              </a:extLst>
            </p:cNvPr>
            <p:cNvSpPr/>
            <p:nvPr/>
          </p:nvSpPr>
          <p:spPr>
            <a:xfrm>
              <a:off x="0" y="0"/>
              <a:ext cx="670644" cy="1951724"/>
            </a:xfrm>
            <a:custGeom>
              <a:avLst/>
              <a:gdLst/>
              <a:ahLst/>
              <a:cxnLst/>
              <a:rect l="l" t="t" r="r" b="b"/>
              <a:pathLst>
                <a:path w="670644" h="1951724">
                  <a:moveTo>
                    <a:pt x="155060" y="0"/>
                  </a:moveTo>
                  <a:lnTo>
                    <a:pt x="515583" y="0"/>
                  </a:lnTo>
                  <a:cubicBezTo>
                    <a:pt x="601221" y="0"/>
                    <a:pt x="670644" y="69423"/>
                    <a:pt x="670644" y="155060"/>
                  </a:cubicBezTo>
                  <a:lnTo>
                    <a:pt x="670644" y="1796663"/>
                  </a:lnTo>
                  <a:cubicBezTo>
                    <a:pt x="670644" y="1882301"/>
                    <a:pt x="601221" y="1951724"/>
                    <a:pt x="515583" y="1951724"/>
                  </a:cubicBezTo>
                  <a:lnTo>
                    <a:pt x="155060" y="1951724"/>
                  </a:lnTo>
                  <a:cubicBezTo>
                    <a:pt x="113936" y="1951724"/>
                    <a:pt x="74496" y="1935387"/>
                    <a:pt x="45416" y="1906307"/>
                  </a:cubicBezTo>
                  <a:cubicBezTo>
                    <a:pt x="16337" y="1877228"/>
                    <a:pt x="0" y="1837788"/>
                    <a:pt x="0" y="1796663"/>
                  </a:cubicBezTo>
                  <a:lnTo>
                    <a:pt x="0" y="155060"/>
                  </a:lnTo>
                  <a:cubicBezTo>
                    <a:pt x="0" y="69423"/>
                    <a:pt x="69423" y="0"/>
                    <a:pt x="155060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A7F874D-D97B-67BB-8D9D-990453A32B54}"/>
                </a:ext>
              </a:extLst>
            </p:cNvPr>
            <p:cNvSpPr txBox="1"/>
            <p:nvPr/>
          </p:nvSpPr>
          <p:spPr>
            <a:xfrm>
              <a:off x="0" y="-47625"/>
              <a:ext cx="670644" cy="1999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2653098A-D02A-1383-96BD-E5D94F99C923}"/>
              </a:ext>
            </a:extLst>
          </p:cNvPr>
          <p:cNvSpPr txBox="1"/>
          <p:nvPr/>
        </p:nvSpPr>
        <p:spPr>
          <a:xfrm>
            <a:off x="1717675" y="3636787"/>
            <a:ext cx="933741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Btw, you guys know he got MVP today?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51955F8-481A-918F-295F-E7550FDF99C5}"/>
              </a:ext>
            </a:extLst>
          </p:cNvPr>
          <p:cNvSpPr txBox="1"/>
          <p:nvPr/>
        </p:nvSpPr>
        <p:spPr>
          <a:xfrm>
            <a:off x="1717675" y="4102084"/>
            <a:ext cx="15655925" cy="138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16"/>
              </a:lnSpc>
              <a:spcBef>
                <a:spcPct val="0"/>
              </a:spcBef>
            </a:pPr>
            <a:r>
              <a:rPr lang="en-US" sz="801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Sebastian’s low hanging fruit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5061259-4F8D-0DE8-7DA9-87CCD336410C}"/>
              </a:ext>
            </a:extLst>
          </p:cNvPr>
          <p:cNvSpPr txBox="1"/>
          <p:nvPr/>
        </p:nvSpPr>
        <p:spPr>
          <a:xfrm>
            <a:off x="1717675" y="5376026"/>
            <a:ext cx="9204044" cy="155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6"/>
              </a:lnSpc>
            </a:pPr>
            <a:r>
              <a:rPr lang="en-US" sz="29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Forgotten configurations that are bringing value and a more secure environment that aren’t difficult to configure.</a:t>
            </a:r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48A5072F-43E8-8958-444D-3094C599EA8A}"/>
              </a:ext>
            </a:extLst>
          </p:cNvPr>
          <p:cNvSpPr/>
          <p:nvPr/>
        </p:nvSpPr>
        <p:spPr>
          <a:xfrm>
            <a:off x="1676398" y="4110418"/>
            <a:ext cx="6492240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pic>
        <p:nvPicPr>
          <p:cNvPr id="1026" name="Picture 2" descr="A circular professional headshot of Sebastian Flæng Markdanner, who is a smiling, bald man with glasses, wearing a white collared shirt under a black sweater.">
            <a:extLst>
              <a:ext uri="{FF2B5EF4-FFF2-40B4-BE49-F238E27FC236}">
                <a16:creationId xmlns:a16="http://schemas.microsoft.com/office/drawing/2014/main" id="{E89DF54F-4217-6A13-4C78-E0680A9F2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0546" y="-32004"/>
            <a:ext cx="4048123" cy="3990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64EE846B-0053-9C67-938F-F9C29FA4EF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510" y="138408"/>
            <a:ext cx="3445489" cy="344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87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14978" y="0"/>
            <a:ext cx="5673022" cy="10287000"/>
            <a:chOff x="0" y="0"/>
            <a:chExt cx="878900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8900" cy="1593725"/>
            </a:xfrm>
            <a:custGeom>
              <a:avLst/>
              <a:gdLst/>
              <a:ahLst/>
              <a:cxnLst/>
              <a:rect l="l" t="t" r="r" b="b"/>
              <a:pathLst>
                <a:path w="878900" h="1593725">
                  <a:moveTo>
                    <a:pt x="0" y="0"/>
                  </a:moveTo>
                  <a:lnTo>
                    <a:pt x="878900" y="0"/>
                  </a:lnTo>
                  <a:lnTo>
                    <a:pt x="87890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85875" r="-8587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14164" y="293363"/>
            <a:ext cx="3713163" cy="55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EFEF89"/>
                </a:solidFill>
                <a:latin typeface="Roboto"/>
                <a:ea typeface="Roboto"/>
                <a:cs typeface="Roboto"/>
                <a:sym typeface="Roboto"/>
              </a:rPr>
              <a:t>TOPIC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4164" y="715472"/>
            <a:ext cx="7527291" cy="100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37"/>
              </a:lnSpc>
              <a:spcBef>
                <a:spcPct val="0"/>
              </a:spcBef>
            </a:pPr>
            <a:r>
              <a:rPr lang="en-US" sz="5812" dirty="0">
                <a:solidFill>
                  <a:srgbClr val="EFEF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Stryker incident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2400" y="2984330"/>
            <a:ext cx="12243857" cy="2605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15077" lvl="1">
              <a:lnSpc>
                <a:spcPts val="4086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 March 11, 2026, the Iran-linked threat actor </a:t>
            </a:r>
            <a:r>
              <a:rPr lang="en-US" sz="24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Handala</a:t>
            </a: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weaponized compromised administrative credentials to issue mass "Remote Wipe" commands via Microsoft Intune, factory-resetting over 80,000 devices globally and causing severe disruption to Stryker’s manufacturing, shipping, and medical supply chain.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1121" y="2492015"/>
            <a:ext cx="7613375" cy="53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Incident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48" y="6355004"/>
            <a:ext cx="11391882" cy="2083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155" lvl="1" indent="-315078" algn="l">
              <a:lnSpc>
                <a:spcPts val="4086"/>
              </a:lnSpc>
              <a:spcBef>
                <a:spcPct val="0"/>
              </a:spcBef>
              <a:buFont typeface="Arial"/>
              <a:buChar char="•"/>
            </a:pPr>
            <a: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Multi-admin approval (MAA)</a:t>
            </a:r>
          </a:p>
          <a:p>
            <a:pPr marL="630155" lvl="1" indent="-315078">
              <a:lnSpc>
                <a:spcPts val="4086"/>
              </a:lnSpc>
              <a:spcBef>
                <a:spcPct val="0"/>
              </a:spcBef>
              <a:buFont typeface="Arial"/>
              <a:buChar char="•"/>
            </a:pPr>
            <a: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RBAC </a:t>
            </a:r>
          </a:p>
          <a:p>
            <a:pPr marL="630155" lvl="1" indent="-315078" algn="l">
              <a:lnSpc>
                <a:spcPts val="4086"/>
              </a:lnSpc>
              <a:spcBef>
                <a:spcPct val="0"/>
              </a:spcBef>
              <a:buFont typeface="Arial"/>
              <a:buChar char="•"/>
            </a:pPr>
            <a: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Hardware-bound identity</a:t>
            </a:r>
          </a:p>
          <a:p>
            <a:pPr marL="630155" lvl="1" indent="-315078" algn="l">
              <a:lnSpc>
                <a:spcPts val="4086"/>
              </a:lnSpc>
              <a:spcBef>
                <a:spcPct val="0"/>
              </a:spcBef>
              <a:buFont typeface="Arial"/>
              <a:buChar char="•"/>
            </a:pPr>
            <a:r>
              <a:rPr lang="en-US" sz="291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Administrative Units (Aus)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4164" y="5818575"/>
            <a:ext cx="7613375" cy="53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Security takeaways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BF9F42-9129-C6D9-CFDA-CB01C8D71A28}"/>
              </a:ext>
            </a:extLst>
          </p:cNvPr>
          <p:cNvSpPr txBox="1"/>
          <p:nvPr/>
        </p:nvSpPr>
        <p:spPr>
          <a:xfrm>
            <a:off x="414164" y="1624091"/>
            <a:ext cx="17396610" cy="48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86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Lessons in MDM Weaponization and Administrative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t="-9333" b="-933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17675" y="0"/>
            <a:ext cx="805519" cy="2673350"/>
            <a:chOff x="0" y="0"/>
            <a:chExt cx="212153" cy="7040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146939" y="8466953"/>
            <a:ext cx="805519" cy="2673350"/>
            <a:chOff x="0" y="0"/>
            <a:chExt cx="212153" cy="7040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507989" y="1847850"/>
            <a:ext cx="2546350" cy="7410450"/>
            <a:chOff x="0" y="0"/>
            <a:chExt cx="670644" cy="19517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0644" cy="1951724"/>
            </a:xfrm>
            <a:custGeom>
              <a:avLst/>
              <a:gdLst/>
              <a:ahLst/>
              <a:cxnLst/>
              <a:rect l="l" t="t" r="r" b="b"/>
              <a:pathLst>
                <a:path w="670644" h="1951724">
                  <a:moveTo>
                    <a:pt x="155060" y="0"/>
                  </a:moveTo>
                  <a:lnTo>
                    <a:pt x="515583" y="0"/>
                  </a:lnTo>
                  <a:cubicBezTo>
                    <a:pt x="601221" y="0"/>
                    <a:pt x="670644" y="69423"/>
                    <a:pt x="670644" y="155060"/>
                  </a:cubicBezTo>
                  <a:lnTo>
                    <a:pt x="670644" y="1796663"/>
                  </a:lnTo>
                  <a:cubicBezTo>
                    <a:pt x="670644" y="1882301"/>
                    <a:pt x="601221" y="1951724"/>
                    <a:pt x="515583" y="1951724"/>
                  </a:cubicBezTo>
                  <a:lnTo>
                    <a:pt x="155060" y="1951724"/>
                  </a:lnTo>
                  <a:cubicBezTo>
                    <a:pt x="113936" y="1951724"/>
                    <a:pt x="74496" y="1935387"/>
                    <a:pt x="45416" y="1906307"/>
                  </a:cubicBezTo>
                  <a:cubicBezTo>
                    <a:pt x="16337" y="1877228"/>
                    <a:pt x="0" y="1837788"/>
                    <a:pt x="0" y="1796663"/>
                  </a:cubicBezTo>
                  <a:lnTo>
                    <a:pt x="0" y="155060"/>
                  </a:lnTo>
                  <a:cubicBezTo>
                    <a:pt x="0" y="69423"/>
                    <a:pt x="69423" y="0"/>
                    <a:pt x="155060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70644" cy="1999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17675" y="3636787"/>
            <a:ext cx="933741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THANK YOU FOR JOINING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7675" y="4102084"/>
            <a:ext cx="10236607" cy="135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16"/>
              </a:lnSpc>
              <a:spcBef>
                <a:spcPct val="0"/>
              </a:spcBef>
            </a:pPr>
            <a:r>
              <a:rPr lang="en-US" sz="801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CLOUDHOUR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7675" y="5376026"/>
            <a:ext cx="9204044" cy="206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6"/>
              </a:lnSpc>
            </a:pPr>
            <a:r>
              <a:rPr lang="en-US" sz="29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hope that you found this session useful! </a:t>
            </a:r>
          </a:p>
          <a:p>
            <a:pPr algn="l">
              <a:lnSpc>
                <a:spcPts val="4136"/>
              </a:lnSpc>
              <a:spcBef>
                <a:spcPct val="0"/>
              </a:spcBef>
            </a:pPr>
            <a:r>
              <a:rPr lang="en-US" sz="29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Please don’t forget to share our community with your friends and colleagues, and we look forward to seeing you next month!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676398" y="4110418"/>
            <a:ext cx="6492240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545</Words>
  <Application>Microsoft Macintosh PowerPoint</Application>
  <PresentationFormat>Aangepast</PresentationFormat>
  <Paragraphs>76</Paragraphs>
  <Slides>10</Slides>
  <Notes>4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9" baseType="lpstr">
      <vt:lpstr>League Spartan</vt:lpstr>
      <vt:lpstr>Poppins Bold</vt:lpstr>
      <vt:lpstr>Poppins</vt:lpstr>
      <vt:lpstr>Arial</vt:lpstr>
      <vt:lpstr>Roboto Bold</vt:lpstr>
      <vt:lpstr>Aptos</vt:lpstr>
      <vt:lpstr>Calibri</vt:lpstr>
      <vt:lpstr>Roboto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&amp; white company business presentation</dc:title>
  <cp:lastModifiedBy>Joël | Werk</cp:lastModifiedBy>
  <cp:revision>4</cp:revision>
  <dcterms:created xsi:type="dcterms:W3CDTF">2006-08-16T00:00:00Z</dcterms:created>
  <dcterms:modified xsi:type="dcterms:W3CDTF">2026-04-01T08:25:38Z</dcterms:modified>
  <dc:identifier>DAGyYjVab10</dc:identifier>
</cp:coreProperties>
</file>