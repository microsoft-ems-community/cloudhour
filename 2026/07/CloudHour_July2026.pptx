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79" r:id="rId13"/>
    <p:sldId id="280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D0625D-3B60-4888-894C-8483CA5C967D}" v="50" dt="2026-07-01T18:32:41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6" autoAdjust="0"/>
    <p:restoredTop sz="66812" autoAdjust="0"/>
  </p:normalViewPr>
  <p:slideViewPr>
    <p:cSldViewPr snapToGrid="0" snapToObjects="1">
      <p:cViewPr varScale="1">
        <p:scale>
          <a:sx n="83" d="100"/>
          <a:sy n="83" d="100"/>
        </p:scale>
        <p:origin x="884" y="5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s Bøgvad" userId="3ccd7f20-6c69-4d4e-9e13-bfb9a34adc45" providerId="ADAL" clId="{A78CD63F-0891-40C3-97BE-8BF45596D16B}"/>
    <pc:docChg chg="undo custSel addSld delSld modSld sldOrd">
      <pc:chgData name="Jonas Bøgvad" userId="3ccd7f20-6c69-4d4e-9e13-bfb9a34adc45" providerId="ADAL" clId="{A78CD63F-0891-40C3-97BE-8BF45596D16B}" dt="2026-07-01T17:59:24.085" v="420" actId="1076"/>
      <pc:docMkLst>
        <pc:docMk/>
      </pc:docMkLst>
      <pc:sldChg chg="modNotesTx">
        <pc:chgData name="Jonas Bøgvad" userId="3ccd7f20-6c69-4d4e-9e13-bfb9a34adc45" providerId="ADAL" clId="{A78CD63F-0891-40C3-97BE-8BF45596D16B}" dt="2026-07-01T17:50:49.218" v="264" actId="20577"/>
        <pc:sldMkLst>
          <pc:docMk/>
          <pc:sldMk cId="0" sldId="257"/>
        </pc:sldMkLst>
      </pc:sldChg>
      <pc:sldChg chg="addSp delSp modSp mod modNotesTx">
        <pc:chgData name="Jonas Bøgvad" userId="3ccd7f20-6c69-4d4e-9e13-bfb9a34adc45" providerId="ADAL" clId="{A78CD63F-0891-40C3-97BE-8BF45596D16B}" dt="2026-07-01T17:58:51.699" v="417" actId="20577"/>
        <pc:sldMkLst>
          <pc:docMk/>
          <pc:sldMk cId="0" sldId="260"/>
        </pc:sldMkLst>
        <pc:spChg chg="mod">
          <ac:chgData name="Jonas Bøgvad" userId="3ccd7f20-6c69-4d4e-9e13-bfb9a34adc45" providerId="ADAL" clId="{A78CD63F-0891-40C3-97BE-8BF45596D16B}" dt="2026-07-01T17:53:47.031" v="321"/>
          <ac:spMkLst>
            <pc:docMk/>
            <pc:sldMk cId="0" sldId="260"/>
            <ac:spMk id="8" creationId="{00000000-0000-0000-0000-000000000000}"/>
          </ac:spMkLst>
        </pc:spChg>
        <pc:spChg chg="mod">
          <ac:chgData name="Jonas Bøgvad" userId="3ccd7f20-6c69-4d4e-9e13-bfb9a34adc45" providerId="ADAL" clId="{A78CD63F-0891-40C3-97BE-8BF45596D16B}" dt="2026-07-01T17:53:10.121" v="320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Jonas Bøgvad" userId="3ccd7f20-6c69-4d4e-9e13-bfb9a34adc45" providerId="ADAL" clId="{A78CD63F-0891-40C3-97BE-8BF45596D16B}" dt="2026-07-01T17:54:19.144" v="326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Jonas Bøgvad" userId="3ccd7f20-6c69-4d4e-9e13-bfb9a34adc45" providerId="ADAL" clId="{A78CD63F-0891-40C3-97BE-8BF45596D16B}" dt="2026-07-01T17:54:20.903" v="327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Jonas Bøgvad" userId="3ccd7f20-6c69-4d4e-9e13-bfb9a34adc45" providerId="ADAL" clId="{A78CD63F-0891-40C3-97BE-8BF45596D16B}" dt="2026-07-01T17:56:18.350" v="348" actId="20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Jonas Bøgvad" userId="3ccd7f20-6c69-4d4e-9e13-bfb9a34adc45" providerId="ADAL" clId="{A78CD63F-0891-40C3-97BE-8BF45596D16B}" dt="2026-07-01T17:57:18.538" v="363" actId="404"/>
          <ac:spMkLst>
            <pc:docMk/>
            <pc:sldMk cId="0" sldId="260"/>
            <ac:spMk id="19" creationId="{00000000-0000-0000-0000-000000000000}"/>
          </ac:spMkLst>
        </pc:spChg>
        <pc:spChg chg="mod">
          <ac:chgData name="Jonas Bøgvad" userId="3ccd7f20-6c69-4d4e-9e13-bfb9a34adc45" providerId="ADAL" clId="{A78CD63F-0891-40C3-97BE-8BF45596D16B}" dt="2026-07-01T17:54:42.972" v="328"/>
          <ac:spMkLst>
            <pc:docMk/>
            <pc:sldMk cId="0" sldId="260"/>
            <ac:spMk id="24" creationId="{00000000-0000-0000-0000-000000000000}"/>
          </ac:spMkLst>
        </pc:spChg>
        <pc:spChg chg="mod">
          <ac:chgData name="Jonas Bøgvad" userId="3ccd7f20-6c69-4d4e-9e13-bfb9a34adc45" providerId="ADAL" clId="{A78CD63F-0891-40C3-97BE-8BF45596D16B}" dt="2026-07-01T17:52:16.525" v="280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Jonas Bøgvad" userId="3ccd7f20-6c69-4d4e-9e13-bfb9a34adc45" providerId="ADAL" clId="{A78CD63F-0891-40C3-97BE-8BF45596D16B}" dt="2026-07-01T17:52:22.544" v="284" actId="1076"/>
          <ac:spMkLst>
            <pc:docMk/>
            <pc:sldMk cId="0" sldId="260"/>
            <ac:spMk id="29" creationId="{00000000-0000-0000-0000-000000000000}"/>
          </ac:spMkLst>
        </pc:spChg>
        <pc:spChg chg="add del mod">
          <ac:chgData name="Jonas Bøgvad" userId="3ccd7f20-6c69-4d4e-9e13-bfb9a34adc45" providerId="ADAL" clId="{A78CD63F-0891-40C3-97BE-8BF45596D16B}" dt="2026-07-01T17:57:50.241" v="368"/>
          <ac:spMkLst>
            <pc:docMk/>
            <pc:sldMk cId="0" sldId="260"/>
            <ac:spMk id="30" creationId="{00000000-0000-0000-0000-000000000000}"/>
          </ac:spMkLst>
        </pc:spChg>
        <pc:spChg chg="add del">
          <ac:chgData name="Jonas Bøgvad" userId="3ccd7f20-6c69-4d4e-9e13-bfb9a34adc45" providerId="ADAL" clId="{A78CD63F-0891-40C3-97BE-8BF45596D16B}" dt="2026-07-01T17:55:33.946" v="337" actId="478"/>
          <ac:spMkLst>
            <pc:docMk/>
            <pc:sldMk cId="0" sldId="260"/>
            <ac:spMk id="31" creationId="{00000000-0000-0000-0000-000000000000}"/>
          </ac:spMkLst>
        </pc:spChg>
        <pc:spChg chg="del mod">
          <ac:chgData name="Jonas Bøgvad" userId="3ccd7f20-6c69-4d4e-9e13-bfb9a34adc45" providerId="ADAL" clId="{A78CD63F-0891-40C3-97BE-8BF45596D16B}" dt="2026-07-01T17:55:20.153" v="330" actId="478"/>
          <ac:spMkLst>
            <pc:docMk/>
            <pc:sldMk cId="0" sldId="260"/>
            <ac:spMk id="33" creationId="{00000000-0000-0000-0000-000000000000}"/>
          </ac:spMkLst>
        </pc:spChg>
        <pc:spChg chg="del">
          <ac:chgData name="Jonas Bøgvad" userId="3ccd7f20-6c69-4d4e-9e13-bfb9a34adc45" providerId="ADAL" clId="{A78CD63F-0891-40C3-97BE-8BF45596D16B}" dt="2026-07-01T17:55:21.234" v="331" actId="478"/>
          <ac:spMkLst>
            <pc:docMk/>
            <pc:sldMk cId="0" sldId="260"/>
            <ac:spMk id="34" creationId="{00000000-0000-0000-0000-000000000000}"/>
          </ac:spMkLst>
        </pc:spChg>
        <pc:spChg chg="del">
          <ac:chgData name="Jonas Bøgvad" userId="3ccd7f20-6c69-4d4e-9e13-bfb9a34adc45" providerId="ADAL" clId="{A78CD63F-0891-40C3-97BE-8BF45596D16B}" dt="2026-07-01T17:58:25.017" v="393" actId="478"/>
          <ac:spMkLst>
            <pc:docMk/>
            <pc:sldMk cId="0" sldId="260"/>
            <ac:spMk id="35" creationId="{00000000-0000-0000-0000-000000000000}"/>
          </ac:spMkLst>
        </pc:spChg>
        <pc:spChg chg="del">
          <ac:chgData name="Jonas Bøgvad" userId="3ccd7f20-6c69-4d4e-9e13-bfb9a34adc45" providerId="ADAL" clId="{A78CD63F-0891-40C3-97BE-8BF45596D16B}" dt="2026-07-01T17:58:33.498" v="400" actId="478"/>
          <ac:spMkLst>
            <pc:docMk/>
            <pc:sldMk cId="0" sldId="260"/>
            <ac:spMk id="36" creationId="{00000000-0000-0000-0000-000000000000}"/>
          </ac:spMkLst>
        </pc:spChg>
        <pc:spChg chg="del mod">
          <ac:chgData name="Jonas Bøgvad" userId="3ccd7f20-6c69-4d4e-9e13-bfb9a34adc45" providerId="ADAL" clId="{A78CD63F-0891-40C3-97BE-8BF45596D16B}" dt="2026-07-01T17:58:26.749" v="395" actId="478"/>
          <ac:spMkLst>
            <pc:docMk/>
            <pc:sldMk cId="0" sldId="260"/>
            <ac:spMk id="38" creationId="{00000000-0000-0000-0000-000000000000}"/>
          </ac:spMkLst>
        </pc:spChg>
        <pc:spChg chg="del">
          <ac:chgData name="Jonas Bøgvad" userId="3ccd7f20-6c69-4d4e-9e13-bfb9a34adc45" providerId="ADAL" clId="{A78CD63F-0891-40C3-97BE-8BF45596D16B}" dt="2026-07-01T17:58:27.986" v="396" actId="478"/>
          <ac:spMkLst>
            <pc:docMk/>
            <pc:sldMk cId="0" sldId="260"/>
            <ac:spMk id="39" creationId="{00000000-0000-0000-0000-000000000000}"/>
          </ac:spMkLst>
        </pc:spChg>
        <pc:spChg chg="add del mod">
          <ac:chgData name="Jonas Bøgvad" userId="3ccd7f20-6c69-4d4e-9e13-bfb9a34adc45" providerId="ADAL" clId="{A78CD63F-0891-40C3-97BE-8BF45596D16B}" dt="2026-07-01T17:58:22.589" v="392" actId="1076"/>
          <ac:spMkLst>
            <pc:docMk/>
            <pc:sldMk cId="0" sldId="260"/>
            <ac:spMk id="40" creationId="{00000000-0000-0000-0000-000000000000}"/>
          </ac:spMkLst>
        </pc:spChg>
        <pc:spChg chg="add del mod">
          <ac:chgData name="Jonas Bøgvad" userId="3ccd7f20-6c69-4d4e-9e13-bfb9a34adc45" providerId="ADAL" clId="{A78CD63F-0891-40C3-97BE-8BF45596D16B}" dt="2026-07-01T17:58:17.682" v="389" actId="20577"/>
          <ac:spMkLst>
            <pc:docMk/>
            <pc:sldMk cId="0" sldId="260"/>
            <ac:spMk id="43" creationId="{00000000-0000-0000-0000-000000000000}"/>
          </ac:spMkLst>
        </pc:spChg>
        <pc:spChg chg="del">
          <ac:chgData name="Jonas Bøgvad" userId="3ccd7f20-6c69-4d4e-9e13-bfb9a34adc45" providerId="ADAL" clId="{A78CD63F-0891-40C3-97BE-8BF45596D16B}" dt="2026-07-01T17:58:19.730" v="390" actId="478"/>
          <ac:spMkLst>
            <pc:docMk/>
            <pc:sldMk cId="0" sldId="260"/>
            <ac:spMk id="44" creationId="{00000000-0000-0000-0000-000000000000}"/>
          </ac:spMkLst>
        </pc:spChg>
        <pc:spChg chg="add mod">
          <ac:chgData name="Jonas Bøgvad" userId="3ccd7f20-6c69-4d4e-9e13-bfb9a34adc45" providerId="ADAL" clId="{A78CD63F-0891-40C3-97BE-8BF45596D16B}" dt="2026-07-01T17:57:17.774" v="362" actId="571"/>
          <ac:spMkLst>
            <pc:docMk/>
            <pc:sldMk cId="0" sldId="260"/>
            <ac:spMk id="48" creationId="{42EF8C53-F6E3-DE44-453A-C99993883B51}"/>
          </ac:spMkLst>
        </pc:spChg>
        <pc:spChg chg="add mod">
          <ac:chgData name="Jonas Bøgvad" userId="3ccd7f20-6c69-4d4e-9e13-bfb9a34adc45" providerId="ADAL" clId="{A78CD63F-0891-40C3-97BE-8BF45596D16B}" dt="2026-07-01T17:57:52.014" v="370" actId="1076"/>
          <ac:spMkLst>
            <pc:docMk/>
            <pc:sldMk cId="0" sldId="260"/>
            <ac:spMk id="50" creationId="{3DA9CDC2-12EE-D030-481E-C35F3C259E26}"/>
          </ac:spMkLst>
        </pc:spChg>
        <pc:spChg chg="add mod">
          <ac:chgData name="Jonas Bøgvad" userId="3ccd7f20-6c69-4d4e-9e13-bfb9a34adc45" providerId="ADAL" clId="{A78CD63F-0891-40C3-97BE-8BF45596D16B}" dt="2026-07-01T17:58:08.518" v="379" actId="1076"/>
          <ac:spMkLst>
            <pc:docMk/>
            <pc:sldMk cId="0" sldId="260"/>
            <ac:spMk id="52" creationId="{9409B3F3-E3C9-CDCF-E54A-399CC481065B}"/>
          </ac:spMkLst>
        </pc:spChg>
        <pc:picChg chg="add del">
          <ac:chgData name="Jonas Bøgvad" userId="3ccd7f20-6c69-4d4e-9e13-bfb9a34adc45" providerId="ADAL" clId="{A78CD63F-0891-40C3-97BE-8BF45596D16B}" dt="2026-07-01T17:58:31.587" v="398" actId="478"/>
          <ac:picMkLst>
            <pc:docMk/>
            <pc:sldMk cId="0" sldId="260"/>
            <ac:picMk id="2" creationId="{00000000-0000-0000-0000-000000000000}"/>
          </ac:picMkLst>
        </pc:picChg>
        <pc:picChg chg="del">
          <ac:chgData name="Jonas Bøgvad" userId="3ccd7f20-6c69-4d4e-9e13-bfb9a34adc45" providerId="ADAL" clId="{A78CD63F-0891-40C3-97BE-8BF45596D16B}" dt="2026-07-01T17:58:32.981" v="399" actId="478"/>
          <ac:picMkLst>
            <pc:docMk/>
            <pc:sldMk cId="0" sldId="260"/>
            <ac:picMk id="37" creationId="{00000000-0000-0000-0000-000000000000}"/>
          </ac:picMkLst>
        </pc:picChg>
      </pc:sldChg>
      <pc:sldChg chg="mod modShow">
        <pc:chgData name="Jonas Bøgvad" userId="3ccd7f20-6c69-4d4e-9e13-bfb9a34adc45" providerId="ADAL" clId="{A78CD63F-0891-40C3-97BE-8BF45596D16B}" dt="2026-07-01T17:36:07.825" v="13" actId="729"/>
        <pc:sldMkLst>
          <pc:docMk/>
          <pc:sldMk cId="0" sldId="261"/>
        </pc:sldMkLst>
      </pc:sldChg>
      <pc:sldChg chg="modNotesTx">
        <pc:chgData name="Jonas Bøgvad" userId="3ccd7f20-6c69-4d4e-9e13-bfb9a34adc45" providerId="ADAL" clId="{A78CD63F-0891-40C3-97BE-8BF45596D16B}" dt="2026-07-01T17:36:42.694" v="28" actId="20577"/>
        <pc:sldMkLst>
          <pc:docMk/>
          <pc:sldMk cId="0" sldId="263"/>
        </pc:sldMkLst>
      </pc:sldChg>
      <pc:sldChg chg="modSp modNotesTx">
        <pc:chgData name="Jonas Bøgvad" userId="3ccd7f20-6c69-4d4e-9e13-bfb9a34adc45" providerId="ADAL" clId="{A78CD63F-0891-40C3-97BE-8BF45596D16B}" dt="2026-07-01T17:40:22.508" v="62"/>
        <pc:sldMkLst>
          <pc:docMk/>
          <pc:sldMk cId="0" sldId="264"/>
        </pc:sldMkLst>
        <pc:spChg chg="mod">
          <ac:chgData name="Jonas Bøgvad" userId="3ccd7f20-6c69-4d4e-9e13-bfb9a34adc45" providerId="ADAL" clId="{A78CD63F-0891-40C3-97BE-8BF45596D16B}" dt="2026-07-01T17:40:22.508" v="62"/>
          <ac:spMkLst>
            <pc:docMk/>
            <pc:sldMk cId="0" sldId="264"/>
            <ac:spMk id="9" creationId="{00000000-0000-0000-0000-000000000000}"/>
          </ac:spMkLst>
        </pc:spChg>
      </pc:sldChg>
      <pc:sldChg chg="ord">
        <pc:chgData name="Jonas Bøgvad" userId="3ccd7f20-6c69-4d4e-9e13-bfb9a34adc45" providerId="ADAL" clId="{A78CD63F-0891-40C3-97BE-8BF45596D16B}" dt="2026-07-01T17:48:29.940" v="261"/>
        <pc:sldMkLst>
          <pc:docMk/>
          <pc:sldMk cId="0" sldId="265"/>
        </pc:sldMkLst>
      </pc:sldChg>
      <pc:sldChg chg="modNotesTx">
        <pc:chgData name="Jonas Bøgvad" userId="3ccd7f20-6c69-4d4e-9e13-bfb9a34adc45" providerId="ADAL" clId="{A78CD63F-0891-40C3-97BE-8BF45596D16B}" dt="2026-07-01T17:37:30.746" v="38" actId="20577"/>
        <pc:sldMkLst>
          <pc:docMk/>
          <pc:sldMk cId="0" sldId="266"/>
        </pc:sldMkLst>
      </pc:sldChg>
      <pc:sldChg chg="modNotesTx">
        <pc:chgData name="Jonas Bøgvad" userId="3ccd7f20-6c69-4d4e-9e13-bfb9a34adc45" providerId="ADAL" clId="{A78CD63F-0891-40C3-97BE-8BF45596D16B}" dt="2026-07-01T17:38:34.523" v="54" actId="20577"/>
        <pc:sldMkLst>
          <pc:docMk/>
          <pc:sldMk cId="0" sldId="270"/>
        </pc:sldMkLst>
      </pc:sldChg>
      <pc:sldChg chg="modNotesTx">
        <pc:chgData name="Jonas Bøgvad" userId="3ccd7f20-6c69-4d4e-9e13-bfb9a34adc45" providerId="ADAL" clId="{A78CD63F-0891-40C3-97BE-8BF45596D16B}" dt="2026-07-01T17:38:48.718" v="56" actId="20577"/>
        <pc:sldMkLst>
          <pc:docMk/>
          <pc:sldMk cId="0" sldId="272"/>
        </pc:sldMkLst>
      </pc:sldChg>
      <pc:sldChg chg="modNotesTx">
        <pc:chgData name="Jonas Bøgvad" userId="3ccd7f20-6c69-4d4e-9e13-bfb9a34adc45" providerId="ADAL" clId="{A78CD63F-0891-40C3-97BE-8BF45596D16B}" dt="2026-07-01T17:38:57.538" v="58" actId="20577"/>
        <pc:sldMkLst>
          <pc:docMk/>
          <pc:sldMk cId="0" sldId="274"/>
        </pc:sldMkLst>
      </pc:sldChg>
      <pc:sldChg chg="addSp delSp modSp add mod ord">
        <pc:chgData name="Jonas Bøgvad" userId="3ccd7f20-6c69-4d4e-9e13-bfb9a34adc45" providerId="ADAL" clId="{A78CD63F-0891-40C3-97BE-8BF45596D16B}" dt="2026-07-01T17:59:24.085" v="420" actId="1076"/>
        <pc:sldMkLst>
          <pc:docMk/>
          <pc:sldMk cId="2351321874" sldId="278"/>
        </pc:sldMkLst>
        <pc:spChg chg="mod">
          <ac:chgData name="Jonas Bøgvad" userId="3ccd7f20-6c69-4d4e-9e13-bfb9a34adc45" providerId="ADAL" clId="{A78CD63F-0891-40C3-97BE-8BF45596D16B}" dt="2026-07-01T17:44:24.987" v="162" actId="1076"/>
          <ac:spMkLst>
            <pc:docMk/>
            <pc:sldMk cId="2351321874" sldId="278"/>
            <ac:spMk id="5" creationId="{210C5C5C-18CB-6EA5-6E1D-CBBDD1BE3C63}"/>
          </ac:spMkLst>
        </pc:spChg>
        <pc:spChg chg="del">
          <ac:chgData name="Jonas Bøgvad" userId="3ccd7f20-6c69-4d4e-9e13-bfb9a34adc45" providerId="ADAL" clId="{A78CD63F-0891-40C3-97BE-8BF45596D16B}" dt="2026-07-01T17:41:56.722" v="97" actId="478"/>
          <ac:spMkLst>
            <pc:docMk/>
            <pc:sldMk cId="2351321874" sldId="278"/>
            <ac:spMk id="6" creationId="{6E66E3DD-BE6E-FB8A-4D4F-4B838B099ED1}"/>
          </ac:spMkLst>
        </pc:spChg>
        <pc:spChg chg="mod">
          <ac:chgData name="Jonas Bøgvad" userId="3ccd7f20-6c69-4d4e-9e13-bfb9a34adc45" providerId="ADAL" clId="{A78CD63F-0891-40C3-97BE-8BF45596D16B}" dt="2026-07-01T17:42:59.925" v="117" actId="14100"/>
          <ac:spMkLst>
            <pc:docMk/>
            <pc:sldMk cId="2351321874" sldId="278"/>
            <ac:spMk id="8" creationId="{ABA1F023-1E25-631D-3E48-01C1AB13259E}"/>
          </ac:spMkLst>
        </pc:spChg>
        <pc:spChg chg="mod">
          <ac:chgData name="Jonas Bøgvad" userId="3ccd7f20-6c69-4d4e-9e13-bfb9a34adc45" providerId="ADAL" clId="{A78CD63F-0891-40C3-97BE-8BF45596D16B}" dt="2026-07-01T17:59:22.080" v="419" actId="14100"/>
          <ac:spMkLst>
            <pc:docMk/>
            <pc:sldMk cId="2351321874" sldId="278"/>
            <ac:spMk id="9" creationId="{9F078536-467E-B7F8-7536-64912BDF5FB6}"/>
          </ac:spMkLst>
        </pc:spChg>
        <pc:spChg chg="del">
          <ac:chgData name="Jonas Bøgvad" userId="3ccd7f20-6c69-4d4e-9e13-bfb9a34adc45" providerId="ADAL" clId="{A78CD63F-0891-40C3-97BE-8BF45596D16B}" dt="2026-07-01T17:43:18.990" v="124" actId="478"/>
          <ac:spMkLst>
            <pc:docMk/>
            <pc:sldMk cId="2351321874" sldId="278"/>
            <ac:spMk id="10" creationId="{8B60E03D-FB94-872A-6D93-DC3DB5DB27E2}"/>
          </ac:spMkLst>
        </pc:spChg>
        <pc:spChg chg="add del mod">
          <ac:chgData name="Jonas Bøgvad" userId="3ccd7f20-6c69-4d4e-9e13-bfb9a34adc45" providerId="ADAL" clId="{A78CD63F-0891-40C3-97BE-8BF45596D16B}" dt="2026-07-01T17:59:24.085" v="420" actId="1076"/>
          <ac:spMkLst>
            <pc:docMk/>
            <pc:sldMk cId="2351321874" sldId="278"/>
            <ac:spMk id="12" creationId="{3DA66391-D734-D97B-3D17-C6D6BB756E5C}"/>
          </ac:spMkLst>
        </pc:spChg>
        <pc:spChg chg="del">
          <ac:chgData name="Jonas Bøgvad" userId="3ccd7f20-6c69-4d4e-9e13-bfb9a34adc45" providerId="ADAL" clId="{A78CD63F-0891-40C3-97BE-8BF45596D16B}" dt="2026-07-01T17:43:14.221" v="121" actId="478"/>
          <ac:spMkLst>
            <pc:docMk/>
            <pc:sldMk cId="2351321874" sldId="278"/>
            <ac:spMk id="13" creationId="{A7EAFE6E-4080-9018-27B3-AF9123259A18}"/>
          </ac:spMkLst>
        </pc:spChg>
        <pc:spChg chg="del">
          <ac:chgData name="Jonas Bøgvad" userId="3ccd7f20-6c69-4d4e-9e13-bfb9a34adc45" providerId="ADAL" clId="{A78CD63F-0891-40C3-97BE-8BF45596D16B}" dt="2026-07-01T17:43:09.408" v="120" actId="478"/>
          <ac:spMkLst>
            <pc:docMk/>
            <pc:sldMk cId="2351321874" sldId="278"/>
            <ac:spMk id="14" creationId="{64AE9898-BCEC-4650-687C-E310786E5087}"/>
          </ac:spMkLst>
        </pc:spChg>
        <pc:spChg chg="del mod">
          <ac:chgData name="Jonas Bøgvad" userId="3ccd7f20-6c69-4d4e-9e13-bfb9a34adc45" providerId="ADAL" clId="{A78CD63F-0891-40C3-97BE-8BF45596D16B}" dt="2026-07-01T17:43:17.574" v="123" actId="478"/>
          <ac:spMkLst>
            <pc:docMk/>
            <pc:sldMk cId="2351321874" sldId="278"/>
            <ac:spMk id="16" creationId="{06E71539-2AC6-B053-DAAC-3FFC387D6AFA}"/>
          </ac:spMkLst>
        </pc:spChg>
        <pc:spChg chg="mod">
          <ac:chgData name="Jonas Bøgvad" userId="3ccd7f20-6c69-4d4e-9e13-bfb9a34adc45" providerId="ADAL" clId="{A78CD63F-0891-40C3-97BE-8BF45596D16B}" dt="2026-07-01T17:45:26.646" v="184" actId="1076"/>
          <ac:spMkLst>
            <pc:docMk/>
            <pc:sldMk cId="2351321874" sldId="278"/>
            <ac:spMk id="17" creationId="{F1B8AA0E-E1F8-70C6-E44D-2D1A05C91904}"/>
          </ac:spMkLst>
        </pc:spChg>
        <pc:spChg chg="del">
          <ac:chgData name="Jonas Bøgvad" userId="3ccd7f20-6c69-4d4e-9e13-bfb9a34adc45" providerId="ADAL" clId="{A78CD63F-0891-40C3-97BE-8BF45596D16B}" dt="2026-07-01T17:44:27.695" v="164" actId="478"/>
          <ac:spMkLst>
            <pc:docMk/>
            <pc:sldMk cId="2351321874" sldId="278"/>
            <ac:spMk id="18" creationId="{A82D469D-67B6-9061-20FE-EFEBB9091032}"/>
          </ac:spMkLst>
        </pc:spChg>
        <pc:spChg chg="mod">
          <ac:chgData name="Jonas Bøgvad" userId="3ccd7f20-6c69-4d4e-9e13-bfb9a34adc45" providerId="ADAL" clId="{A78CD63F-0891-40C3-97BE-8BF45596D16B}" dt="2026-07-01T17:45:26.646" v="184" actId="1076"/>
          <ac:spMkLst>
            <pc:docMk/>
            <pc:sldMk cId="2351321874" sldId="278"/>
            <ac:spMk id="20" creationId="{201F74E2-E687-EA67-F0A6-A742D4147537}"/>
          </ac:spMkLst>
        </pc:spChg>
        <pc:spChg chg="add mod">
          <ac:chgData name="Jonas Bøgvad" userId="3ccd7f20-6c69-4d4e-9e13-bfb9a34adc45" providerId="ADAL" clId="{A78CD63F-0891-40C3-97BE-8BF45596D16B}" dt="2026-07-01T17:41:43.271" v="81" actId="571"/>
          <ac:spMkLst>
            <pc:docMk/>
            <pc:sldMk cId="2351321874" sldId="278"/>
            <ac:spMk id="25" creationId="{D92D22E2-AF97-E30B-153E-B7344F5A781A}"/>
          </ac:spMkLst>
        </pc:spChg>
        <pc:spChg chg="add del mod">
          <ac:chgData name="Jonas Bøgvad" userId="3ccd7f20-6c69-4d4e-9e13-bfb9a34adc45" providerId="ADAL" clId="{A78CD63F-0891-40C3-97BE-8BF45596D16B}" dt="2026-07-01T17:41:59.625" v="100" actId="478"/>
          <ac:spMkLst>
            <pc:docMk/>
            <pc:sldMk cId="2351321874" sldId="278"/>
            <ac:spMk id="27" creationId="{428AD80B-2AE7-8ED4-F9F5-51A99DF98A52}"/>
          </ac:spMkLst>
        </pc:spChg>
        <pc:picChg chg="mod">
          <ac:chgData name="Jonas Bøgvad" userId="3ccd7f20-6c69-4d4e-9e13-bfb9a34adc45" providerId="ADAL" clId="{A78CD63F-0891-40C3-97BE-8BF45596D16B}" dt="2026-07-01T17:45:18.066" v="183" actId="1076"/>
          <ac:picMkLst>
            <pc:docMk/>
            <pc:sldMk cId="2351321874" sldId="278"/>
            <ac:picMk id="2" creationId="{9AB1ED2C-004E-4C69-31D2-45D7F7B568A2}"/>
          </ac:picMkLst>
        </pc:picChg>
        <pc:picChg chg="del mod">
          <ac:chgData name="Jonas Bøgvad" userId="3ccd7f20-6c69-4d4e-9e13-bfb9a34adc45" providerId="ADAL" clId="{A78CD63F-0891-40C3-97BE-8BF45596D16B}" dt="2026-07-01T17:41:55.237" v="96" actId="478"/>
          <ac:picMkLst>
            <pc:docMk/>
            <pc:sldMk cId="2351321874" sldId="278"/>
            <ac:picMk id="7" creationId="{A150CCF3-114E-584B-1E97-754568509B81}"/>
          </ac:picMkLst>
        </pc:picChg>
        <pc:picChg chg="del mod">
          <ac:chgData name="Jonas Bøgvad" userId="3ccd7f20-6c69-4d4e-9e13-bfb9a34adc45" providerId="ADAL" clId="{A78CD63F-0891-40C3-97BE-8BF45596D16B}" dt="2026-07-01T17:43:20.273" v="126" actId="478"/>
          <ac:picMkLst>
            <pc:docMk/>
            <pc:sldMk cId="2351321874" sldId="278"/>
            <ac:picMk id="11" creationId="{3A1B755A-6517-B5F1-B4D6-C4BA64058A3B}"/>
          </ac:picMkLst>
        </pc:picChg>
        <pc:picChg chg="del">
          <ac:chgData name="Jonas Bøgvad" userId="3ccd7f20-6c69-4d4e-9e13-bfb9a34adc45" providerId="ADAL" clId="{A78CD63F-0891-40C3-97BE-8BF45596D16B}" dt="2026-07-01T17:43:08.777" v="119" actId="478"/>
          <ac:picMkLst>
            <pc:docMk/>
            <pc:sldMk cId="2351321874" sldId="278"/>
            <ac:picMk id="15" creationId="{6F9C77DA-2F4D-3C2A-1ABF-5895A1338F2D}"/>
          </ac:picMkLst>
        </pc:picChg>
        <pc:picChg chg="del">
          <ac:chgData name="Jonas Bøgvad" userId="3ccd7f20-6c69-4d4e-9e13-bfb9a34adc45" providerId="ADAL" clId="{A78CD63F-0891-40C3-97BE-8BF45596D16B}" dt="2026-07-01T17:44:27.268" v="163" actId="478"/>
          <ac:picMkLst>
            <pc:docMk/>
            <pc:sldMk cId="2351321874" sldId="278"/>
            <ac:picMk id="19" creationId="{5FC1472D-4E5C-22BA-B62A-E9369797E83D}"/>
          </ac:picMkLst>
        </pc:picChg>
      </pc:sldChg>
      <pc:sldChg chg="new del">
        <pc:chgData name="Jonas Bøgvad" userId="3ccd7f20-6c69-4d4e-9e13-bfb9a34adc45" providerId="ADAL" clId="{A78CD63F-0891-40C3-97BE-8BF45596D16B}" dt="2026-07-01T17:40:38.561" v="64" actId="47"/>
        <pc:sldMkLst>
          <pc:docMk/>
          <pc:sldMk cId="4160668586" sldId="278"/>
        </pc:sldMkLst>
      </pc:sldChg>
      <pc:sldChg chg="new del">
        <pc:chgData name="Jonas Bøgvad" userId="3ccd7f20-6c69-4d4e-9e13-bfb9a34adc45" providerId="ADAL" clId="{A78CD63F-0891-40C3-97BE-8BF45596D16B}" dt="2026-07-01T17:45:55.555" v="190" actId="47"/>
        <pc:sldMkLst>
          <pc:docMk/>
          <pc:sldMk cId="944275465" sldId="279"/>
        </pc:sldMkLst>
      </pc:sldChg>
      <pc:sldChg chg="addSp delSp modSp add mod modAnim">
        <pc:chgData name="Jonas Bøgvad" userId="3ccd7f20-6c69-4d4e-9e13-bfb9a34adc45" providerId="ADAL" clId="{A78CD63F-0891-40C3-97BE-8BF45596D16B}" dt="2026-07-01T17:47:58.623" v="234"/>
        <pc:sldMkLst>
          <pc:docMk/>
          <pc:sldMk cId="2450885664" sldId="279"/>
        </pc:sldMkLst>
        <pc:spChg chg="mod">
          <ac:chgData name="Jonas Bøgvad" userId="3ccd7f20-6c69-4d4e-9e13-bfb9a34adc45" providerId="ADAL" clId="{A78CD63F-0891-40C3-97BE-8BF45596D16B}" dt="2026-07-01T17:47:39.005" v="228" actId="20577"/>
          <ac:spMkLst>
            <pc:docMk/>
            <pc:sldMk cId="2450885664" sldId="279"/>
            <ac:spMk id="4" creationId="{80162EA7-43C1-4D1D-3410-B117F4884D17}"/>
          </ac:spMkLst>
        </pc:spChg>
        <pc:spChg chg="del">
          <ac:chgData name="Jonas Bøgvad" userId="3ccd7f20-6c69-4d4e-9e13-bfb9a34adc45" providerId="ADAL" clId="{A78CD63F-0891-40C3-97BE-8BF45596D16B}" dt="2026-07-01T17:46:14.666" v="196" actId="478"/>
          <ac:spMkLst>
            <pc:docMk/>
            <pc:sldMk cId="2450885664" sldId="279"/>
            <ac:spMk id="5" creationId="{C3C28469-28AF-F6DB-F940-63DFD302554A}"/>
          </ac:spMkLst>
        </pc:spChg>
        <pc:spChg chg="del">
          <ac:chgData name="Jonas Bøgvad" userId="3ccd7f20-6c69-4d4e-9e13-bfb9a34adc45" providerId="ADAL" clId="{A78CD63F-0891-40C3-97BE-8BF45596D16B}" dt="2026-07-01T17:46:18.512" v="199" actId="478"/>
          <ac:spMkLst>
            <pc:docMk/>
            <pc:sldMk cId="2450885664" sldId="279"/>
            <ac:spMk id="8" creationId="{8ACC87FD-ECAE-F346-E81C-264091F50F47}"/>
          </ac:spMkLst>
        </pc:spChg>
        <pc:spChg chg="del">
          <ac:chgData name="Jonas Bøgvad" userId="3ccd7f20-6c69-4d4e-9e13-bfb9a34adc45" providerId="ADAL" clId="{A78CD63F-0891-40C3-97BE-8BF45596D16B}" dt="2026-07-01T17:46:10.054" v="194" actId="478"/>
          <ac:spMkLst>
            <pc:docMk/>
            <pc:sldMk cId="2450885664" sldId="279"/>
            <ac:spMk id="9" creationId="{8301735A-4CE3-C19C-42F1-FA9BCBC8B306}"/>
          </ac:spMkLst>
        </pc:spChg>
        <pc:spChg chg="del">
          <ac:chgData name="Jonas Bøgvad" userId="3ccd7f20-6c69-4d4e-9e13-bfb9a34adc45" providerId="ADAL" clId="{A78CD63F-0891-40C3-97BE-8BF45596D16B}" dt="2026-07-01T17:46:13.519" v="195" actId="478"/>
          <ac:spMkLst>
            <pc:docMk/>
            <pc:sldMk cId="2450885664" sldId="279"/>
            <ac:spMk id="12" creationId="{A7E0E5D7-10AB-AD75-67D6-CD17B6E56CC5}"/>
          </ac:spMkLst>
        </pc:spChg>
        <pc:spChg chg="del mod">
          <ac:chgData name="Jonas Bøgvad" userId="3ccd7f20-6c69-4d4e-9e13-bfb9a34adc45" providerId="ADAL" clId="{A78CD63F-0891-40C3-97BE-8BF45596D16B}" dt="2026-07-01T17:47:46.137" v="230" actId="478"/>
          <ac:spMkLst>
            <pc:docMk/>
            <pc:sldMk cId="2450885664" sldId="279"/>
            <ac:spMk id="17" creationId="{A070DC55-49E6-2EDF-B054-BDCB0CA90A2E}"/>
          </ac:spMkLst>
        </pc:spChg>
        <pc:spChg chg="mod">
          <ac:chgData name="Jonas Bøgvad" userId="3ccd7f20-6c69-4d4e-9e13-bfb9a34adc45" providerId="ADAL" clId="{A78CD63F-0891-40C3-97BE-8BF45596D16B}" dt="2026-07-01T17:47:48.504" v="231" actId="1076"/>
          <ac:spMkLst>
            <pc:docMk/>
            <pc:sldMk cId="2450885664" sldId="279"/>
            <ac:spMk id="20" creationId="{11653FDE-1AFB-2F6B-8992-1F363E76B32E}"/>
          </ac:spMkLst>
        </pc:spChg>
        <pc:picChg chg="add del">
          <ac:chgData name="Jonas Bøgvad" userId="3ccd7f20-6c69-4d4e-9e13-bfb9a34adc45" providerId="ADAL" clId="{A78CD63F-0891-40C3-97BE-8BF45596D16B}" dt="2026-07-01T17:46:17.367" v="198" actId="478"/>
          <ac:picMkLst>
            <pc:docMk/>
            <pc:sldMk cId="2450885664" sldId="279"/>
            <ac:picMk id="2" creationId="{7D512C7C-9A75-455D-2D0D-09BEFCCE314A}"/>
          </ac:picMkLst>
        </pc:picChg>
        <pc:picChg chg="add mod">
          <ac:chgData name="Jonas Bøgvad" userId="3ccd7f20-6c69-4d4e-9e13-bfb9a34adc45" providerId="ADAL" clId="{A78CD63F-0891-40C3-97BE-8BF45596D16B}" dt="2026-07-01T17:47:51.435" v="232" actId="1076"/>
          <ac:picMkLst>
            <pc:docMk/>
            <pc:sldMk cId="2450885664" sldId="279"/>
            <ac:picMk id="6" creationId="{8802323D-5B91-2FDA-0A44-61DF8B216CE1}"/>
          </ac:picMkLst>
        </pc:picChg>
        <pc:picChg chg="add mod">
          <ac:chgData name="Jonas Bøgvad" userId="3ccd7f20-6c69-4d4e-9e13-bfb9a34adc45" providerId="ADAL" clId="{A78CD63F-0891-40C3-97BE-8BF45596D16B}" dt="2026-07-01T17:47:57.592" v="233"/>
          <ac:picMkLst>
            <pc:docMk/>
            <pc:sldMk cId="2450885664" sldId="279"/>
            <ac:picMk id="7" creationId="{E166A26D-1D04-88C2-D76D-1C35CCAD32E9}"/>
          </ac:picMkLst>
        </pc:picChg>
      </pc:sldChg>
      <pc:sldChg chg="addSp delSp modSp add mod modAnim">
        <pc:chgData name="Jonas Bøgvad" userId="3ccd7f20-6c69-4d4e-9e13-bfb9a34adc45" providerId="ADAL" clId="{A78CD63F-0891-40C3-97BE-8BF45596D16B}" dt="2026-07-01T17:59:10.891" v="418" actId="1076"/>
        <pc:sldMkLst>
          <pc:docMk/>
          <pc:sldMk cId="1580875723" sldId="280"/>
        </pc:sldMkLst>
        <pc:spChg chg="mod">
          <ac:chgData name="Jonas Bøgvad" userId="3ccd7f20-6c69-4d4e-9e13-bfb9a34adc45" providerId="ADAL" clId="{A78CD63F-0891-40C3-97BE-8BF45596D16B}" dt="2026-07-01T17:48:16.643" v="259" actId="113"/>
          <ac:spMkLst>
            <pc:docMk/>
            <pc:sldMk cId="1580875723" sldId="280"/>
            <ac:spMk id="4" creationId="{FB585709-544B-7B94-C391-CAFE69653320}"/>
          </ac:spMkLst>
        </pc:spChg>
        <pc:spChg chg="del mod">
          <ac:chgData name="Jonas Bøgvad" userId="3ccd7f20-6c69-4d4e-9e13-bfb9a34adc45" providerId="ADAL" clId="{A78CD63F-0891-40C3-97BE-8BF45596D16B}" dt="2026-07-01T17:48:08.542" v="241" actId="478"/>
          <ac:spMkLst>
            <pc:docMk/>
            <pc:sldMk cId="1580875723" sldId="280"/>
            <ac:spMk id="20" creationId="{F329B137-0F92-5739-554D-AB211F9305FB}"/>
          </ac:spMkLst>
        </pc:spChg>
        <pc:picChg chg="add del">
          <ac:chgData name="Jonas Bøgvad" userId="3ccd7f20-6c69-4d4e-9e13-bfb9a34adc45" providerId="ADAL" clId="{A78CD63F-0891-40C3-97BE-8BF45596D16B}" dt="2026-07-01T17:48:06.633" v="240" actId="478"/>
          <ac:picMkLst>
            <pc:docMk/>
            <pc:sldMk cId="1580875723" sldId="280"/>
            <ac:picMk id="2" creationId="{D9D92B19-5B32-1D90-318A-30A4FB2C15D7}"/>
          </ac:picMkLst>
        </pc:picChg>
        <pc:picChg chg="add mod">
          <ac:chgData name="Jonas Bøgvad" userId="3ccd7f20-6c69-4d4e-9e13-bfb9a34adc45" providerId="ADAL" clId="{A78CD63F-0891-40C3-97BE-8BF45596D16B}" dt="2026-07-01T17:59:10.891" v="418" actId="1076"/>
          <ac:picMkLst>
            <pc:docMk/>
            <pc:sldMk cId="1580875723" sldId="280"/>
            <ac:picMk id="5" creationId="{F5C9FEBC-5CA6-B27A-2415-8AEE81670A6D}"/>
          </ac:picMkLst>
        </pc:picChg>
        <pc:picChg chg="del">
          <ac:chgData name="Jonas Bøgvad" userId="3ccd7f20-6c69-4d4e-9e13-bfb9a34adc45" providerId="ADAL" clId="{A78CD63F-0891-40C3-97BE-8BF45596D16B}" dt="2026-07-01T17:48:04.029" v="237" actId="478"/>
          <ac:picMkLst>
            <pc:docMk/>
            <pc:sldMk cId="1580875723" sldId="280"/>
            <ac:picMk id="6" creationId="{5F5BACE8-6A39-7BF3-87FD-C3E40F2C60B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61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entra/fundamentals/whats-new#upcoming-change---migrate-from-microsoft-entra-connect-sync-to-microsoft-entra-cloud-sync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learn.microsoft.com/en-us/defender-xdr/whats-new" TargetMode="External"/><Relationship Id="rId5" Type="http://schemas.openxmlformats.org/officeDocument/2006/relationships/hyperlink" Target="https://techcommunity.microsoft.com/blog/intunecustomersuccess/new-iosipados-visionos-tvos-and-macos-ade-enrollment-policies-experience/4393531" TargetMode="External"/><Relationship Id="rId4" Type="http://schemas.openxmlformats.org/officeDocument/2006/relationships/hyperlink" Target="https://learn.microsoft.com/en-us/intune/app-management/deployment/enterprise-app-management#auto-update-for-enterprise-app-catalog-apps" TargetMode="Externa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Welcome. CloudHour is the Microsoft EMS Community monthly round-table. Today 1 July 2026. Host Jonas Bogvad, co-host Florian Salzmann.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Introduce Florian. Endpoint and security expert at UMB AG, Microsoft MVP. 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u="sng" dirty="0"/>
              <a:t>https://scloud.work/</a:t>
            </a:r>
            <a:endParaRPr lang="da-DK" u="sng" dirty="0"/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u="sng" dirty="0"/>
              <a:t>https://www.linkedin.com/in/fsalzmann/</a:t>
            </a:r>
            <a:endParaRPr lang="en-DK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expectations. A conversation, not a webinar. Brief a topic, then open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Housekeeping. Mute to listen, open mic welcome, use chat for links and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https://learn.microsoft.com/en-us/entra/fundamentals/whats-new#upcoming-change---migrate-from-microsoft-entra-connect-sync-to-microsoft-entra-cloud-sync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hlinkClick r:id="rId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Auto-update EAM: </a:t>
            </a:r>
            <a:r>
              <a:rPr lang="en-US" dirty="0">
                <a:hlinkClick r:id="rId4"/>
              </a:rPr>
              <a:t>https://learn.microsoft.com/en-us/intune/app-management/deployment/enterprise-app-management#auto-update-for-enterprise-app-catalog-apps</a:t>
            </a:r>
            <a:r>
              <a:rPr 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hlinkClick r:id="rId3"/>
            </a:endParaRPr>
          </a:p>
          <a:p>
            <a:r>
              <a:rPr lang="en-US" dirty="0"/>
              <a:t>New Apple Enrollment Policies</a:t>
            </a:r>
          </a:p>
          <a:p>
            <a:r>
              <a:rPr lang="en-US" dirty="0">
                <a:hlinkClick r:id="rId5"/>
              </a:rPr>
              <a:t>https://techcommunity.microsoft.com/blog/intunecustomersuccess/new-iosipados-visionos-tvos-and-macos-ade-enrollment-policies-experience/4393531</a:t>
            </a:r>
            <a:r>
              <a:rPr 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hlinkClick r:id="rId3"/>
            </a:endParaRPr>
          </a:p>
          <a:p>
            <a:endParaRPr lang="en-US" dirty="0"/>
          </a:p>
          <a:p>
            <a:endParaRPr lang="en-US" dirty="0"/>
          </a:p>
          <a:p>
            <a:r>
              <a:rPr dirty="0"/>
              <a:t>MAA on Graph API: https://learn.microsoft.com/en-us/intune/fundamentals/role-based-access-control/multi-admin-approval-graph-api . </a:t>
            </a:r>
            <a:endParaRPr lang="en-US" dirty="0"/>
          </a:p>
          <a:p>
            <a:endParaRPr lang="en-US" dirty="0"/>
          </a:p>
          <a:p>
            <a:r>
              <a:rPr dirty="0"/>
              <a:t>Auto-update EAM: https://learn.microsoft.com/en-us/intune/app-management/deployment/enterprise-app-management#auto-update-for-enterprise-app-catalog-apps . </a:t>
            </a:r>
            <a:endParaRPr lang="en-US" dirty="0"/>
          </a:p>
          <a:p>
            <a:endParaRPr lang="en-US" dirty="0"/>
          </a:p>
          <a:p>
            <a:r>
              <a:rPr lang="en-US" dirty="0"/>
              <a:t>Local AI agent</a:t>
            </a:r>
          </a:p>
          <a:p>
            <a:r>
              <a:rPr lang="en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https://learn.microsoft.com/en-us/defender-xdr/whats-new"/>
              </a:rPr>
              <a:t>https://learn.microsoft.com/en-us/defender-xdr/whats-new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the Microsoft EMS Community server tag in Discord. Join: https://aka.ms/M365EMSDiscord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topics, balanced across Intune, Entra, Defender and Purview, and across Windows, Android and iOS. Mandatory MFA (July 1) is on the radar board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90-day board. Sources: MFA https://learn.microsoft.com/en-us/entra/identity/authentication/concept-mandatory-multifactor-authentication ; </a:t>
            </a:r>
            <a:endParaRPr lang="en-US" dirty="0"/>
          </a:p>
          <a:p>
            <a:endParaRPr lang="en-US" dirty="0"/>
          </a:p>
          <a:p>
            <a:r>
              <a:rPr dirty="0"/>
              <a:t>CA registration https://learn.microsoft.com/en-us/entra/identity/conditional-access/policy-all-users-security-info-registration ; </a:t>
            </a:r>
            <a:endParaRPr lang="en-US" dirty="0"/>
          </a:p>
          <a:p>
            <a:r>
              <a:rPr dirty="0"/>
              <a:t>SSPR https://learn.microsoft.com/en-us/entra/identity/authentication/concept-sspr-howitworks ; </a:t>
            </a:r>
            <a:endParaRPr lang="en-US" dirty="0"/>
          </a:p>
          <a:p>
            <a:endParaRPr lang="en-US" dirty="0"/>
          </a:p>
          <a:p>
            <a:r>
              <a:rPr dirty="0"/>
              <a:t>Connect Sync https://learn.microsoft.com/en-us/entra/fundamentals/whats-new ; </a:t>
            </a:r>
            <a:endParaRPr lang="en-US" dirty="0"/>
          </a:p>
          <a:p>
            <a:endParaRPr lang="en-US" dirty="0"/>
          </a:p>
          <a:p>
            <a:r>
              <a:rPr dirty="0"/>
              <a:t>Secure Boot https://support.microsoft.com/en-us/topic/windows-secure-boot-certificate-expiration-and-ca-updates-7ff40d33-95dc-4c3c-8725-a9b95457578e ; </a:t>
            </a:r>
            <a:endParaRPr lang="en-US" dirty="0"/>
          </a:p>
          <a:p>
            <a:endParaRPr lang="en-US" dirty="0"/>
          </a:p>
          <a:p>
            <a:r>
              <a:rPr dirty="0"/>
              <a:t>Intune </a:t>
            </a:r>
            <a:r>
              <a:rPr dirty="0" err="1"/>
              <a:t>whats</a:t>
            </a:r>
            <a:r>
              <a:rPr dirty="0"/>
              <a:t>-new https://learn.microsoft.com/en-us/intune/intune-service/fundamentals/whats-new ; </a:t>
            </a:r>
            <a:endParaRPr lang="en-US" dirty="0"/>
          </a:p>
          <a:p>
            <a:endParaRPr lang="en-US" dirty="0"/>
          </a:p>
          <a:p>
            <a:r>
              <a:rPr dirty="0"/>
              <a:t>Defender XDR https://learn.microsoft.com/en-us/defender-xdr/whats-new ;</a:t>
            </a:r>
            <a:endParaRPr lang="en-US" dirty="0"/>
          </a:p>
          <a:p>
            <a:endParaRPr lang="en-US" dirty="0"/>
          </a:p>
          <a:p>
            <a:r>
              <a:rPr dirty="0"/>
              <a:t> Copilot https://learn.microsoft.com/en-us/purview/ai-m365-copilot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Multi-Admin Approval (MAA) for Intune. </a:t>
            </a:r>
            <a:endParaRPr lang="en-US" dirty="0"/>
          </a:p>
          <a:p>
            <a:endParaRPr lang="en-US" dirty="0"/>
          </a:p>
          <a:p>
            <a:r>
              <a:rPr dirty="0"/>
              <a:t>The change: MAA now intercepts app-authenticated Graph API calls, not just delegated admin actions. Applies to POST/PATCH/PUT/DELETE on resources protected by an MAA access policy (apps, scripts, config policies, device actions); </a:t>
            </a:r>
            <a:endParaRPr lang="en-US" dirty="0"/>
          </a:p>
          <a:p>
            <a:endParaRPr lang="en-US" dirty="0"/>
          </a:p>
          <a:p>
            <a:r>
              <a:rPr dirty="0"/>
              <a:t>GET is unaffected. Unhandled automation returns the error: Header x-</a:t>
            </a:r>
            <a:r>
              <a:rPr dirty="0" err="1"/>
              <a:t>msft</a:t>
            </a:r>
            <a:r>
              <a:rPr dirty="0"/>
              <a:t>-approval-justification is required. </a:t>
            </a:r>
            <a:endParaRPr lang="en-US" dirty="0"/>
          </a:p>
          <a:p>
            <a:endParaRPr lang="en-US" dirty="0"/>
          </a:p>
          <a:p>
            <a:r>
              <a:rPr dirty="0"/>
              <a:t>Fix: update automation to the approval workflow, or exclude specific apps. </a:t>
            </a:r>
            <a:endParaRPr lang="en-US" dirty="0"/>
          </a:p>
          <a:p>
            <a:endParaRPr lang="en-US" dirty="0"/>
          </a:p>
          <a:p>
            <a:r>
              <a:rPr dirty="0"/>
              <a:t>Sources: https://learn.microsoft.com/en-us/intune/intune-service/fundamentals/multi-admin-approval and https://learn.microsoft.com/en-us/intune/fundamentals/role-based-access-control/multi-admin-approval-graph-api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MC1326253, published May 29 2026. CA policies on the Register security information action now apply during </a:t>
            </a:r>
            <a:r>
              <a:rPr dirty="0" err="1"/>
              <a:t>WHfB</a:t>
            </a:r>
            <a:r>
              <a:rPr dirty="0"/>
              <a:t> and macOS Platform SSO registration. Action: review grant controls, make sure new-device users can satisfy them with a FIDO2 key or Temporary Access Pass, test in report-only. </a:t>
            </a:r>
            <a:endParaRPr lang="en-US" dirty="0"/>
          </a:p>
          <a:p>
            <a:endParaRPr lang="en-US" dirty="0"/>
          </a:p>
          <a:p>
            <a:r>
              <a:rPr dirty="0"/>
              <a:t>Sources: https://learn.microsoft.com/en-us/entra/identity/conditional-access/policy-all-users-security-info-registration and https://mc.merill.net/message/MC1326253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M365 2026 packaging and pricing, effective Jul 1 2026, existing customers at renewal. Price moves: E3 36 to 39, E5 57 to 60, EMS E3 10.60 to 12, EMS E5 16.40 to 18 USD per user per month. Source: https://www.microsoft.com/en-us/licensing/news/2026-m365-packaging-pricing-updates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Endpoint deadlines by platform. Windows Secure Boot: the 2011 KEK (Jun 24) and UEFI CA (Jun 27) already lapsed; the Windows Production PCA 2011 that signs the boot manager expires Oct 19 2026. Deploy the 2023 certs now. </a:t>
            </a:r>
            <a:endParaRPr lang="en-US" dirty="0"/>
          </a:p>
          <a:p>
            <a:endParaRPr lang="en-US" dirty="0"/>
          </a:p>
          <a:p>
            <a:r>
              <a:rPr dirty="0"/>
              <a:t>Defender EDR moves to Microsoft Update (MC1381119). </a:t>
            </a:r>
            <a:endParaRPr lang="en-US" dirty="0"/>
          </a:p>
          <a:p>
            <a:endParaRPr lang="en-US" dirty="0"/>
          </a:p>
          <a:p>
            <a:r>
              <a:rPr dirty="0"/>
              <a:t>Android: Teams cert ends for Android 10/11 devices Sep 3. </a:t>
            </a:r>
            <a:endParaRPr lang="en-US" dirty="0"/>
          </a:p>
          <a:p>
            <a:endParaRPr lang="en-US" dirty="0"/>
          </a:p>
          <a:p>
            <a:r>
              <a:rPr dirty="0"/>
              <a:t>iOS: Defender OS-update notices move to Intune (MC1381122). Intune drops RHEL 8 (Jul) and Ubuntu 22.04 (Aug). </a:t>
            </a:r>
            <a:endParaRPr lang="en-US" dirty="0"/>
          </a:p>
          <a:p>
            <a:endParaRPr lang="en-US" dirty="0"/>
          </a:p>
          <a:p>
            <a:r>
              <a:rPr dirty="0"/>
              <a:t>Sources: </a:t>
            </a:r>
            <a:endParaRPr lang="en-US" dirty="0"/>
          </a:p>
          <a:p>
            <a:endParaRPr lang="en-US" dirty="0"/>
          </a:p>
          <a:p>
            <a:r>
              <a:rPr dirty="0"/>
              <a:t>Secure Boot https://support.microsoft.com/en-us/topic/windows-secure-boot-certificate-expiration-and-ca-updates-7ff40d33-95dc-4c3c-8725-a9b95457578e and https://techcommunity.microsoft.com/blog/windows-itpro-blog/secure-boot-playbook-for-certificates-expiring-in-2026/4469235 ; </a:t>
            </a:r>
            <a:endParaRPr lang="en-US" dirty="0"/>
          </a:p>
          <a:p>
            <a:endParaRPr lang="en-US" dirty="0"/>
          </a:p>
          <a:p>
            <a:r>
              <a:rPr dirty="0"/>
              <a:t>Teams https://learn.microsoft.com/en-us/microsoftteams/devices/android-version-support ; </a:t>
            </a:r>
            <a:endParaRPr lang="en-US" dirty="0"/>
          </a:p>
          <a:p>
            <a:endParaRPr lang="en-US" dirty="0"/>
          </a:p>
          <a:p>
            <a:r>
              <a:rPr dirty="0"/>
              <a:t>Intune https://learn.microsoft.com/en-us/intune/intune-service/fundamentals/whats-new ; </a:t>
            </a:r>
            <a:endParaRPr lang="en-US" dirty="0"/>
          </a:p>
          <a:p>
            <a:endParaRPr lang="en-US" dirty="0"/>
          </a:p>
          <a:p>
            <a:r>
              <a:rPr dirty="0"/>
              <a:t>Apple ADE https://techcommunity.microsoft.com/blog/intunecustomersuccess/new-iosipados-visionos-tvos-and-macos-ade-enrollment-policies-experience/4393531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Two separate things. One, Cloud Sync migration is phased and per-tenant-notified from about July 2026, no single cutoff. Two, the hard deadline: Entra Connect Sync must be v2.5.79.0+ by Sep 30 2026 or sync fails. </a:t>
            </a:r>
            <a:endParaRPr lang="en-US" dirty="0"/>
          </a:p>
          <a:p>
            <a:endParaRPr lang="en-US" dirty="0"/>
          </a:p>
          <a:p>
            <a:r>
              <a:rPr dirty="0"/>
              <a:t>Sources: https://learn.microsoft.com/en-us/entra/fundamentals/whats-new#upcoming-change---migrate-from-microsoft-entra-connect-sync-to-microsoft-entra-cloud-sync and https://learn.microsoft.com/en-us/entra/identity/hybrid/cloud-sync/what-is-cloud-sync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Copilot data lives in the user Exchange mailbox as hidden items. Purview Audit is metadata only; eDiscovery and Content Search return the actual content. DSPM for AI, retention, sensitivity labels and Communication Compliance govern it. </a:t>
            </a:r>
            <a:endParaRPr lang="en-US" dirty="0"/>
          </a:p>
          <a:p>
            <a:endParaRPr lang="en-US" dirty="0"/>
          </a:p>
          <a:p>
            <a:r>
              <a:rPr dirty="0"/>
              <a:t>Sources: https://learn.microsoft.com/en-us/purview/ai-m365-copilot , https://learn.microsoft.com/en-us/purview/audit-copilot , https://learn.microsoft.com/en-us/purview/edisc-search-copilot-data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Answer: Content Search and Microsoft Purview. Copilot interactions are stored in the user Exchange mailbox. Content Search via eDiscovery retrieves the content; Microsoft Purview governs it. Not Azure Data Explorer, Microsoft Private or Microsoft Search. Inspired by an SC-100 renewal assessment. Sources: https://learn.microsoft.com/en-us/purview/ai-m365-copilot and https://learn.microsoft.com/en-us/purview/edisc-search-copilot-data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floor. Capture next month topic ideas in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up. Discord https://aka.ms/M365EMSDiscord and https://www.msems.community/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ozemuller.com/avoid-automation-breaks-with-intune-multi-admin-approval/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2.jp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02920"/>
            <a:ext cx="566928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35024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260">
                <a:solidFill>
                  <a:srgbClr val="F5F2FC"/>
                </a:solidFill>
                <a:latin typeface="Consolas"/>
              </a:rPr>
              <a:t>MICROSOFT EMS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9659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 spc="500">
                <a:solidFill>
                  <a:srgbClr val="22D3EE"/>
                </a:solidFill>
                <a:latin typeface="Consolas"/>
              </a:rPr>
              <a:t>WELCOME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86000"/>
            <a:ext cx="109728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0" b="1" i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CloudHour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41605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>
                <a:solidFill>
                  <a:srgbClr val="F5F2FC"/>
                </a:solidFill>
                <a:latin typeface="Segoe UI"/>
              </a:rPr>
              <a:t>We will start shortly. Grab a drink and pull up a chair.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5029200"/>
            <a:ext cx="27432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501091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spc="100" dirty="0">
                <a:solidFill>
                  <a:srgbClr val="F5F2FC"/>
                </a:solidFill>
                <a:latin typeface="Consolas"/>
              </a:rPr>
              <a:t>WED · 1 JULY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50292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B6AED2"/>
                </a:solidFill>
                <a:latin typeface="Segoe UI"/>
              </a:rPr>
              <a:t>Live round-table  ·  Intune · Entra ID · Defender · Purview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5989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8B83A8"/>
                </a:solidFill>
                <a:latin typeface="Segoe UI"/>
              </a:rPr>
              <a:t>Hosted by </a:t>
            </a:r>
            <a:r>
              <a:rPr sz="1300" b="1" i="0">
                <a:solidFill>
                  <a:srgbClr val="F5F2FC"/>
                </a:solidFill>
                <a:latin typeface="Segoe UI"/>
              </a:rPr>
              <a:t>Jonas Bogvad</a:t>
            </a:r>
            <a:r>
              <a:rPr sz="1300" b="0" i="0">
                <a:solidFill>
                  <a:srgbClr val="8B83A8"/>
                </a:solidFill>
                <a:latin typeface="Segoe UI"/>
              </a:rPr>
              <a:t>   ·   Co-host </a:t>
            </a:r>
            <a:r>
              <a:rPr sz="1300" b="1" i="0">
                <a:solidFill>
                  <a:srgbClr val="F5F2FC"/>
                </a:solidFill>
                <a:latin typeface="Segoe UI"/>
              </a:rPr>
              <a:t>Florian Salzmann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TODAY'S CO-HOST</a:t>
            </a:r>
          </a:p>
        </p:txBody>
      </p:sp>
      <p:sp>
        <p:nvSpPr>
          <p:cNvPr id="4" name="Oval 3"/>
          <p:cNvSpPr/>
          <p:nvPr/>
        </p:nvSpPr>
        <p:spPr>
          <a:xfrm>
            <a:off x="8415223" y="1444752"/>
            <a:ext cx="3282696" cy="3282696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lorian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951" y="1554480"/>
            <a:ext cx="3063240" cy="3063240"/>
          </a:xfrm>
          <a:prstGeom prst="rect">
            <a:avLst/>
          </a:prstGeom>
        </p:spPr>
      </p:pic>
      <p:pic>
        <p:nvPicPr>
          <p:cNvPr id="6" name="Picture 5" descr="mvp-ba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6631" y="3566160"/>
            <a:ext cx="1097280" cy="1097280"/>
          </a:xfrm>
          <a:prstGeom prst="rect">
            <a:avLst/>
          </a:prstGeom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603504" y="1371600"/>
            <a:ext cx="6675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5F2FC"/>
                </a:solidFill>
                <a:latin typeface="Segoe UI Semibold"/>
              </a:rPr>
              <a:t>Florian Salzmann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24028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22D3EE"/>
                </a:solidFill>
                <a:latin typeface="Segoe UI"/>
              </a:rPr>
              <a:t>Endpoint &amp; Security · Leading Expert at UMB 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880360"/>
            <a:ext cx="6400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 i="1">
                <a:solidFill>
                  <a:srgbClr val="B6AED2"/>
                </a:solidFill>
                <a:latin typeface="Segoe UI"/>
              </a:rPr>
              <a:t>“Securing and automating endpoint management should be practical, not overcomplicated. The focus is making modern endpoint and security solutions work reliably in the real world.”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4526280"/>
            <a:ext cx="1485900" cy="42062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4507992"/>
            <a:ext cx="14859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0">
                <a:solidFill>
                  <a:srgbClr val="F5F2FC"/>
                </a:solidFill>
                <a:latin typeface="Segoe UI"/>
              </a:rPr>
              <a:t>Microsoft MVP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90572" y="4526280"/>
            <a:ext cx="2157984" cy="42062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90572" y="4507992"/>
            <a:ext cx="215798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0">
                <a:solidFill>
                  <a:srgbClr val="F5F2FC"/>
                </a:solidFill>
                <a:latin typeface="Segoe UI"/>
              </a:rPr>
              <a:t>Official Contributor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9724" y="4526280"/>
            <a:ext cx="1293876" cy="420624"/>
          </a:xfrm>
          <a:prstGeom prst="roundRect">
            <a:avLst>
              <a:gd name="adj" fmla="val 50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9724" y="4507992"/>
            <a:ext cx="129387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5F2FC"/>
                </a:solidFill>
                <a:latin typeface="Segoe UI"/>
              </a:rPr>
              <a:t>scloud.work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525780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8B83A8"/>
                </a:solidFill>
                <a:latin typeface="Consolas"/>
              </a:rPr>
              <a:t>scloud.work   ·   linkedin.com/in/fsalzmann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594360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8B83A8"/>
                </a:solidFill>
                <a:latin typeface="Segoe UI"/>
              </a:rPr>
              <a:t>Hosted by Jonas Bogvad · Microsoft MVP</a:t>
            </a:r>
          </a:p>
        </p:txBody>
      </p:sp>
      <p:pic>
        <p:nvPicPr>
          <p:cNvPr id="18" name="Picture 17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THE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5F2FC"/>
                </a:solidFill>
                <a:latin typeface="Segoe UI Semibold"/>
              </a:rPr>
              <a:t>What is CloudHour?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6276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B6AED2"/>
                </a:solidFill>
                <a:latin typeface="Segoe UI"/>
              </a:rPr>
              <a:t>A monthly round-table where the community digs into a few key topics together. Live, practical and unscripted.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2514600"/>
            <a:ext cx="3417722" cy="3246120"/>
          </a:xfrm>
          <a:prstGeom prst="roundRect">
            <a:avLst>
              <a:gd name="adj" fmla="val 9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" y="2898648"/>
            <a:ext cx="868680" cy="86868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661" y="3089757"/>
            <a:ext cx="486460" cy="4864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7552" y="3995928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5F2FC"/>
                </a:solidFill>
                <a:latin typeface="Segoe UI Semibold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507992"/>
            <a:ext cx="264962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B6AED2"/>
                </a:solidFill>
                <a:latin typeface="Segoe UI"/>
              </a:rPr>
              <a:t>The EMS stack moves fast. CloudHour keeps the community current on what is changing and what it means in practice.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6986" y="2514600"/>
            <a:ext cx="3417722" cy="3246120"/>
          </a:xfrm>
          <a:prstGeom prst="roundRect">
            <a:avLst>
              <a:gd name="adj" fmla="val 9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71034" y="2898648"/>
            <a:ext cx="868680" cy="86868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2143" y="3089757"/>
            <a:ext cx="486460" cy="4864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71034" y="3995928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5F2FC"/>
                </a:solidFill>
                <a:latin typeface="Segoe UI Semibold"/>
              </a:rPr>
              <a:t>How you benefit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1034" y="4507992"/>
            <a:ext cx="264962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B6AED2"/>
                </a:solidFill>
                <a:latin typeface="Segoe UI"/>
              </a:rPr>
              <a:t>Real-time discussion with hosts and peers. Ask anything, share your take, learn how others run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0468" y="2514600"/>
            <a:ext cx="3417722" cy="3246120"/>
          </a:xfrm>
          <a:prstGeom prst="roundRect">
            <a:avLst>
              <a:gd name="adj" fmla="val 9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54516" y="2898648"/>
            <a:ext cx="868680" cy="86868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megaph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5626" y="3089757"/>
            <a:ext cx="486460" cy="4864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54516" y="3995928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5F2FC"/>
                </a:solidFill>
                <a:latin typeface="Segoe UI Semibold"/>
              </a:rPr>
              <a:t>Shape what is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4516" y="4507992"/>
            <a:ext cx="264962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B6AED2"/>
                </a:solidFill>
                <a:latin typeface="Segoe UI"/>
              </a:rPr>
              <a:t>Bring the topics you care about. The community helps set the agenda for next month.</a:t>
            </a:r>
          </a:p>
        </p:txBody>
      </p:sp>
      <p:pic>
        <p:nvPicPr>
          <p:cNvPr id="21" name="Picture 20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5F2FC"/>
                </a:solidFill>
                <a:latin typeface="Segoe UI Semibold"/>
              </a:rPr>
              <a:t>Before we 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103120"/>
            <a:ext cx="3417722" cy="2514600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7552" y="2468879"/>
            <a:ext cx="841248" cy="84124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ic_o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626" y="2653954"/>
            <a:ext cx="471098" cy="4710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87552" y="3474720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5F2FC"/>
                </a:solidFill>
                <a:latin typeface="Segoe UI Semibold"/>
              </a:rPr>
              <a:t>Prefer to listen?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931920"/>
            <a:ext cx="264962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No pressure to speak. Mute up and enjoy the conversation.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6986" y="2103120"/>
            <a:ext cx="3417722" cy="2514600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71034" y="2468879"/>
            <a:ext cx="841248" cy="841248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108" y="2653954"/>
            <a:ext cx="471098" cy="4710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71034" y="3474720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5F2FC"/>
                </a:solidFill>
                <a:latin typeface="Segoe UI Semibold"/>
              </a:rPr>
              <a:t>Open mic is 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1034" y="3931920"/>
            <a:ext cx="264962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Jump in anytime. This is a chat, not a webinar.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0468" y="2103120"/>
            <a:ext cx="3417722" cy="2514600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54516" y="2468879"/>
            <a:ext cx="841248" cy="84124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h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9591" y="2653954"/>
            <a:ext cx="471098" cy="47109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54516" y="3474720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5F2FC"/>
                </a:solidFill>
                <a:latin typeface="Segoe UI Semibold"/>
              </a:rPr>
              <a:t>Use the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4516" y="3931920"/>
            <a:ext cx="264962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Drop links, questions and hot takes as we 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5074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40">
                <a:solidFill>
                  <a:srgbClr val="8B83A8"/>
                </a:solidFill>
                <a:latin typeface="Consolas"/>
              </a:rPr>
              <a:t>YOU ARE HERE</a:t>
            </a:r>
          </a:p>
        </p:txBody>
      </p:sp>
      <p:pic>
        <p:nvPicPr>
          <p:cNvPr id="21" name="Picture 20" descr="image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5394960"/>
            <a:ext cx="3017520" cy="669653"/>
          </a:xfrm>
          <a:prstGeom prst="roundRect">
            <a:avLst>
              <a:gd name="adj" fmla="val 16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22" name="Picture 21" descr="image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6784" y="5394960"/>
            <a:ext cx="3200400" cy="605901"/>
          </a:xfrm>
          <a:prstGeom prst="roundRect">
            <a:avLst>
              <a:gd name="adj" fmla="val 16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sp>
        <p:nvSpPr>
          <p:cNvPr id="23" name="TextBox 22"/>
          <p:cNvSpPr txBox="1"/>
          <p:nvPr/>
        </p:nvSpPr>
        <p:spPr>
          <a:xfrm>
            <a:off x="7461504" y="5440680"/>
            <a:ext cx="4126687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B6AED2"/>
                </a:solidFill>
                <a:latin typeface="Segoe UI"/>
              </a:rPr>
              <a:t>Mute and unmute live bottom-left in Discord. Open mic just means unmute and talk.</a:t>
            </a:r>
          </a:p>
        </p:txBody>
      </p:sp>
      <p:pic>
        <p:nvPicPr>
          <p:cNvPr id="24" name="Picture 23" descr="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WORTH A BOOKMARK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F5F2FC"/>
                </a:solidFill>
                <a:latin typeface="Segoe UI Semibold"/>
              </a:rPr>
              <a:t>Links to share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828800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" y="2066543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2176272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17904" y="1906412"/>
            <a:ext cx="4212183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1" dirty="0">
                <a:solidFill>
                  <a:srgbClr val="F5F2FC"/>
                </a:solidFill>
                <a:latin typeface="Segoe UI"/>
              </a:rPr>
              <a:t>Connect Sync to Cloud 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39" y="2153413"/>
            <a:ext cx="4212183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800" dirty="0">
                <a:solidFill>
                  <a:srgbClr val="FF2E88"/>
                </a:solidFill>
                <a:latin typeface="Consolas"/>
              </a:rPr>
              <a:t>To support these needs, we’re beginning the transition from Microsoft Entra Connect Sync to the cloud‑native Microsoft Entra Cloud Sync - helping reduce on‑premises complexity while improving security, reliability, and day‑to‑day manageability.</a:t>
            </a:r>
            <a:endParaRPr sz="800" b="0" i="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78727" y="1828800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16471" y="2066543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199" y="2176272"/>
            <a:ext cx="219456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8569" y="1792166"/>
            <a:ext cx="421218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F5F2FC"/>
                </a:solidFill>
                <a:latin typeface="Segoe UI"/>
              </a:rPr>
              <a:t>Multi-Admin Approval on Graph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8568" y="2148666"/>
            <a:ext cx="4212183" cy="484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050" dirty="0">
                <a:solidFill>
                  <a:srgbClr val="8B5CF6"/>
                </a:solidFill>
                <a:latin typeface="Consolas"/>
              </a:rPr>
              <a:t>Multi Admin Approval (MAA) enforces approval workflows on application-authenticated (app-auth) API calls made through the Microsoft Graph API.</a:t>
            </a:r>
            <a:endParaRPr sz="1050" b="0" i="0" dirty="0">
              <a:solidFill>
                <a:srgbClr val="8B5CF6"/>
              </a:solidFill>
              <a:latin typeface="Consola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3504" y="2907791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145535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255263"/>
            <a:ext cx="219456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99616" y="3098476"/>
            <a:ext cx="4212183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DK" b="1" dirty="0">
                <a:solidFill>
                  <a:schemeClr val="bg1">
                    <a:lumMod val="95000"/>
                  </a:schemeClr>
                </a:solidFill>
              </a:rPr>
              <a:t>Assign Azure Role-based access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3355288"/>
            <a:ext cx="4212183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DK" sz="1400" dirty="0">
                <a:solidFill>
                  <a:schemeClr val="bg1">
                    <a:lumMod val="95000"/>
                  </a:schemeClr>
                </a:solidFill>
              </a:rPr>
              <a:t>You can assign access to Azure RBAC roles directly to Access packages and </a:t>
            </a:r>
            <a:r>
              <a:rPr lang="en-DK" sz="1400" dirty="0" err="1">
                <a:solidFill>
                  <a:schemeClr val="bg1">
                    <a:lumMod val="95000"/>
                  </a:schemeClr>
                </a:solidFill>
              </a:rPr>
              <a:t>Catalogs</a:t>
            </a:r>
            <a:r>
              <a:rPr lang="en-DK" sz="1400" dirty="0">
                <a:solidFill>
                  <a:schemeClr val="bg1">
                    <a:lumMod val="95000"/>
                  </a:schemeClr>
                </a:solidFill>
              </a:rPr>
              <a:t>.</a:t>
            </a:r>
            <a:endParaRPr sz="1000" b="0" i="0" dirty="0">
              <a:solidFill>
                <a:schemeClr val="bg1">
                  <a:lumMod val="95000"/>
                </a:schemeClr>
              </a:solidFill>
              <a:latin typeface="Consola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78727" y="2907791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16471" y="3145535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199" y="3255263"/>
            <a:ext cx="219456" cy="2194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74839" y="3054096"/>
            <a:ext cx="421218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F5F2FC"/>
                </a:solidFill>
                <a:latin typeface="Segoe UI"/>
              </a:rPr>
              <a:t>Auto-update Enterprise App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4839" y="3393760"/>
            <a:ext cx="4212183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150" dirty="0">
                <a:solidFill>
                  <a:srgbClr val="FF2E88"/>
                </a:solidFill>
                <a:latin typeface="Consolas"/>
              </a:rPr>
              <a:t>You can automatically keep Enterprise App Catalog apps up to date with Microsoft Intune.</a:t>
            </a:r>
            <a:endParaRPr sz="1150" b="0" i="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03504" y="3986783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1248" y="4224527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334255"/>
            <a:ext cx="219456" cy="2194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90472" y="4032502"/>
            <a:ext cx="421218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F5F2FC"/>
                </a:solidFill>
                <a:latin typeface="Segoe UI"/>
              </a:rPr>
              <a:t>New Apple ADE enrollment policies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9616" y="4403385"/>
            <a:ext cx="4212183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700" dirty="0">
                <a:solidFill>
                  <a:srgbClr val="8B5CF6"/>
                </a:solidFill>
                <a:latin typeface="Consolas"/>
              </a:rPr>
              <a:t>Coming with the 2606 service release (end of June), iOS/iPadOS and macOS automated device enrollment (ADE) profiles will move to a new infrastructure which enables Intune to speed up the delivery of new features.</a:t>
            </a:r>
            <a:endParaRPr sz="700" b="0" i="0" dirty="0">
              <a:solidFill>
                <a:srgbClr val="8B5CF6"/>
              </a:solidFill>
              <a:latin typeface="Consola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78727" y="3986783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Oval 30"/>
          <p:cNvSpPr/>
          <p:nvPr/>
        </p:nvSpPr>
        <p:spPr>
          <a:xfrm>
            <a:off x="6516471" y="4224527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199" y="4334255"/>
            <a:ext cx="219456" cy="219456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278727" y="5065776"/>
            <a:ext cx="5309463" cy="914400"/>
          </a:xfrm>
          <a:prstGeom prst="roundRect">
            <a:avLst>
              <a:gd name="adj" fmla="val 14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516471" y="5303520"/>
            <a:ext cx="438912" cy="438912"/>
          </a:xfrm>
          <a:prstGeom prst="ellipse">
            <a:avLst/>
          </a:prstGeom>
          <a:solidFill>
            <a:srgbClr val="211A40"/>
          </a:solidFill>
          <a:ln w="12700">
            <a:solidFill>
              <a:srgbClr val="34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199" y="5413248"/>
            <a:ext cx="219456" cy="21945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174839" y="5287238"/>
            <a:ext cx="4212183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00" b="1" i="0" dirty="0">
                <a:solidFill>
                  <a:srgbClr val="F5F2FC"/>
                </a:solidFill>
                <a:latin typeface="Segoe UI"/>
              </a:rPr>
              <a:t>Yours?</a:t>
            </a:r>
            <a:endParaRPr sz="1400" b="1" i="0" dirty="0">
              <a:solidFill>
                <a:srgbClr val="F5F2FC"/>
              </a:solidFill>
              <a:latin typeface="Segoe UI"/>
            </a:endParaRPr>
          </a:p>
        </p:txBody>
      </p:sp>
      <p:pic>
        <p:nvPicPr>
          <p:cNvPr id="45" name="Picture 44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A9CDC2-12EE-D030-481E-C35F3C259E26}"/>
              </a:ext>
            </a:extLst>
          </p:cNvPr>
          <p:cNvSpPr txBox="1"/>
          <p:nvPr/>
        </p:nvSpPr>
        <p:spPr>
          <a:xfrm>
            <a:off x="7057734" y="4074651"/>
            <a:ext cx="6174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1800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Local AI agent discovery</a:t>
            </a:r>
            <a:endParaRPr lang="en-DK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409B3F3-E3C9-CDCF-E54A-399CC481065B}"/>
              </a:ext>
            </a:extLst>
          </p:cNvPr>
          <p:cNvSpPr txBox="1"/>
          <p:nvPr/>
        </p:nvSpPr>
        <p:spPr>
          <a:xfrm>
            <a:off x="6999441" y="4381528"/>
            <a:ext cx="366246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1100" dirty="0">
                <a:solidFill>
                  <a:schemeClr val="bg1">
                    <a:lumMod val="95000"/>
                  </a:schemeClr>
                </a:solidFill>
              </a:rPr>
              <a:t>Microsoft Defender now automatically discovers supported local AI agents running on onboarded Windows devices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REP THE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6675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F5F2FC"/>
                </a:solidFill>
                <a:latin typeface="Segoe UI Semibold"/>
              </a:rPr>
              <a:t>Add the MSEC server tag</a:t>
            </a:r>
          </a:p>
        </p:txBody>
      </p:sp>
      <p:sp>
        <p:nvSpPr>
          <p:cNvPr id="5" name="Oval 4"/>
          <p:cNvSpPr/>
          <p:nvPr/>
        </p:nvSpPr>
        <p:spPr>
          <a:xfrm>
            <a:off x="603504" y="1874519"/>
            <a:ext cx="566928" cy="56692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" y="1856231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2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1819655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5F2FC"/>
                </a:solidFill>
                <a:latin typeface="Segoe UI"/>
              </a:rPr>
              <a:t>Open Discord, then your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0744" y="2221991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Click your name bottom-left, then Edit Profile.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53511"/>
            <a:ext cx="566928" cy="56692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2935223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2FC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2898647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5F2FC"/>
                </a:solidFill>
                <a:latin typeface="Segoe UI"/>
              </a:rPr>
              <a:t>Choose Server 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3300983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Pick Microsoft EMS Community from the list.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4032503"/>
            <a:ext cx="566928" cy="56692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" y="4014215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2FC"/>
                </a:solidFill>
                <a:latin typeface="Segoe UI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3977639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5F2FC"/>
                </a:solidFill>
                <a:latin typeface="Segoe UI"/>
              </a:rPr>
              <a:t>Wear it everywhere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744" y="4379975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The MSEC tag shows next to your name across Discord.</a:t>
            </a:r>
          </a:p>
        </p:txBody>
      </p:sp>
      <p:pic>
        <p:nvPicPr>
          <p:cNvPr id="17" name="Picture 16" descr="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783080"/>
            <a:ext cx="3246120" cy="1322697"/>
          </a:xfrm>
          <a:prstGeom prst="roundRect">
            <a:avLst>
              <a:gd name="adj" fmla="val 12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18" name="Picture 17" descr="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246120"/>
            <a:ext cx="3063240" cy="1399683"/>
          </a:xfrm>
          <a:prstGeom prst="roundRect">
            <a:avLst>
              <a:gd name="adj" fmla="val 12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19" name="Picture 18" descr="image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160520"/>
            <a:ext cx="2194560" cy="1803748"/>
          </a:xfrm>
          <a:prstGeom prst="roundRect">
            <a:avLst>
              <a:gd name="adj" fmla="val 12000"/>
            </a:avLst>
          </a:prstGeom>
          <a:ln w="19050">
            <a:solidFill>
              <a:srgbClr val="FF2E88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20" name="Picture 19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5F2FC"/>
                </a:solidFill>
                <a:latin typeface="Segoe UI Semibold"/>
              </a:rPr>
              <a:t>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59105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B6AED2"/>
                </a:solidFill>
                <a:latin typeface="Segoe UI"/>
              </a:rPr>
              <a:t>Six changes hitting your tenant. A quick brief on each, then we open the floor. We will not get to all of them, so pick your battles.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2066543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2" y="2295144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276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2249424"/>
            <a:ext cx="34578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5F2FC"/>
                </a:solidFill>
                <a:latin typeface="Segoe UI"/>
              </a:rPr>
              <a:t>Multi-Admin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596896"/>
            <a:ext cx="345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B6AED2"/>
                </a:solidFill>
                <a:latin typeface="Consolas"/>
              </a:rPr>
              <a:t>Intune · governance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84267" y="2350008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84267" y="2331720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5F2FC"/>
                </a:solidFill>
                <a:latin typeface="Consolas"/>
              </a:rPr>
              <a:t>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108959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4672" y="3337559"/>
            <a:ext cx="457200" cy="45720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31927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3291839"/>
            <a:ext cx="34578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5F2FC"/>
                </a:solidFill>
                <a:latin typeface="Segoe UI"/>
              </a:rPr>
              <a:t>CA at registration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3639311"/>
            <a:ext cx="345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B6AED2"/>
                </a:solidFill>
                <a:latin typeface="Consolas"/>
              </a:rPr>
              <a:t>Entra · WHfB &amp; SSO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84267" y="3392423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4267" y="3374135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5F2FC"/>
                </a:solidFill>
                <a:latin typeface="Consolas"/>
              </a:rPr>
              <a:t>JUL 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4151375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04672" y="43799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3616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334255"/>
            <a:ext cx="34578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5F2FC"/>
                </a:solidFill>
                <a:latin typeface="Segoe UI"/>
              </a:rPr>
              <a:t>Intune Suite repackaging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4681727"/>
            <a:ext cx="345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B6AED2"/>
                </a:solidFill>
                <a:latin typeface="Consolas"/>
              </a:rPr>
              <a:t>Licensing · Intune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84267" y="4434839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84267" y="4416551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5F2FC"/>
                </a:solidFill>
                <a:latin typeface="Consolas"/>
              </a:rPr>
              <a:t>JUL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1587" y="2066543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502755" y="2295144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02755" y="2276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7115" y="2249424"/>
            <a:ext cx="34578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5F2FC"/>
                </a:solidFill>
                <a:latin typeface="Segoe UI"/>
              </a:rPr>
              <a:t>Endpoint platform watch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97115" y="2596896"/>
            <a:ext cx="345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B6AED2"/>
                </a:solidFill>
                <a:latin typeface="Consolas"/>
              </a:rPr>
              <a:t>Win · Android · iOS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82351" y="2350008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82351" y="2331720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5F2FC"/>
                </a:solidFill>
                <a:latin typeface="Consolas"/>
              </a:rPr>
              <a:t>JUN-OCT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1587" y="3108959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02755" y="3337559"/>
            <a:ext cx="457200" cy="45720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02755" y="331927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7115" y="3291839"/>
            <a:ext cx="34578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5F2FC"/>
                </a:solidFill>
                <a:latin typeface="Segoe UI"/>
              </a:rPr>
              <a:t>Connect to Cloud Sync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97115" y="3639311"/>
            <a:ext cx="345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B6AED2"/>
                </a:solidFill>
                <a:latin typeface="Consolas"/>
              </a:rPr>
              <a:t>Entra · hybrid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582351" y="3392423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582351" y="3374135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5F2FC"/>
                </a:solidFill>
                <a:latin typeface="Consolas"/>
              </a:rPr>
              <a:t>SEP 30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1587" y="4151375"/>
            <a:ext cx="5286603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502755" y="43799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02755" y="43616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97115" y="4334255"/>
            <a:ext cx="34578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5F2FC"/>
                </a:solidFill>
                <a:latin typeface="Segoe UI"/>
              </a:rPr>
              <a:t>Purview + Copilot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7115" y="4681727"/>
            <a:ext cx="3457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B6AED2"/>
                </a:solidFill>
                <a:latin typeface="Consolas"/>
              </a:rPr>
              <a:t>Data &amp; AI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82351" y="4434839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582351" y="4416551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5F2FC"/>
                </a:solidFill>
                <a:latin typeface="Consolas"/>
              </a:rPr>
              <a:t>NOW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" y="5285232"/>
            <a:ext cx="1098468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8B83A8"/>
                </a:solidFill>
                <a:latin typeface="Segoe UI"/>
              </a:rPr>
              <a:t>Plus: </a:t>
            </a:r>
            <a:r>
              <a:rPr sz="1300" b="0" i="0">
                <a:solidFill>
                  <a:srgbClr val="B6AED2"/>
                </a:solidFill>
                <a:latin typeface="Segoe UI"/>
              </a:rPr>
              <a:t>topic from the crowd. Open floor, bring your own.</a:t>
            </a:r>
          </a:p>
        </p:txBody>
      </p:sp>
      <p:pic>
        <p:nvPicPr>
          <p:cNvPr id="49" name="Picture 48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500" b="1" i="0">
                <a:solidFill>
                  <a:srgbClr val="F5F2FC"/>
                </a:solidFill>
                <a:latin typeface="Segoe UI Semibold"/>
              </a:rPr>
              <a:t>On the radar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755648"/>
            <a:ext cx="3417722" cy="4498848"/>
          </a:xfrm>
          <a:prstGeom prst="roundRect">
            <a:avLst>
              <a:gd name="adj" fmla="val 7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" y="1938528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057400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89888" y="1938528"/>
            <a:ext cx="250332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50">
                <a:solidFill>
                  <a:srgbClr val="F5F2FC"/>
                </a:solidFill>
                <a:latin typeface="Consolas"/>
              </a:rPr>
              <a:t>IDENTITY &amp;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70048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FF2E88"/>
                </a:solidFill>
                <a:latin typeface="Consolas"/>
              </a:rPr>
              <a:t>JUL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944368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Mandatory MFA Phase 2 postponement 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557015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FF2E88"/>
                </a:solidFill>
                <a:latin typeface="Consolas"/>
              </a:rPr>
              <a:t>JUL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831335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CA enforced at WHfB / Platform SSO sign-up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443983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C026D3"/>
                </a:solidFill>
                <a:latin typeface="Consolas"/>
              </a:rPr>
              <a:t>SEP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718303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SSPR needs registered methods, campaign Jul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5330951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8B5CF6"/>
                </a:solidFill>
                <a:latin typeface="Consolas"/>
              </a:rPr>
              <a:t>SEP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605271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Connect Sync v2.5.79.0 or sync stops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6986" y="1755648"/>
            <a:ext cx="3417722" cy="4498848"/>
          </a:xfrm>
          <a:prstGeom prst="roundRect">
            <a:avLst>
              <a:gd name="adj" fmla="val 7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24730" y="1938528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602" y="2057400"/>
            <a:ext cx="219456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73370" y="1938528"/>
            <a:ext cx="250332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50">
                <a:solidFill>
                  <a:srgbClr val="F5F2FC"/>
                </a:solidFill>
                <a:latin typeface="Consolas"/>
              </a:rPr>
              <a:t>ENDPOINTS WIN/DROID/iOS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3018" y="2670048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FF2E88"/>
                </a:solidFill>
                <a:latin typeface="Consolas"/>
              </a:rPr>
              <a:t>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3018" y="2944368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Secure Boot: deploy 2023 certs, PCA 2011 lapses Oct 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3018" y="3557015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8B5CF6"/>
                </a:solidFill>
                <a:latin typeface="Consolas"/>
              </a:rPr>
              <a:t>JUL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3018" y="3831335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Defender EDR updates move to Microsoft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3018" y="4443983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3B82F6"/>
                </a:solidFill>
                <a:latin typeface="Consolas"/>
              </a:rPr>
              <a:t>JUL/AUG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3018" y="4718303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Intune drops RHEL 8, then Ubuntu 22.04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3018" y="5330951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06B6D4"/>
                </a:solidFill>
                <a:latin typeface="Consolas"/>
              </a:rPr>
              <a:t>SEP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3018" y="5605271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Teams cert ends for Android 10 / 11 devices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70468" y="1755648"/>
            <a:ext cx="3417722" cy="4498848"/>
          </a:xfrm>
          <a:prstGeom prst="roundRect">
            <a:avLst>
              <a:gd name="adj" fmla="val 7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408212" y="1938528"/>
            <a:ext cx="457200" cy="45720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7084" y="2057400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956852" y="1938528"/>
            <a:ext cx="250332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50">
                <a:solidFill>
                  <a:srgbClr val="F5F2FC"/>
                </a:solidFill>
                <a:latin typeface="Consolas"/>
              </a:rPr>
              <a:t>DEFENDER &amp;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6500" y="2670048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8B5CF6"/>
                </a:solidFill>
                <a:latin typeface="Consolas"/>
              </a:rPr>
              <a:t>JUL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6500" y="2944368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AIAgentsInfo table retires, use AgentsInfo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6500" y="3557015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3B82F6"/>
                </a:solidFill>
                <a:latin typeface="Consolas"/>
              </a:rPr>
              <a:t>JUL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6500" y="3831335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Defender iOS OS-update notices move to Intune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6500" y="4443983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06B6D4"/>
                </a:solidFill>
                <a:latin typeface="Consolas"/>
              </a:rPr>
              <a:t>AUG 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6500" y="4718303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Legacy Graph Security alerts v1 API retires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26500" y="5330951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22D3EE"/>
                </a:solidFill>
                <a:latin typeface="Consolas"/>
              </a:rPr>
              <a:t>NOW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6500" y="5605271"/>
            <a:ext cx="296052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 i="0">
                <a:solidFill>
                  <a:srgbClr val="B6AED2"/>
                </a:solidFill>
                <a:latin typeface="Segoe UI"/>
              </a:rPr>
              <a:t>Govern Copilot data with Purview</a:t>
            </a:r>
          </a:p>
        </p:txBody>
      </p:sp>
      <p:pic>
        <p:nvPicPr>
          <p:cNvPr id="41" name="Picture 40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TOPIC 1  ·  INTUNE · RBAC ·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5F2FC"/>
                </a:solidFill>
                <a:latin typeface="Segoe UI Semibold"/>
              </a:rPr>
              <a:t>Multi-Admin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8132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Segoe UI Semibold"/>
              </a:rPr>
              <a:t>Now it reaches your automation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276856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624327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 dirty="0">
                <a:solidFill>
                  <a:srgbClr val="B6AED2"/>
                </a:solidFill>
                <a:latin typeface="Segoe UI"/>
              </a:rPr>
              <a:t>A second admin must approve changes to protected Intune resources. It extends the four-eyes principle to everyday admin work.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0954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What changed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557015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MAA now also enforces on app-authenticated Graph API calls. Service principals, app registrations and automation are part of the approval workflow.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3312" y="414223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What it catches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489704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Write operations (POST, PATCH, PUT, DELETE) on protected workloads: apps, scripts, config policies and device actions. Reads (GET) are fine.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k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50749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5422392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It stops a compromised service principal from making high-impact Intune changes without a second approver.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310128" cy="3886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3600000" scaled="1"/>
          </a:gradFill>
          <a:ln>
            <a:noFill/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4323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5F2FC"/>
                </a:solidFill>
                <a:latin typeface="Consolas"/>
              </a:rPr>
              <a:t>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2"/>
            <a:ext cx="2761488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1" i="0">
                <a:solidFill>
                  <a:srgbClr val="F5F2FC"/>
                </a:solidFill>
                <a:latin typeface="Segoe UI Semibold"/>
              </a:rPr>
              <a:t>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259689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F2FC"/>
                </a:solidFill>
                <a:latin typeface="Segoe UI"/>
              </a:rPr>
              <a:t>App-auth Graph calls are in scope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4370832"/>
            <a:ext cx="2578608" cy="1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498848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2E9FF"/>
                </a:solidFill>
                <a:latin typeface="Consolas"/>
              </a:rPr>
              <a:t>WHO IS AFFECTED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818888"/>
            <a:ext cx="25968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BF4FF"/>
                </a:solidFill>
                <a:latin typeface="Segoe UI"/>
              </a:rPr>
              <a:t>Anyone running Intune automation with app-only auth: scripts, runbooks, Logic Apps, third-party tools.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5760720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E9DCFF"/>
                </a:solidFill>
                <a:latin typeface="Segoe UI"/>
              </a:rPr>
              <a:t>Source: Microsoft Learn</a:t>
            </a:r>
          </a:p>
        </p:txBody>
      </p:sp>
      <p:pic>
        <p:nvPicPr>
          <p:cNvPr id="30" name="Picture 29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1  ·  ROUND-TABLE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500" b="1" i="0">
                <a:solidFill>
                  <a:srgbClr val="F5F2FC"/>
                </a:solidFill>
                <a:latin typeface="Segoe UI Semibold"/>
              </a:rPr>
              <a:t>Let us talk: MAA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2461381"/>
            <a:ext cx="325892" cy="3258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0784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Do you use Multi-Admin Approval today? On which workloads (apps, scripts, config)?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9623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2461381"/>
            <a:ext cx="325892" cy="3258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Is your Intune automation app-only? Will it hit the approval wall on write operations?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4345045"/>
            <a:ext cx="325892" cy="3258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00784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How will you find exposure before it breaks? An audit-log sweep, or a check script?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9623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4345045"/>
            <a:ext cx="325892" cy="3258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76007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Approve in the workflow, or exclude the automation app? What is your policy?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392C0-EA65-44C3-3A7C-C64EDA2F5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9AB1ED2C-004E-4C69-31D2-45D7F7B56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FE58EB-826C-77C2-DA55-128860C0E36E}"/>
              </a:ext>
            </a:extLst>
          </p:cNvPr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1  ·  ROUND-TABLE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994120-5FA1-89A5-7E75-3AB81D3DDB80}"/>
              </a:ext>
            </a:extLst>
          </p:cNvPr>
          <p:cNvSpPr txBox="1"/>
          <p:nvPr/>
        </p:nvSpPr>
        <p:spPr>
          <a:xfrm>
            <a:off x="603504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500" b="1" i="0">
                <a:solidFill>
                  <a:srgbClr val="F5F2FC"/>
                </a:solidFill>
                <a:latin typeface="Segoe UI Semibold"/>
              </a:rPr>
              <a:t>Let us talk: MAA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0C5C5C-18CB-6EA5-6E1D-CBBDD1BE3C63}"/>
              </a:ext>
            </a:extLst>
          </p:cNvPr>
          <p:cNvSpPr/>
          <p:nvPr/>
        </p:nvSpPr>
        <p:spPr>
          <a:xfrm>
            <a:off x="479226" y="1535770"/>
            <a:ext cx="5309463" cy="2661748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What it is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A1F023-1E25-631D-3E48-01C1AB13259E}"/>
              </a:ext>
            </a:extLst>
          </p:cNvPr>
          <p:cNvSpPr txBox="1"/>
          <p:nvPr/>
        </p:nvSpPr>
        <p:spPr>
          <a:xfrm>
            <a:off x="1700784" y="1870440"/>
            <a:ext cx="3974438" cy="19466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Multi Admin Approval (MAA) now also applies to app-authenticated Graph API calls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Service principals, app registrations and automation are now part of the approval workflow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Only applies when the targeted Intune workload is protected by an MAA policy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50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F078536-467E-B7F8-7536-64912BDF5FB6}"/>
              </a:ext>
            </a:extLst>
          </p:cNvPr>
          <p:cNvSpPr/>
          <p:nvPr/>
        </p:nvSpPr>
        <p:spPr>
          <a:xfrm>
            <a:off x="6001230" y="1129552"/>
            <a:ext cx="5985862" cy="3007285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What it solves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A66391-D734-D97B-3D17-C6D6BB756E5C}"/>
              </a:ext>
            </a:extLst>
          </p:cNvPr>
          <p:cNvSpPr txBox="1"/>
          <p:nvPr/>
        </p:nvSpPr>
        <p:spPr>
          <a:xfrm>
            <a:off x="7605401" y="1860340"/>
            <a:ext cx="4107373" cy="1477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Extends the four-eyes principle to automation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Prevents a compromised service principal from making high-impact Intune changes without approval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Closes the gap between portal-based administration and API-driven administration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1B8AA0E-E1F8-70C6-E44D-2D1A05C91904}"/>
              </a:ext>
            </a:extLst>
          </p:cNvPr>
          <p:cNvSpPr/>
          <p:nvPr/>
        </p:nvSpPr>
        <p:spPr>
          <a:xfrm>
            <a:off x="4883470" y="4410186"/>
            <a:ext cx="6461145" cy="2297327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What it solves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1F74E2-E687-EA67-F0A6-A742D4147537}"/>
              </a:ext>
            </a:extLst>
          </p:cNvPr>
          <p:cNvSpPr txBox="1"/>
          <p:nvPr/>
        </p:nvSpPr>
        <p:spPr>
          <a:xfrm>
            <a:off x="6505710" y="4477417"/>
            <a:ext cx="4613394" cy="22159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Existing Intune automation using app-only authentication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PowerShell scripts, Azure Automation runbooks, Logic Apps and third-party tools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Write operations (POST, PATCH, PUT, DELETE) against protected workloads such as Apps, Scripts, Configuration Policies and Device Actions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Automation may fail until it is updated for the MAA workflow or explicitly excluded from MAA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4D772F-2D3F-9318-E117-A8BF3DB4F2A6}"/>
              </a:ext>
            </a:extLst>
          </p:cNvPr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C609187F-062F-4460-E3EA-9A4CE341B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5F40805-0C2B-26B2-F561-71F6C2BF5F10}"/>
              </a:ext>
            </a:extLst>
          </p:cNvPr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99E752-C027-3903-7796-7A4DEA4D3DFF}"/>
              </a:ext>
            </a:extLst>
          </p:cNvPr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51321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A52E8-4599-A7BC-F257-40C4E17F7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7D512C7C-9A75-455D-2D0D-09BEFCCE3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8A8480-34D5-752F-902A-E7C0BF161FDB}"/>
              </a:ext>
            </a:extLst>
          </p:cNvPr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1  ·  ROUND-TABLE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162EA7-43C1-4D1D-3410-B117F4884D17}"/>
              </a:ext>
            </a:extLst>
          </p:cNvPr>
          <p:cNvSpPr txBox="1"/>
          <p:nvPr/>
        </p:nvSpPr>
        <p:spPr>
          <a:xfrm>
            <a:off x="603504" y="896112"/>
            <a:ext cx="10515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Nice way to analyze </a:t>
            </a:r>
            <a:endParaRPr lang="en-US" sz="3600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653FDE-1AFB-2F6B-8992-1F363E76B32E}"/>
              </a:ext>
            </a:extLst>
          </p:cNvPr>
          <p:cNvSpPr txBox="1"/>
          <p:nvPr/>
        </p:nvSpPr>
        <p:spPr>
          <a:xfrm>
            <a:off x="3450211" y="2689908"/>
            <a:ext cx="5408637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457200" indent="-457200"/>
            <a:r>
              <a:rPr lang="en-US" sz="16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Don't Let Multi Admin Approval Break Your Intune Automation</a:t>
            </a:r>
            <a:endParaRPr lang="en-US" sz="1600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2FEC01-C3EF-A692-5667-6B115EA64DC1}"/>
              </a:ext>
            </a:extLst>
          </p:cNvPr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F62A8C0D-EF89-5650-001C-9A6263064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0DECD72-7FE8-6601-C953-9236B78A4280}"/>
              </a:ext>
            </a:extLst>
          </p:cNvPr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E947A7-BC91-82CD-52AC-6D42276A77BE}"/>
              </a:ext>
            </a:extLst>
          </p:cNvPr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10</a:t>
            </a:r>
          </a:p>
        </p:txBody>
      </p:sp>
      <p:pic>
        <p:nvPicPr>
          <p:cNvPr id="6" name="Picture 5" descr="A black rectangle with white text&#10;&#10;AI-generated content may be incorrect.">
            <a:extLst>
              <a:ext uri="{FF2B5EF4-FFF2-40B4-BE49-F238E27FC236}">
                <a16:creationId xmlns:a16="http://schemas.microsoft.com/office/drawing/2014/main" id="{8802323D-5B91-2FDA-0A44-61DF8B216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882" y="2876359"/>
            <a:ext cx="9183294" cy="225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885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DB5FF-D4F1-5AF1-5216-DB0EE0AB7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D9D92B19-5B32-1D90-318A-30A4FB2C1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667AED-9055-7C77-8901-AFD7601D56FF}"/>
              </a:ext>
            </a:extLst>
          </p:cNvPr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1  ·  ROUND-TABLE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85709-544B-7B94-C391-CAFE69653320}"/>
              </a:ext>
            </a:extLst>
          </p:cNvPr>
          <p:cNvSpPr txBox="1"/>
          <p:nvPr/>
        </p:nvSpPr>
        <p:spPr>
          <a:xfrm>
            <a:off x="603504" y="896112"/>
            <a:ext cx="10515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What is worse</a:t>
            </a:r>
            <a:endParaRPr lang="en-US" sz="3600" b="1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055C55-A4A2-6384-E363-524DB4B157C5}"/>
              </a:ext>
            </a:extLst>
          </p:cNvPr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540BDB56-6FCE-BB4D-88FB-937207C17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3D394AC-7633-C7D8-3F58-DD0C26712E0C}"/>
              </a:ext>
            </a:extLst>
          </p:cNvPr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876296-0B52-E814-8A74-F2E1677AFE52}"/>
              </a:ext>
            </a:extLst>
          </p:cNvPr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C9FEBC-5CA6-B27A-2415-8AEE81670A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667" y="1669881"/>
            <a:ext cx="5511633" cy="441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87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TOPIC 2  ·  ENTRA ID ·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5F2FC"/>
                </a:solidFill>
                <a:latin typeface="Segoe UI Semibold"/>
              </a:rPr>
              <a:t>CA hits credential registration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8132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Segoe UI Semibold"/>
              </a:rPr>
              <a:t>Windows Hello &amp; macOS Platform SSO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276856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What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624327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CA policies scoped to the Register security information action are now evaluated during WHfB and macOS Platform SSO setup.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0954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Before vs 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557015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These flows already required MFA, but ignored your grant controls like auth strength and trusted locations. Now they enforce them.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3312" y="414223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Who gets blocked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489704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Users who cannot meet the policy during enrollment are blocked from registering passwordless credentials until they can.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alend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50749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5422392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Gradual rollout begins July 6, 2026 and completes for all tenants by July 13, 2026.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310128" cy="3886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3600000" scaled="1"/>
          </a:gradFill>
          <a:ln>
            <a:noFill/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4323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5F2FC"/>
                </a:solidFill>
                <a:latin typeface="Consolas"/>
              </a:rPr>
              <a:t>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2"/>
            <a:ext cx="2761488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1" i="0">
                <a:solidFill>
                  <a:srgbClr val="F5F2FC"/>
                </a:solidFill>
                <a:latin typeface="Segoe UI Semibold"/>
              </a:rPr>
              <a:t>JUL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259689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F2FC"/>
                </a:solidFill>
                <a:latin typeface="Segoe UI"/>
              </a:rPr>
              <a:t>Rollout starts, done Jul 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4370832"/>
            <a:ext cx="2578608" cy="1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498848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2E9FF"/>
                </a:solidFill>
                <a:latin typeface="Consolas"/>
              </a:rPr>
              <a:t>WHO IS AFFECTED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818888"/>
            <a:ext cx="25968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BF4FF"/>
                </a:solidFill>
                <a:latin typeface="Segoe UI"/>
              </a:rPr>
              <a:t>Tenants with CA targeting Register security information, on Windows and macOS.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5760720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E9DCFF"/>
                </a:solidFill>
                <a:latin typeface="Segoe UI"/>
              </a:rPr>
              <a:t>Source: Microsoft Learn</a:t>
            </a:r>
          </a:p>
        </p:txBody>
      </p:sp>
      <p:pic>
        <p:nvPicPr>
          <p:cNvPr id="30" name="Picture 29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2  ·  ROUND-TABLE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500" b="1" i="0">
                <a:solidFill>
                  <a:srgbClr val="F5F2FC"/>
                </a:solidFill>
                <a:latin typeface="Segoe UI Semibold"/>
              </a:rPr>
              <a:t>Let us talk: registration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2461381"/>
            <a:ext cx="325892" cy="3258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0784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Do you have CA policies on the Register security information action today?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9623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2461381"/>
            <a:ext cx="325892" cy="3258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Can a brand-new user satisfy your grant controls before they own any credential? Do you hand out Temporary Access Passes?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4345045"/>
            <a:ext cx="325892" cy="3258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00784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Trusted-location rules during enrollment: helpful, or a trap for remote and new hires?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9623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4345045"/>
            <a:ext cx="325892" cy="3258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76007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Are you set to test in report-only before July 6?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TOPIC 3  ·  LICENSING · INTUNE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5F2FC"/>
                </a:solidFill>
                <a:latin typeface="Segoe UI Semibold"/>
              </a:rPr>
              <a:t>M365 + Intune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8132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Segoe UI Semibold"/>
              </a:rPr>
              <a:t>Repackaging &amp; price rise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ack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276856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What is changing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624327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M365 plans get new bundled value and a price increase. Existing customers stay on current pricing until renewal.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0954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E3 now includes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557015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Defender for Office 365 P1, Intune Remote Help, Intune Advanced Analytics and Intune Plan 2.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3312" y="414223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E5 adds on 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489704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Security Copilot, Endpoint Privilege Management, Cloud PKI and Enterprise App Management.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alend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50749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5422392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30 days of Message Center notice before features land. Rollout completes by August 1, 2026.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310128" cy="3886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3600000" scaled="1"/>
          </a:gradFill>
          <a:ln>
            <a:noFill/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4323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5F2FC"/>
                </a:solidFill>
                <a:latin typeface="Consolas"/>
              </a:rPr>
              <a:t>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2"/>
            <a:ext cx="2761488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1" i="0">
                <a:solidFill>
                  <a:srgbClr val="F5F2FC"/>
                </a:solidFill>
                <a:latin typeface="Segoe UI Semibold"/>
              </a:rPr>
              <a:t>JUL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259689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F2FC"/>
                </a:solidFill>
                <a:latin typeface="Segoe UI"/>
              </a:rPr>
              <a:t>Prices up, features by Aug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4370832"/>
            <a:ext cx="2578608" cy="1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498848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2E9FF"/>
                </a:solidFill>
                <a:latin typeface="Consolas"/>
              </a:rPr>
              <a:t>WHO IS AFFECTED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818888"/>
            <a:ext cx="25968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BF4FF"/>
                </a:solidFill>
                <a:latin typeface="Segoe UI"/>
              </a:rPr>
              <a:t>All M365 and EMS E3 and E5 tenants, especially today's Intune Suite add-on customers.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5760720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E9DCFF"/>
                </a:solidFill>
                <a:latin typeface="Segoe UI"/>
              </a:rPr>
              <a:t>Source: Microsoft Learn</a:t>
            </a:r>
          </a:p>
        </p:txBody>
      </p:sp>
      <p:pic>
        <p:nvPicPr>
          <p:cNvPr id="30" name="Picture 29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3  ·  ROUND-TABLE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500" b="1" i="0">
                <a:solidFill>
                  <a:srgbClr val="F5F2FC"/>
                </a:solidFill>
                <a:latin typeface="Segoe UI Semibold"/>
              </a:rPr>
              <a:t>Let us talk: licensing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2461381"/>
            <a:ext cx="325892" cy="3258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0784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Already paying for Remote Help, EPM or Advanced Analytics as add-ons? Time to consolidate?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9623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2461381"/>
            <a:ext cx="325892" cy="3258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Of the newly bundled features, what do you switch on first?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4345045"/>
            <a:ext cx="325892" cy="3258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00784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Does this change your add-on or renewal strategy this year?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9623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4345045"/>
            <a:ext cx="325892" cy="3258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76007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GCC and sovereign tenants get features later. Does that affect your rollout?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TOPIC 4  ·  INTUNE · DEFENDER ·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5F2FC"/>
                </a:solidFill>
                <a:latin typeface="Segoe UI Semibold"/>
              </a:rPr>
              <a:t>Endpoint platform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8132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Segoe UI Semibold"/>
              </a:rPr>
              <a:t>Windows, Android and iOS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276856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Windows: Secure Boot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624327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The first 2011 certs lapsed in late June. The boot-manager cert follows Oct 19. Deploy the 2023 certs now via Intune or Windows Update.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0954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Windows: Defender EDR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557015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EDR updates split from the monthly bundle and move to Microsoft Update. Allow other Microsoft products in your update rings, see MC1381119.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eo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3312" y="414223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Android: Teams devices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489704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Teams certification ends for Android 10 and 11 certified hardware on Sep 3, 2026. Plan firmware updates or replacements.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50749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iOS: Defender shifts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5422392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Defender for iOS retires the user trust-this-network control in June and in-app OS-update notices in July, MC1381122. Compliance moves to Intune.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310128" cy="3886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3600000" scaled="1"/>
          </a:gradFill>
          <a:ln>
            <a:noFill/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4323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5F2FC"/>
                </a:solidFill>
                <a:latin typeface="Consolas"/>
              </a:rPr>
              <a:t>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2"/>
            <a:ext cx="2761488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F5F2FC"/>
                </a:solidFill>
                <a:latin typeface="Segoe UI Semibold"/>
              </a:rPr>
              <a:t>JUN-OCT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259689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F2FC"/>
                </a:solidFill>
                <a:latin typeface="Segoe UI"/>
              </a:rPr>
              <a:t>Three platforms, one quarter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4370832"/>
            <a:ext cx="2578608" cy="1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498848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2E9FF"/>
                </a:solidFill>
                <a:latin typeface="Consolas"/>
              </a:rPr>
              <a:t>WHO IS AFFECTED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818888"/>
            <a:ext cx="25968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BF4FF"/>
                </a:solidFill>
                <a:latin typeface="Segoe UI"/>
              </a:rPr>
              <a:t>Anyone managing Windows, Android or iOS endpoints.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5760720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E9DCFF"/>
                </a:solidFill>
                <a:latin typeface="Segoe UI"/>
              </a:rPr>
              <a:t>Source: Microsoft Learn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4  ·  ROUND-TABLE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500" b="1" i="0">
                <a:solidFill>
                  <a:srgbClr val="F5F2FC"/>
                </a:solidFill>
                <a:latin typeface="Segoe UI Semibold"/>
              </a:rPr>
              <a:t>Let us talk: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2461381"/>
            <a:ext cx="325892" cy="3258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0784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Secure Boot: do you know how many devices still need the 2023 certs, and how are you tracking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9623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2461381"/>
            <a:ext cx="325892" cy="3258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Defender EDR moving to Microsoft Update: are your WSUS or update-ring settings ready?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4345045"/>
            <a:ext cx="325892" cy="3258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00784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Still running Teams-certified Android 10 or 11 hardware? What is the refresh plan?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9623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4345045"/>
            <a:ext cx="325892" cy="3258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76007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Are your Intune OS-compliance policies ready to own update enforcement on iOS?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TOPIC 5  ·  ENTRA ID · HYBRID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5F2FC"/>
                </a:solidFill>
                <a:latin typeface="Segoe UI Semibold"/>
              </a:rPr>
              <a:t>Connect Sync to Cloud 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8132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Segoe UI Semibold"/>
              </a:rPr>
              <a:t>The move begins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276856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What is happening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624327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From July 2026, Microsoft begins phased notifications via Message Center, Connect Health and email to move tenants toward Cloud Sync.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0954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Why Cloud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557015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Recommended default for new and eligible deployments: lightweight agents, built-in high availability, no SQL server.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3312" y="414223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The hard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489704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Connect Sync must be on v2.5.79.0 or later by Sep 30, 2026 or sync stops. This is a version cut-off, not a Cloud Sync deadline.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50749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No final EOL yet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5422392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Connect Sync stays for scenarios Cloud Sync does not cover. It retires only after feature parity.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310128" cy="3886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3600000" scaled="1"/>
          </a:gradFill>
          <a:ln>
            <a:noFill/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4323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5F2FC"/>
                </a:solidFill>
                <a:latin typeface="Consolas"/>
              </a:rPr>
              <a:t>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2"/>
            <a:ext cx="2761488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1" i="0">
                <a:solidFill>
                  <a:srgbClr val="F5F2FC"/>
                </a:solidFill>
                <a:latin typeface="Segoe UI Semibold"/>
              </a:rPr>
              <a:t>SEP 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259689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F2FC"/>
                </a:solidFill>
                <a:latin typeface="Segoe UI"/>
              </a:rPr>
              <a:t>Connect Sync v2.5.79.0+ or sync stops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4370832"/>
            <a:ext cx="2578608" cy="1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498848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2E9FF"/>
                </a:solidFill>
                <a:latin typeface="Consolas"/>
              </a:rPr>
              <a:t>WHO IS AFFECTED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818888"/>
            <a:ext cx="25968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BF4FF"/>
                </a:solidFill>
                <a:latin typeface="Segoe UI"/>
              </a:rPr>
              <a:t>Hybrid identity admins still running Entra Connect Sync.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5760720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E9DCFF"/>
                </a:solidFill>
                <a:latin typeface="Segoe UI"/>
              </a:rPr>
              <a:t>Source: Microsoft Learn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5  ·  ROUND-TABLE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500" b="1" i="0">
                <a:solidFill>
                  <a:srgbClr val="F5F2FC"/>
                </a:solidFill>
                <a:latin typeface="Segoe UI Semibold"/>
              </a:rPr>
              <a:t>Let us talk: 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2461381"/>
            <a:ext cx="325892" cy="3258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0784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Connect Sync or Cloud Sync today, and what keeps you on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011680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9623" y="2322576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2461381"/>
            <a:ext cx="325892" cy="3258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286000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Run the Cloud Sync readiness check: what blocks you, device sync, big groups, filtering?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05" y="4345045"/>
            <a:ext cx="325892" cy="3258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00784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Are you on Connect Sync v2.5.79.0+ before Sep 30?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3895344"/>
            <a:ext cx="5309463" cy="1627632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9623" y="4206240"/>
            <a:ext cx="603504" cy="60350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29" y="4345045"/>
            <a:ext cx="325892" cy="3258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76007" y="4169663"/>
            <a:ext cx="3937863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0" i="0">
                <a:solidFill>
                  <a:srgbClr val="F5F2FC"/>
                </a:solidFill>
                <a:latin typeface="Segoe UI"/>
              </a:rPr>
              <a:t>Anyone run both side by side during migration? How did it go?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TOPIC 6  ·  PURVIEW · DATA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5F2FC"/>
                </a:solidFill>
                <a:latin typeface="Segoe UI Semibold"/>
              </a:rPr>
              <a:t>Purview +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8132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  <a:latin typeface="Segoe UI Semibold"/>
              </a:rPr>
              <a:t>Where does your AI data live?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276856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Where it lives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624327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Every Copilot prompt and response is stored in the user Exchange Online mailbox as a hidden, message-class item.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320954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Audit vs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557015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Purview Audit logs capture the metadata, who, when and which app. They do not store the prompt or response text.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3312" y="414223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Getting the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489704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To read the actual interaction you use eDiscovery and Content Search against the mailbox, ItemClass IPM.SkypeTeams.Message.Copilot.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50749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F2FC"/>
                </a:solidFill>
                <a:latin typeface="Segoe UI"/>
              </a:rPr>
              <a:t>Govern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5422392"/>
            <a:ext cx="6446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B6AED2"/>
                </a:solidFill>
                <a:latin typeface="Segoe UI"/>
              </a:rPr>
              <a:t>Retention, sensitivity labels, Communication Compliance and DSPM for AI all apply to Copilot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310128" cy="3886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3600000" scaled="1"/>
          </a:gradFill>
          <a:ln>
            <a:noFill/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24323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5F2FC"/>
                </a:solidFill>
                <a:latin typeface="Consolas"/>
              </a:rPr>
              <a:t>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2"/>
            <a:ext cx="2761488" cy="868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1" i="0">
                <a:solidFill>
                  <a:srgbClr val="F5F2FC"/>
                </a:solidFill>
                <a:latin typeface="Segoe UI Semibold"/>
              </a:rPr>
              <a:t>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259689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F2FC"/>
                </a:solidFill>
                <a:latin typeface="Segoe UI"/>
              </a:rPr>
              <a:t>Govern it before you scale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4370832"/>
            <a:ext cx="2578608" cy="1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498848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F2E9FF"/>
                </a:solidFill>
                <a:latin typeface="Consolas"/>
              </a:rPr>
              <a:t>WHO IS AFFECTED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818888"/>
            <a:ext cx="25968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BF4FF"/>
                </a:solidFill>
                <a:latin typeface="Segoe UI"/>
              </a:rPr>
              <a:t>Anyone rolling out Microsoft 365 Copilot.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5760720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E9DCFF"/>
                </a:solidFill>
                <a:latin typeface="Segoe UI"/>
              </a:rPr>
              <a:t>Source: Microsoft Learn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6  ·  COMMUNITY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 dirty="0">
                <a:solidFill>
                  <a:srgbClr val="F5F2FC"/>
                </a:solidFill>
                <a:latin typeface="Segoe UI Semibold"/>
              </a:rPr>
              <a:t>Quick quiz: find the Copilot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783080"/>
            <a:ext cx="10984687" cy="1325880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4984" y="1938528"/>
            <a:ext cx="10161727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550" b="0" i="0">
                <a:solidFill>
                  <a:srgbClr val="F5F2FC"/>
                </a:solidFill>
                <a:latin typeface="Segoe UI"/>
              </a:rPr>
              <a:t>You manage Microsoft 365 and users work with Microsoft 365 Copilot. You need to review Copilot-related data stored by Microsoft 365. </a:t>
            </a:r>
            <a:r>
              <a:rPr sz="1550" b="1" i="0">
                <a:solidFill>
                  <a:srgbClr val="22D3EE"/>
                </a:solidFill>
                <a:latin typeface="Segoe UI"/>
              </a:rPr>
              <a:t>Which two services can you use?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342900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368503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80744" y="3429000"/>
            <a:ext cx="253380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F5F2FC"/>
                </a:solidFill>
                <a:latin typeface="Segoe UI"/>
              </a:rPr>
              <a:t>Content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1746" y="342900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46066" y="368503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48986" y="3429000"/>
            <a:ext cx="253380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F5F2FC"/>
                </a:solidFill>
                <a:latin typeface="Segoe UI"/>
              </a:rPr>
              <a:t>Azure Data Explorer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9988" y="342900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4308" y="368503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17228" y="3429000"/>
            <a:ext cx="253380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F5F2FC"/>
                </a:solidFill>
                <a:latin typeface="Segoe UI"/>
              </a:rPr>
              <a:t>Microsoft Private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443484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77824" y="469087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80744" y="4434840"/>
            <a:ext cx="253380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F5F2FC"/>
                </a:solidFill>
                <a:latin typeface="Segoe UI"/>
              </a:rPr>
              <a:t>Microsoft Purview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1746" y="4434840"/>
            <a:ext cx="3448202" cy="841248"/>
          </a:xfrm>
          <a:prstGeom prst="roundRect">
            <a:avLst>
              <a:gd name="adj" fmla="val 16000"/>
            </a:avLst>
          </a:prstGeom>
          <a:solidFill>
            <a:srgbClr val="211A40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46066" y="4690872"/>
            <a:ext cx="329184" cy="329184"/>
          </a:xfrm>
          <a:prstGeom prst="ellipse">
            <a:avLst/>
          </a:prstGeom>
          <a:noFill/>
          <a:ln w="19050">
            <a:solidFill>
              <a:srgbClr val="8B8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48986" y="4434840"/>
            <a:ext cx="253380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F5F2FC"/>
                </a:solidFill>
                <a:latin typeface="Segoe UI"/>
              </a:rPr>
              <a:t>Microsoft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9988" y="4434840"/>
            <a:ext cx="344820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B6AED2"/>
                </a:solidFill>
                <a:latin typeface="Segoe UI"/>
              </a:rPr>
              <a:t>Vote in chat, then we talk it through. Answer is in the notes.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OPEN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6766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5F2FC"/>
                </a:solidFill>
                <a:latin typeface="Segoe UI Semibold"/>
              </a:rPr>
              <a:t>Topic from the crowd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783080"/>
            <a:ext cx="60350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B6AED2"/>
                </a:solidFill>
                <a:latin typeface="Segoe UI"/>
              </a:rPr>
              <a:t>Your turn.
What is eating your week, what broke this month, and what do you want next month CloudHour to dig into?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3703320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822191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666744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5F2FC"/>
                </a:solidFill>
                <a:latin typeface="Segoe UI"/>
              </a:rPr>
              <a:t>What is your biggest EMS headache right now?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361688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480559"/>
            <a:ext cx="219456" cy="219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61872" y="4325112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5F2FC"/>
                </a:solidFill>
                <a:latin typeface="Segoe UI"/>
              </a:rPr>
              <a:t>A win worth sharing with the room?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" y="5020056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5138928"/>
            <a:ext cx="219456" cy="219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1872" y="498348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5F2FC"/>
                </a:solidFill>
                <a:latin typeface="Segoe UI"/>
              </a:rPr>
              <a:t>A topic for next month?</a:t>
            </a:r>
          </a:p>
        </p:txBody>
      </p:sp>
      <p:pic>
        <p:nvPicPr>
          <p:cNvPr id="15" name="Picture 14" descr="image16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783080"/>
            <a:ext cx="4297680" cy="2864421"/>
          </a:xfrm>
          <a:prstGeom prst="roundRect">
            <a:avLst>
              <a:gd name="adj" fmla="val 6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7315200" y="55321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8B83A8"/>
                </a:solidFill>
                <a:latin typeface="Segoe UI"/>
              </a:rPr>
              <a:t>The floor is yours. Unmute and go.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4864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26464" y="603504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260">
                <a:solidFill>
                  <a:srgbClr val="F5F2FC"/>
                </a:solidFill>
                <a:latin typeface="Consolas"/>
              </a:rPr>
              <a:t>MICROSOFT EMS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28600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0" b="1" i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3749039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F5F2FC"/>
                </a:solidFill>
                <a:latin typeface="Segoe UI"/>
              </a:rPr>
              <a:t>for joining CloudHour. See you next month, and bring a colleague.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4754880"/>
            <a:ext cx="32004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473659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100">
                <a:solidFill>
                  <a:srgbClr val="F5F2FC"/>
                </a:solidFill>
                <a:latin typeface="Consolas"/>
              </a:rPr>
              <a:t>aka.ms/M365EMSDiscord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32504" y="4754880"/>
            <a:ext cx="237744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32504" y="473659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100">
                <a:solidFill>
                  <a:srgbClr val="F5F2FC"/>
                </a:solidFill>
                <a:latin typeface="Consolas"/>
              </a:rPr>
              <a:t>msems.community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126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83A8"/>
                </a:solidFill>
                <a:latin typeface="Segoe UI"/>
              </a:rPr>
              <a:t>Independent and community-run. Not affiliated with, endorsed by, or sponsored by Microsoft. Product names are trademarks of the Microsoft group of companies.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3740</Words>
  <Application>Microsoft Office PowerPoint</Application>
  <PresentationFormat>Widescreen</PresentationFormat>
  <Paragraphs>422</Paragraphs>
  <Slides>25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Jonas Bøgvad</cp:lastModifiedBy>
  <cp:revision>2</cp:revision>
  <dcterms:created xsi:type="dcterms:W3CDTF">2013-01-27T09:14:16Z</dcterms:created>
  <dcterms:modified xsi:type="dcterms:W3CDTF">2026-07-01T18:54:10Z</dcterms:modified>
  <cp:category/>
</cp:coreProperties>
</file>