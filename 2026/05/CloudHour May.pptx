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4"/>
  </p:sldMasterIdLst>
  <p:notesMasterIdLst>
    <p:notesMasterId r:id="rId18"/>
  </p:notesMasterIdLst>
  <p:sldIdLst>
    <p:sldId id="256" r:id="rId5"/>
    <p:sldId id="271" r:id="rId6"/>
    <p:sldId id="257" r:id="rId7"/>
    <p:sldId id="258" r:id="rId8"/>
    <p:sldId id="259" r:id="rId9"/>
    <p:sldId id="260" r:id="rId10"/>
    <p:sldId id="261" r:id="rId11"/>
    <p:sldId id="264" r:id="rId12"/>
    <p:sldId id="272" r:id="rId13"/>
    <p:sldId id="273" r:id="rId14"/>
    <p:sldId id="274" r:id="rId15"/>
    <p:sldId id="270" r:id="rId16"/>
    <p:sldId id="263" r:id="rId17"/>
  </p:sldIdLst>
  <p:sldSz cx="18288000" cy="10287000"/>
  <p:notesSz cx="6858000" cy="9144000"/>
  <p:embeddedFontLst>
    <p:embeddedFont>
      <p:font typeface="League Spartan" panose="020B0604020202020204" charset="0"/>
      <p:regular r:id="rId19"/>
    </p:embeddedFont>
    <p:embeddedFont>
      <p:font typeface="Neue Haas Grotesk Text Pro" panose="020B0504020202020204" pitchFamily="34" charset="0"/>
      <p:regular r:id="rId20"/>
      <p:bold r:id="rId21"/>
      <p:italic r:id="rId22"/>
      <p:boldItalic r:id="rId23"/>
    </p:embeddedFont>
    <p:embeddedFont>
      <p:font typeface="Poppins" panose="00000500000000000000" pitchFamily="2" charset="0"/>
      <p:regular r:id="rId24"/>
      <p:bold r:id="rId25"/>
      <p:italic r:id="rId26"/>
      <p:boldItalic r:id="rId27"/>
    </p:embeddedFont>
    <p:embeddedFont>
      <p:font typeface="Poppins Bold" panose="00000800000000000000" charset="0"/>
      <p:regular r:id="rId28"/>
      <p:bold r:id="rId29"/>
    </p:embeddedFont>
    <p:embeddedFont>
      <p:font typeface="Roboto" panose="02000000000000000000" pitchFamily="2" charset="0"/>
      <p:regular r:id="rId30"/>
      <p:bold r:id="rId31"/>
      <p:italic r:id="rId32"/>
      <p:boldItalic r:id="rId33"/>
    </p:embeddedFont>
    <p:embeddedFont>
      <p:font typeface="Roboto Bold" panose="02000000000000000000" pitchFamily="2" charset="0"/>
      <p:regular r:id="rId34"/>
      <p:bold r:id="rId3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C756B2-B1B2-470E-AE4E-947255E0767F}" v="55" dt="2026-05-06T18:46:25.4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82886" autoAdjust="0"/>
  </p:normalViewPr>
  <p:slideViewPr>
    <p:cSldViewPr>
      <p:cViewPr varScale="1">
        <p:scale>
          <a:sx n="64" d="100"/>
          <a:sy n="64" d="100"/>
        </p:scale>
        <p:origin x="88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9" Type="http://schemas.openxmlformats.org/officeDocument/2006/relationships/tableStyles" Target="tableStyles.xml"/><Relationship Id="rId21" Type="http://schemas.openxmlformats.org/officeDocument/2006/relationships/font" Target="fonts/font3.fntdata"/><Relationship Id="rId34" Type="http://schemas.openxmlformats.org/officeDocument/2006/relationships/font" Target="fonts/font16.fntdata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2.fntdata"/><Relationship Id="rId29" Type="http://schemas.openxmlformats.org/officeDocument/2006/relationships/font" Target="fonts/font11.fntdata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6.fntdata"/><Relationship Id="rId32" Type="http://schemas.openxmlformats.org/officeDocument/2006/relationships/font" Target="fonts/font14.fntdata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5.fntdata"/><Relationship Id="rId28" Type="http://schemas.openxmlformats.org/officeDocument/2006/relationships/font" Target="fonts/font10.fntdata"/><Relationship Id="rId36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font" Target="fonts/font1.fntdata"/><Relationship Id="rId31" Type="http://schemas.openxmlformats.org/officeDocument/2006/relationships/font" Target="fonts/font1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4.fntdata"/><Relationship Id="rId27" Type="http://schemas.openxmlformats.org/officeDocument/2006/relationships/font" Target="fonts/font9.fntdata"/><Relationship Id="rId30" Type="http://schemas.openxmlformats.org/officeDocument/2006/relationships/font" Target="fonts/font12.fntdata"/><Relationship Id="rId35" Type="http://schemas.openxmlformats.org/officeDocument/2006/relationships/font" Target="fonts/font17.fntdata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7.fntdata"/><Relationship Id="rId33" Type="http://schemas.openxmlformats.org/officeDocument/2006/relationships/font" Target="fonts/font15.fntdata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nas Bøgvad" userId="2641f3a2fea4df1c" providerId="LiveId" clId="{A78CD63F-0891-40C3-97BE-8BF45596D16B}"/>
    <pc:docChg chg="undo custSel addSld delSld modSld">
      <pc:chgData name="Jonas Bøgvad" userId="2641f3a2fea4df1c" providerId="LiveId" clId="{A78CD63F-0891-40C3-97BE-8BF45596D16B}" dt="2026-05-06T17:53:20.911" v="318" actId="20577"/>
      <pc:docMkLst>
        <pc:docMk/>
      </pc:docMkLst>
      <pc:sldChg chg="modSp mod modNotesTx">
        <pc:chgData name="Jonas Bøgvad" userId="2641f3a2fea4df1c" providerId="LiveId" clId="{A78CD63F-0891-40C3-97BE-8BF45596D16B}" dt="2026-05-06T17:50:02.837" v="301" actId="20577"/>
        <pc:sldMkLst>
          <pc:docMk/>
          <pc:sldMk cId="0" sldId="259"/>
        </pc:sldMkLst>
        <pc:spChg chg="mod">
          <ac:chgData name="Jonas Bøgvad" userId="2641f3a2fea4df1c" providerId="LiveId" clId="{A78CD63F-0891-40C3-97BE-8BF45596D16B}" dt="2026-05-06T17:46:21.568" v="237"/>
          <ac:spMkLst>
            <pc:docMk/>
            <pc:sldMk cId="0" sldId="259"/>
            <ac:spMk id="9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6:23.760" v="238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7:28.689" v="269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7:26.133" v="268" actId="14100"/>
          <ac:spMkLst>
            <pc:docMk/>
            <pc:sldMk cId="0" sldId="259"/>
            <ac:spMk id="12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7:56.748" v="277"/>
          <ac:spMkLst>
            <pc:docMk/>
            <pc:sldMk cId="0" sldId="259"/>
            <ac:spMk id="13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8:50.767" v="296" actId="1076"/>
          <ac:spMkLst>
            <pc:docMk/>
            <pc:sldMk cId="0" sldId="259"/>
            <ac:spMk id="14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7:49.996" v="275" actId="14100"/>
          <ac:spMkLst>
            <pc:docMk/>
            <pc:sldMk cId="0" sldId="259"/>
            <ac:spMk id="20" creationId="{8CEB9108-2C68-E41B-A02F-0A471CF574EA}"/>
          </ac:spMkLst>
        </pc:spChg>
        <pc:spChg chg="mod">
          <ac:chgData name="Jonas Bøgvad" userId="2641f3a2fea4df1c" providerId="LiveId" clId="{A78CD63F-0891-40C3-97BE-8BF45596D16B}" dt="2026-05-06T17:48:16.606" v="280" actId="1076"/>
          <ac:spMkLst>
            <pc:docMk/>
            <pc:sldMk cId="0" sldId="259"/>
            <ac:spMk id="24" creationId="{731172E6-11BA-17DE-8DBA-638AE44606FC}"/>
          </ac:spMkLst>
        </pc:spChg>
        <pc:spChg chg="mod">
          <ac:chgData name="Jonas Bøgvad" userId="2641f3a2fea4df1c" providerId="LiveId" clId="{A78CD63F-0891-40C3-97BE-8BF45596D16B}" dt="2026-05-06T17:48:18.304" v="281" actId="1076"/>
          <ac:spMkLst>
            <pc:docMk/>
            <pc:sldMk cId="0" sldId="259"/>
            <ac:spMk id="27" creationId="{730BE23C-26BD-B248-3A9A-C83501D58314}"/>
          </ac:spMkLst>
        </pc:spChg>
        <pc:spChg chg="mod">
          <ac:chgData name="Jonas Bøgvad" userId="2641f3a2fea4df1c" providerId="LiveId" clId="{A78CD63F-0891-40C3-97BE-8BF45596D16B}" dt="2026-05-06T17:48:58.503" v="298" actId="1076"/>
          <ac:spMkLst>
            <pc:docMk/>
            <pc:sldMk cId="0" sldId="259"/>
            <ac:spMk id="30" creationId="{7CEA3663-137E-59EC-91CD-D854C7EEDFEA}"/>
          </ac:spMkLst>
        </pc:spChg>
        <pc:spChg chg="mod">
          <ac:chgData name="Jonas Bøgvad" userId="2641f3a2fea4df1c" providerId="LiveId" clId="{A78CD63F-0891-40C3-97BE-8BF45596D16B}" dt="2026-05-06T17:47:51.729" v="276" actId="1076"/>
          <ac:spMkLst>
            <pc:docMk/>
            <pc:sldMk cId="0" sldId="259"/>
            <ac:spMk id="33" creationId="{CC09D592-6C32-9F26-77AA-EA0F8FCFE428}"/>
          </ac:spMkLst>
        </pc:spChg>
      </pc:sldChg>
      <pc:sldChg chg="addSp modSp mod">
        <pc:chgData name="Jonas Bøgvad" userId="2641f3a2fea4df1c" providerId="LiveId" clId="{A78CD63F-0891-40C3-97BE-8BF45596D16B}" dt="2026-05-06T17:42:15.198" v="188" actId="1076"/>
        <pc:sldMkLst>
          <pc:docMk/>
          <pc:sldMk cId="0" sldId="261"/>
        </pc:sldMkLst>
        <pc:spChg chg="mod">
          <ac:chgData name="Jonas Bøgvad" userId="2641f3a2fea4df1c" providerId="LiveId" clId="{A78CD63F-0891-40C3-97BE-8BF45596D16B}" dt="2026-05-06T17:41:18.702" v="142" actId="20577"/>
          <ac:spMkLst>
            <pc:docMk/>
            <pc:sldMk cId="0" sldId="261"/>
            <ac:spMk id="7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1:20.479" v="143" actId="2057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1:22.100" v="144" actId="20577"/>
          <ac:spMkLst>
            <pc:docMk/>
            <pc:sldMk cId="0" sldId="261"/>
            <ac:spMk id="14" creationId="{00000000-0000-0000-0000-000000000000}"/>
          </ac:spMkLst>
        </pc:spChg>
        <pc:spChg chg="mod">
          <ac:chgData name="Jonas Bøgvad" userId="2641f3a2fea4df1c" providerId="LiveId" clId="{A78CD63F-0891-40C3-97BE-8BF45596D16B}" dt="2026-05-06T17:41:23.788" v="145" actId="20577"/>
          <ac:spMkLst>
            <pc:docMk/>
            <pc:sldMk cId="0" sldId="261"/>
            <ac:spMk id="17" creationId="{00000000-0000-0000-0000-000000000000}"/>
          </ac:spMkLst>
        </pc:spChg>
        <pc:spChg chg="add mod">
          <ac:chgData name="Jonas Bøgvad" userId="2641f3a2fea4df1c" providerId="LiveId" clId="{A78CD63F-0891-40C3-97BE-8BF45596D16B}" dt="2026-05-06T17:41:37.231" v="152" actId="1076"/>
          <ac:spMkLst>
            <pc:docMk/>
            <pc:sldMk cId="0" sldId="261"/>
            <ac:spMk id="19" creationId="{E1459AFD-CE62-D5B1-058A-69B96AF65589}"/>
          </ac:spMkLst>
        </pc:spChg>
        <pc:spChg chg="add mod">
          <ac:chgData name="Jonas Bøgvad" userId="2641f3a2fea4df1c" providerId="LiveId" clId="{A78CD63F-0891-40C3-97BE-8BF45596D16B}" dt="2026-05-06T17:42:15.198" v="188" actId="1076"/>
          <ac:spMkLst>
            <pc:docMk/>
            <pc:sldMk cId="0" sldId="261"/>
            <ac:spMk id="21" creationId="{D84D9180-6380-2C18-DF72-02F13C3548E7}"/>
          </ac:spMkLst>
        </pc:spChg>
        <pc:spChg chg="mod">
          <ac:chgData name="Jonas Bøgvad" userId="2641f3a2fea4df1c" providerId="LiveId" clId="{A78CD63F-0891-40C3-97BE-8BF45596D16B}" dt="2026-05-06T17:41:45.231" v="155" actId="571"/>
          <ac:spMkLst>
            <pc:docMk/>
            <pc:sldMk cId="0" sldId="261"/>
            <ac:spMk id="23" creationId="{BBAB6F0D-9276-53D0-4B5A-8038DA48EA1E}"/>
          </ac:spMkLst>
        </pc:spChg>
        <pc:grpChg chg="add mod">
          <ac:chgData name="Jonas Bøgvad" userId="2641f3a2fea4df1c" providerId="LiveId" clId="{A78CD63F-0891-40C3-97BE-8BF45596D16B}" dt="2026-05-06T17:41:45.231" v="155" actId="571"/>
          <ac:grpSpMkLst>
            <pc:docMk/>
            <pc:sldMk cId="0" sldId="261"/>
            <ac:grpSpMk id="22" creationId="{BFACEFBC-7926-EA38-4527-96A4DFD3C1EF}"/>
          </ac:grpSpMkLst>
        </pc:grpChg>
      </pc:sldChg>
      <pc:sldChg chg="modNotesTx">
        <pc:chgData name="Jonas Bøgvad" userId="2641f3a2fea4df1c" providerId="LiveId" clId="{A78CD63F-0891-40C3-97BE-8BF45596D16B}" dt="2026-05-06T17:32:41.066" v="57" actId="313"/>
        <pc:sldMkLst>
          <pc:docMk/>
          <pc:sldMk cId="3825788893" sldId="264"/>
        </pc:sldMkLst>
      </pc:sldChg>
      <pc:sldChg chg="delSp modSp del mod">
        <pc:chgData name="Jonas Bøgvad" userId="2641f3a2fea4df1c" providerId="LiveId" clId="{A78CD63F-0891-40C3-97BE-8BF45596D16B}" dt="2026-05-06T17:35:12.639" v="112" actId="47"/>
        <pc:sldMkLst>
          <pc:docMk/>
          <pc:sldMk cId="2280803681" sldId="266"/>
        </pc:sldMkLst>
        <pc:spChg chg="del mod">
          <ac:chgData name="Jonas Bøgvad" userId="2641f3a2fea4df1c" providerId="LiveId" clId="{A78CD63F-0891-40C3-97BE-8BF45596D16B}" dt="2026-05-06T17:33:02.172" v="62" actId="478"/>
          <ac:spMkLst>
            <pc:docMk/>
            <pc:sldMk cId="2280803681" sldId="266"/>
            <ac:spMk id="2" creationId="{43B38B23-F37E-088A-4BEE-2BC0D460D7FD}"/>
          </ac:spMkLst>
        </pc:spChg>
        <pc:spChg chg="mod">
          <ac:chgData name="Jonas Bøgvad" userId="2641f3a2fea4df1c" providerId="LiveId" clId="{A78CD63F-0891-40C3-97BE-8BF45596D16B}" dt="2026-05-06T17:32:56.839" v="59" actId="20577"/>
          <ac:spMkLst>
            <pc:docMk/>
            <pc:sldMk cId="2280803681" sldId="266"/>
            <ac:spMk id="3" creationId="{B667648F-8128-3EBF-EAFC-ADA54B8FF880}"/>
          </ac:spMkLst>
        </pc:spChg>
      </pc:sldChg>
      <pc:sldChg chg="del">
        <pc:chgData name="Jonas Bøgvad" userId="2641f3a2fea4df1c" providerId="LiveId" clId="{A78CD63F-0891-40C3-97BE-8BF45596D16B}" dt="2026-05-06T17:33:03.913" v="63" actId="47"/>
        <pc:sldMkLst>
          <pc:docMk/>
          <pc:sldMk cId="3244725439" sldId="267"/>
        </pc:sldMkLst>
      </pc:sldChg>
      <pc:sldChg chg="del">
        <pc:chgData name="Jonas Bøgvad" userId="2641f3a2fea4df1c" providerId="LiveId" clId="{A78CD63F-0891-40C3-97BE-8BF45596D16B}" dt="2026-05-06T17:33:04.856" v="64" actId="47"/>
        <pc:sldMkLst>
          <pc:docMk/>
          <pc:sldMk cId="3737490369" sldId="268"/>
        </pc:sldMkLst>
      </pc:sldChg>
      <pc:sldChg chg="modSp mod">
        <pc:chgData name="Jonas Bøgvad" userId="2641f3a2fea4df1c" providerId="LiveId" clId="{A78CD63F-0891-40C3-97BE-8BF45596D16B}" dt="2026-05-06T17:33:11.104" v="69" actId="20577"/>
        <pc:sldMkLst>
          <pc:docMk/>
          <pc:sldMk cId="1481728849" sldId="270"/>
        </pc:sldMkLst>
        <pc:spChg chg="mod">
          <ac:chgData name="Jonas Bøgvad" userId="2641f3a2fea4df1c" providerId="LiveId" clId="{A78CD63F-0891-40C3-97BE-8BF45596D16B}" dt="2026-05-06T17:33:11.104" v="69" actId="20577"/>
          <ac:spMkLst>
            <pc:docMk/>
            <pc:sldMk cId="1481728849" sldId="270"/>
            <ac:spMk id="2" creationId="{FADB4DFA-C032-2A43-D50F-F9E54316B581}"/>
          </ac:spMkLst>
        </pc:spChg>
      </pc:sldChg>
      <pc:sldChg chg="modSp mod modNotesTx">
        <pc:chgData name="Jonas Bøgvad" userId="2641f3a2fea4df1c" providerId="LiveId" clId="{A78CD63F-0891-40C3-97BE-8BF45596D16B}" dt="2026-05-06T17:53:20.911" v="318" actId="20577"/>
        <pc:sldMkLst>
          <pc:docMk/>
          <pc:sldMk cId="933027969" sldId="271"/>
        </pc:sldMkLst>
        <pc:spChg chg="mod">
          <ac:chgData name="Jonas Bøgvad" userId="2641f3a2fea4df1c" providerId="LiveId" clId="{A78CD63F-0891-40C3-97BE-8BF45596D16B}" dt="2026-05-06T17:53:14.821" v="309" actId="20577"/>
          <ac:spMkLst>
            <pc:docMk/>
            <pc:sldMk cId="933027969" sldId="271"/>
            <ac:spMk id="9" creationId="{DC59E573-9B28-135E-2F42-FEC6FD784F63}"/>
          </ac:spMkLst>
        </pc:spChg>
      </pc:sldChg>
      <pc:sldChg chg="modSp mod modNotesTx">
        <pc:chgData name="Jonas Bøgvad" userId="2641f3a2fea4df1c" providerId="LiveId" clId="{A78CD63F-0891-40C3-97BE-8BF45596D16B}" dt="2026-05-06T17:39:22.325" v="141" actId="1076"/>
        <pc:sldMkLst>
          <pc:docMk/>
          <pc:sldMk cId="3062396502" sldId="272"/>
        </pc:sldMkLst>
        <pc:spChg chg="mod">
          <ac:chgData name="Jonas Bøgvad" userId="2641f3a2fea4df1c" providerId="LiveId" clId="{A78CD63F-0891-40C3-97BE-8BF45596D16B}" dt="2026-05-06T17:39:22.325" v="141" actId="1076"/>
          <ac:spMkLst>
            <pc:docMk/>
            <pc:sldMk cId="3062396502" sldId="272"/>
            <ac:spMk id="3" creationId="{A942C038-37FC-3AFE-0FB7-0DABBBD75CC3}"/>
          </ac:spMkLst>
        </pc:spChg>
        <pc:spChg chg="mod">
          <ac:chgData name="Jonas Bøgvad" userId="2641f3a2fea4df1c" providerId="LiveId" clId="{A78CD63F-0891-40C3-97BE-8BF45596D16B}" dt="2026-05-06T17:30:01.226" v="1" actId="27636"/>
          <ac:spMkLst>
            <pc:docMk/>
            <pc:sldMk cId="3062396502" sldId="272"/>
            <ac:spMk id="4" creationId="{BAA14685-1469-11FC-646C-2814781B4CAF}"/>
          </ac:spMkLst>
        </pc:spChg>
      </pc:sldChg>
      <pc:sldChg chg="modSp add mod">
        <pc:chgData name="Jonas Bøgvad" userId="2641f3a2fea4df1c" providerId="LiveId" clId="{A78CD63F-0891-40C3-97BE-8BF45596D16B}" dt="2026-05-06T17:42:26.699" v="235" actId="20577"/>
        <pc:sldMkLst>
          <pc:docMk/>
          <pc:sldMk cId="3624090348" sldId="273"/>
        </pc:sldMkLst>
        <pc:spChg chg="mod">
          <ac:chgData name="Jonas Bøgvad" userId="2641f3a2fea4df1c" providerId="LiveId" clId="{A78CD63F-0891-40C3-97BE-8BF45596D16B}" dt="2026-05-06T17:42:26.699" v="235" actId="20577"/>
          <ac:spMkLst>
            <pc:docMk/>
            <pc:sldMk cId="3624090348" sldId="273"/>
            <ac:spMk id="2" creationId="{22C319DF-F32C-6EB2-ADA4-646906DD8A49}"/>
          </ac:spMkLst>
        </pc:spChg>
        <pc:spChg chg="mod">
          <ac:chgData name="Jonas Bøgvad" userId="2641f3a2fea4df1c" providerId="LiveId" clId="{A78CD63F-0891-40C3-97BE-8BF45596D16B}" dt="2026-05-06T17:34:42.684" v="107" actId="20577"/>
          <ac:spMkLst>
            <pc:docMk/>
            <pc:sldMk cId="3624090348" sldId="273"/>
            <ac:spMk id="3" creationId="{A8B675CB-EB8B-EA9A-E459-DDDDCE73D757}"/>
          </ac:spMkLst>
        </pc:spChg>
        <pc:spChg chg="mod">
          <ac:chgData name="Jonas Bøgvad" userId="2641f3a2fea4df1c" providerId="LiveId" clId="{A78CD63F-0891-40C3-97BE-8BF45596D16B}" dt="2026-05-06T17:34:20.371" v="102" actId="27636"/>
          <ac:spMkLst>
            <pc:docMk/>
            <pc:sldMk cId="3624090348" sldId="273"/>
            <ac:spMk id="4" creationId="{1FD9925A-F58A-C091-2100-EEA7740C139C}"/>
          </ac:spMkLst>
        </pc:spChg>
      </pc:sldChg>
      <pc:sldChg chg="modSp add mod modNotesTx">
        <pc:chgData name="Jonas Bøgvad" userId="2641f3a2fea4df1c" providerId="LiveId" clId="{A78CD63F-0891-40C3-97BE-8BF45596D16B}" dt="2026-05-06T17:38:43.600" v="140" actId="20577"/>
        <pc:sldMkLst>
          <pc:docMk/>
          <pc:sldMk cId="1690930480" sldId="274"/>
        </pc:sldMkLst>
        <pc:spChg chg="mod">
          <ac:chgData name="Jonas Bøgvad" userId="2641f3a2fea4df1c" providerId="LiveId" clId="{A78CD63F-0891-40C3-97BE-8BF45596D16B}" dt="2026-05-06T17:35:22.379" v="115"/>
          <ac:spMkLst>
            <pc:docMk/>
            <pc:sldMk cId="1690930480" sldId="274"/>
            <ac:spMk id="2" creationId="{83374899-B6AF-ED9E-F74B-5E38F772C764}"/>
          </ac:spMkLst>
        </pc:spChg>
        <pc:spChg chg="mod">
          <ac:chgData name="Jonas Bøgvad" userId="2641f3a2fea4df1c" providerId="LiveId" clId="{A78CD63F-0891-40C3-97BE-8BF45596D16B}" dt="2026-05-06T17:37:57.627" v="132" actId="114"/>
          <ac:spMkLst>
            <pc:docMk/>
            <pc:sldMk cId="1690930480" sldId="274"/>
            <ac:spMk id="3" creationId="{2E78103F-2C2B-9401-1C6B-C0AF28DED841}"/>
          </ac:spMkLst>
        </pc:spChg>
        <pc:spChg chg="mod">
          <ac:chgData name="Jonas Bøgvad" userId="2641f3a2fea4df1c" providerId="LiveId" clId="{A78CD63F-0891-40C3-97BE-8BF45596D16B}" dt="2026-05-06T17:37:20.980" v="124" actId="27636"/>
          <ac:spMkLst>
            <pc:docMk/>
            <pc:sldMk cId="1690930480" sldId="274"/>
            <ac:spMk id="4" creationId="{A593BA9E-C7BB-C39E-A0C7-CF3F54A7D704}"/>
          </ac:spMkLst>
        </pc:spChg>
      </pc:sldChg>
      <pc:sldChg chg="add del">
        <pc:chgData name="Jonas Bøgvad" userId="2641f3a2fea4df1c" providerId="LiveId" clId="{A78CD63F-0891-40C3-97BE-8BF45596D16B}" dt="2026-05-06T17:35:11.739" v="111" actId="47"/>
        <pc:sldMkLst>
          <pc:docMk/>
          <pc:sldMk cId="1458832969" sldId="275"/>
        </pc:sldMkLst>
      </pc:sldChg>
      <pc:sldChg chg="add del">
        <pc:chgData name="Jonas Bøgvad" userId="2641f3a2fea4df1c" providerId="LiveId" clId="{A78CD63F-0891-40C3-97BE-8BF45596D16B}" dt="2026-05-06T17:35:16.239" v="114" actId="47"/>
        <pc:sldMkLst>
          <pc:docMk/>
          <pc:sldMk cId="3518914100" sldId="27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EB02A-AC55-4F56-B85C-8179ADC8699E}" type="datetimeFigureOut">
              <a:rPr lang="en-US" smtClean="0"/>
              <a:t>5/6/2026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FC6A49-9936-4CF9-90F5-3264F164EB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8665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infernux.no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s://www.linkedin.com/in/truls-dahlsveen/" TargetMode="Externa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azure-monitor/reference/tables/AADGraphActivityLogs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ictus-ir.com/news/the-missing-link-aadgraphactivitylogs-finally-arrives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nvictus-ir.com/news/the-missing-link-aadgraphactivitylogs-finally-arrives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azure/foundry/control-plane/how-to-manage-compliance-security" TargetMode="External"/><Relationship Id="rId7" Type="http://schemas.openxmlformats.org/officeDocument/2006/relationships/hyperlink" Target="https://azure.microsoft.com/en-us/products/ai-foundry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devblogs.microsoft.com/foundry/whats-new-in-microsoft-foundry-mar-2026/" TargetMode="External"/><Relationship Id="rId5" Type="http://schemas.openxmlformats.org/officeDocument/2006/relationships/hyperlink" Target="https://learn.microsoft.com/en-us/azure/foundry/responsible-ai/openai/data-privacy" TargetMode="External"/><Relationship Id="rId4" Type="http://schemas.openxmlformats.org/officeDocument/2006/relationships/hyperlink" Target="https://learn.microsoft.com/en-us/security/benchmark/azure/baselines/azure-ai-foundry-security-baseline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hlinkClick r:id="rId3" tooltip="https://infernux.no/"/>
              </a:rPr>
              <a:t>https://infernux.no/ 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u="sng" dirty="0">
                <a:hlinkClick r:id="rId4" tooltip="https://www.linkedin.com/in/truls-dahlsveen/"/>
              </a:rPr>
              <a:t>https://www.linkedin.com/in/truls-dahlsveen/</a:t>
            </a:r>
            <a:endParaRPr lang="en-DK" dirty="0"/>
          </a:p>
          <a:p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8387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Entra ID - Agent ID Platform	</a:t>
            </a:r>
          </a:p>
          <a:p>
            <a:r>
              <a:rPr lang="en-US" dirty="0"/>
              <a:t>GA of the identity/authorization framework for AI agents, supporting OAuth 2.0 and MCP.</a:t>
            </a:r>
          </a:p>
          <a:p>
            <a:r>
              <a:rPr lang="en-US" dirty="0"/>
              <a:t>https://learn.microsoft.com/en-us/entra/fundamentals/whats-new</a:t>
            </a:r>
          </a:p>
          <a:p>
            <a:r>
              <a:rPr lang="en-US" dirty="0"/>
              <a:t>https://learn.microsoft.com/en-us/entra/agent-id/whats-new-agent-id</a:t>
            </a:r>
          </a:p>
          <a:p>
            <a:endParaRPr lang="en-US" dirty="0"/>
          </a:p>
          <a:p>
            <a:r>
              <a:rPr lang="en-US" dirty="0"/>
              <a:t>Microsoft 365 E7 "Frontier Suite" announced at $99/user/month, </a:t>
            </a:r>
          </a:p>
          <a:p>
            <a:r>
              <a:rPr lang="en-US" dirty="0"/>
              <a:t>bundling M365 E5 + Copilot + Entra Suite + Agent 365. First new Microsoft 365 SKU above E5 since 2018. Impact: ELA renegotiation trigger for enterprises already on E5+Copilot. </a:t>
            </a:r>
          </a:p>
          <a:p>
            <a:r>
              <a:rPr lang="en-US" dirty="0"/>
              <a:t>https://www.microsoft.com/en-us/security/blog/2026/05/01/microsoft-agent-365-now-generally-available-expands-capabilities-and-integrations/</a:t>
            </a:r>
          </a:p>
          <a:p>
            <a:endParaRPr lang="en-US" dirty="0"/>
          </a:p>
          <a:p>
            <a:r>
              <a:rPr lang="en-US" dirty="0"/>
              <a:t>Passkeys on Windows (Windows Hello container) [Rollout]</a:t>
            </a:r>
          </a:p>
          <a:p>
            <a:r>
              <a:rPr lang="en-US" dirty="0"/>
              <a:t>Device-bound and synced FIDO2 passkeys natively in the Windows Hello container; admin policies via Intune/Entra.</a:t>
            </a:r>
          </a:p>
          <a:p>
            <a:r>
              <a:rPr lang="en-US" dirty="0"/>
              <a:t>https://learn.microsoft.com/en-us/entra/fundamentals/whats-new#general-availability---synced-passkeys-in-microsoft-entra-id</a:t>
            </a:r>
          </a:p>
          <a:p>
            <a:endParaRPr lang="en-US" dirty="0"/>
          </a:p>
          <a:p>
            <a:r>
              <a:rPr lang="en-US" dirty="0"/>
              <a:t>Windows 365 SMB price cut [Change]</a:t>
            </a:r>
          </a:p>
          <a:p>
            <a:r>
              <a:rPr lang="en-US" dirty="0"/>
              <a:t>Microsoft reduces Business-tier pricing; new bundles for SMB resellers.</a:t>
            </a:r>
          </a:p>
          <a:p>
            <a:r>
              <a:rPr lang="en-US" dirty="0"/>
              <a:t>https://www.computerworld.com/article/4159190/microsoft-to-cut-windows-365-price-for-smbs.html</a:t>
            </a:r>
          </a:p>
          <a:p>
            <a:endParaRPr lang="en-US" dirty="0"/>
          </a:p>
          <a:p>
            <a:r>
              <a:rPr lang="en-US" dirty="0"/>
              <a:t>DNSSEC Enablement Wizard for Exchange Online between June-august</a:t>
            </a:r>
          </a:p>
          <a:p>
            <a:r>
              <a:rPr lang="en-US" dirty="0"/>
              <a:t>https://techcommunity.microsoft.com/blog/exchange/modernizing-dns-security-for-exchange-online-mail-flow/4514248</a:t>
            </a:r>
          </a:p>
          <a:p>
            <a:endParaRPr lang="en-US" dirty="0"/>
          </a:p>
          <a:p>
            <a:r>
              <a:rPr lang="en-US" dirty="0"/>
              <a:t>DNSSEC (Domain Name System Security Extensions) adds a digital signature to DNS records.</a:t>
            </a:r>
          </a:p>
          <a:p>
            <a:r>
              <a:rPr lang="en-US" dirty="0"/>
              <a:t>DNS is like the internet's phonebook: it turns "google.com" into an IP address. The problem is the basic phonebook has no way to prove the answer is real, so an attacker can swap in a fake one and send you to a malicious site.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00200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"For years, attackers have had an asymmetric advantage - they could see us, we couldn't see them. That just changed.“</a:t>
            </a:r>
          </a:p>
          <a:p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https://learn.microsoft.com/en-us/azure/azure-monitor/reference/tables/AADGraphActivityLogs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5032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Learn - </a:t>
            </a:r>
            <a:r>
              <a:rPr lang="en-US" i="1" dirty="0" err="1"/>
              <a:t>AADGraphActivityLogs</a:t>
            </a:r>
            <a:r>
              <a:rPr lang="en-US" i="1" dirty="0"/>
              <a:t> table reference</a:t>
            </a:r>
            <a:br>
              <a:rPr lang="en-US" i="1" dirty="0"/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https://www.invictus-ir.com/news/the-missing-link-aadgraphactivitylogs-finally-arrives</a:t>
            </a:r>
            <a:endParaRPr lang="en-D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88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32A62-E2F6-4FC1-E6E4-4A1C7CB549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655B7F-D7DE-89E9-9EAE-F8E2C8AB0F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80946D-4957-4713-76E8-860023FD2B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Microsoft Learn - </a:t>
            </a:r>
            <a:r>
              <a:rPr lang="en-US" i="1" dirty="0" err="1"/>
              <a:t>AADGraphActivityLogs</a:t>
            </a:r>
            <a:r>
              <a:rPr lang="en-US" i="1" dirty="0"/>
              <a:t> table reference</a:t>
            </a:r>
            <a:br>
              <a:rPr lang="en-US" i="1" dirty="0"/>
            </a:br>
            <a:r>
              <a:rPr lang="en-US" sz="1200" b="1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  <a:hlinkClick r:id="rId3"/>
              </a:rPr>
              <a:t>https://www.invictus-ir.com/news/the-missing-link-aadgraphactivitylogs-finally-arrives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090B45-A9EC-5917-99E2-C072DC53B4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0961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10FAD-02F9-C66E-5488-B8F93D1044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9F80B4A-E741-43ED-5911-AFD872B47E4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68755-24B7-F462-D009-0EA3451FBB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 dirty="0"/>
              <a:t>Manage compliance and security in Microsoft Foundry</a:t>
            </a:r>
            <a:r>
              <a:rPr lang="en-US" dirty="0"/>
              <a:t> (Microsoft Learn, March 2026) </a:t>
            </a:r>
            <a:r>
              <a:rPr lang="en-US" dirty="0">
                <a:hlinkClick r:id="rId3"/>
              </a:rPr>
              <a:t>https://learn.microsoft.com/en-us/azure/foundry/control-plane/how-to-manage-compliance-security</a:t>
            </a:r>
            <a:r>
              <a:rPr lang="en-US" dirty="0"/>
              <a:t> </a:t>
            </a:r>
            <a:r>
              <a:rPr lang="en-US" i="1" dirty="0"/>
              <a:t>Covers: Defender for Cloud threat protection for Foundry Tools, Purview integration, DSPM for AI, guardrail policies</a:t>
            </a:r>
            <a:r>
              <a:rPr lang="en-US" dirty="0"/>
              <a:t> </a:t>
            </a:r>
          </a:p>
          <a:p>
            <a:endParaRPr lang="en-US" b="1" dirty="0"/>
          </a:p>
          <a:p>
            <a:r>
              <a:rPr lang="en-US" b="1" dirty="0"/>
              <a:t>Azure security baseline for Microsoft Foundry</a:t>
            </a:r>
            <a:r>
              <a:rPr lang="en-US" dirty="0"/>
              <a:t> (Microsoft Learn, March 2026) </a:t>
            </a:r>
            <a:r>
              <a:rPr lang="en-US" dirty="0">
                <a:hlinkClick r:id="rId4"/>
              </a:rPr>
              <a:t>https://learn.microsoft.com/en-us/security/benchmark/azure/baselines/azure-ai-foundry-security-baseline</a:t>
            </a:r>
            <a:r>
              <a:rPr lang="en-US" dirty="0"/>
              <a:t> </a:t>
            </a:r>
            <a:r>
              <a:rPr lang="en-US" i="1" dirty="0"/>
              <a:t>Covers: Private Link, Managed Network Isolation, NSGs, Entra ID RBAC</a:t>
            </a:r>
            <a:r>
              <a:rPr lang="en-US" dirty="0"/>
              <a:t> </a:t>
            </a:r>
          </a:p>
          <a:p>
            <a:endParaRPr lang="en-US" b="1" dirty="0"/>
          </a:p>
          <a:p>
            <a:r>
              <a:rPr lang="en-US" b="1" dirty="0"/>
              <a:t>Data, privacy, and security for Azure Direct Models in Microsoft Foundry</a:t>
            </a:r>
            <a:r>
              <a:rPr lang="en-US" dirty="0"/>
              <a:t> (Microsoft Learn, February 2026) </a:t>
            </a:r>
            <a:r>
              <a:rPr lang="en-US" dirty="0">
                <a:hlinkClick r:id="rId5"/>
              </a:rPr>
              <a:t>https://learn.microsoft.com/en-us/azure/foundry/responsible-ai/openai/data-privacy</a:t>
            </a:r>
            <a:r>
              <a:rPr lang="en-US" dirty="0"/>
              <a:t> </a:t>
            </a:r>
            <a:r>
              <a:rPr lang="en-US" i="1" dirty="0"/>
              <a:t>Covers: stateless models, prompts/completions not stored, not used to train base models, geography processing</a:t>
            </a:r>
            <a:r>
              <a:rPr lang="en-US" dirty="0"/>
              <a:t> </a:t>
            </a:r>
          </a:p>
          <a:p>
            <a:endParaRPr lang="en-US" b="1" dirty="0"/>
          </a:p>
          <a:p>
            <a:r>
              <a:rPr lang="en-US" b="1" dirty="0"/>
              <a:t>What's new in Microsoft Foundry, March 2026</a:t>
            </a:r>
            <a:r>
              <a:rPr lang="en-US" dirty="0"/>
              <a:t> (Microsoft Foundry Blog) </a:t>
            </a:r>
            <a:r>
              <a:rPr lang="en-US" dirty="0">
                <a:hlinkClick r:id="rId6"/>
              </a:rPr>
              <a:t>https://devblogs.microsoft.com/foundry/whats-new-in-microsoft-foundry-mar-2026/</a:t>
            </a:r>
            <a:r>
              <a:rPr lang="en-US" dirty="0"/>
              <a:t> </a:t>
            </a:r>
            <a:r>
              <a:rPr lang="en-US" i="1" dirty="0"/>
              <a:t>Covers: Task Adherence as native guardrail, intervention points on tool invocations and responses, third-party guardrails (Prisma AIRS, </a:t>
            </a:r>
            <a:r>
              <a:rPr lang="en-US" i="1" dirty="0" err="1"/>
              <a:t>Zenity</a:t>
            </a:r>
            <a:r>
              <a:rPr lang="en-US" i="1" dirty="0"/>
              <a:t>) GA</a:t>
            </a:r>
            <a:r>
              <a:rPr lang="en-US" dirty="0"/>
              <a:t> </a:t>
            </a:r>
          </a:p>
          <a:p>
            <a:endParaRPr lang="en-US" b="1" dirty="0"/>
          </a:p>
          <a:p>
            <a:r>
              <a:rPr lang="en-US" b="1" dirty="0"/>
              <a:t>Microsoft Foundry product page</a:t>
            </a:r>
            <a:r>
              <a:rPr lang="en-US" dirty="0"/>
              <a:t> (Azure) </a:t>
            </a:r>
            <a:r>
              <a:rPr lang="en-US" dirty="0">
                <a:hlinkClick r:id="rId7"/>
              </a:rPr>
              <a:t>https://azure.microsoft.com/en-us/products/ai-foundry</a:t>
            </a:r>
            <a:r>
              <a:rPr lang="en-US" dirty="0"/>
              <a:t> </a:t>
            </a:r>
            <a:r>
              <a:rPr lang="en-US" i="1" dirty="0"/>
              <a:t>Covers: Defender + Entra ID integration in the Foundry Control Plane, runtime threat detection</a:t>
            </a:r>
            <a:endParaRPr lang="en-DK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CDF75B-142E-6819-8D63-893348324B8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CFC6A49-9936-4CF9-90F5-3264F164EB0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10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804406-9FC5-ACFE-893D-D4EADEB1A89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2583" y="1118161"/>
            <a:ext cx="12198341" cy="5339789"/>
          </a:xfrm>
        </p:spPr>
        <p:txBody>
          <a:bodyPr anchor="t">
            <a:normAutofit/>
          </a:bodyPr>
          <a:lstStyle>
            <a:lvl1pPr algn="l">
              <a:defRPr sz="9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C0AF19C-C14B-F137-2DE9-1992459045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5963" y="7003974"/>
            <a:ext cx="12198341" cy="2025726"/>
          </a:xfrm>
        </p:spPr>
        <p:txBody>
          <a:bodyPr anchor="b">
            <a:normAutofit/>
          </a:bodyPr>
          <a:lstStyle>
            <a:lvl1pPr marL="0" indent="0" algn="l">
              <a:buNone/>
              <a:defRPr sz="3556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C6A999-B8D4-1774-9F1B-9F9FE1B3B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EE3B7B-C7B5-42CF-90CF-67B3D21B2314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165D5D-2AE2-6F91-D1EB-6DD8FC3CE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029E4-3A4E-970A-17A8-1E17D37D1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4411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3240" userDrawn="1">
          <p15:clr>
            <a:srgbClr val="FBAE40"/>
          </p15:clr>
        </p15:guide>
        <p15:guide id="6" pos="57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D22A-1F6D-0DE5-E04A-DC466353DA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4ADD6F-7C93-3CD3-AC8D-28A78787CB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706E74-14FC-84D9-4B41-7D9FB0D5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996519-E62D-4F8C-AE1E-36928EC7D15C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5A7DC-6292-6181-949E-F8BC3FA11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50F5C6-EADC-E072-B19B-49BB11DF0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80041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240" userDrawn="1">
          <p15:clr>
            <a:srgbClr val="FBAE40"/>
          </p15:clr>
        </p15:guide>
        <p15:guide id="2" pos="57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B2054-1AE7-534F-0CFE-1F0628A09F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07" y="3365563"/>
            <a:ext cx="13734432" cy="5664137"/>
          </a:xfrm>
        </p:spPr>
        <p:txBody>
          <a:bodyPr anchor="b">
            <a:normAutofit/>
          </a:bodyPr>
          <a:lstStyle>
            <a:lvl1pPr>
              <a:defRPr sz="11733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988EC2A-45C7-131C-0F4A-56E62EB029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0206" y="1257302"/>
            <a:ext cx="13734434" cy="2108262"/>
          </a:xfrm>
        </p:spPr>
        <p:txBody>
          <a:bodyPr>
            <a:normAutofit/>
          </a:bodyPr>
          <a:lstStyle>
            <a:lvl1pPr marL="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75A323-2679-E978-8856-2FEBE8F5A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7AEB6-FCE1-4CD5-923B-84E54F1460D5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971DC2-625E-0477-BF8C-F3CDDCE4B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F1A644-D449-E464-C2DF-F045A5189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85539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B12719-44A3-3EE8-D757-F0E0F9632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4796" y="1125941"/>
            <a:ext cx="16269834" cy="195622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40DC2-69F2-A056-508C-F5138E71FC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85442" y="3112875"/>
            <a:ext cx="6856932" cy="6152238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A2243E-0673-54F2-5B38-DF5D2C7367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9569341" y="3112875"/>
            <a:ext cx="7155287" cy="6152238"/>
          </a:xfrm>
        </p:spPr>
        <p:txBody>
          <a:bodyPr>
            <a:normAutofit/>
          </a:bodyPr>
          <a:lstStyle>
            <a:lvl1pPr>
              <a:defRPr sz="3556"/>
            </a:lvl1pPr>
            <a:lvl2pPr>
              <a:defRPr sz="3200"/>
            </a:lvl2pPr>
            <a:lvl3pPr>
              <a:defRPr sz="2844"/>
            </a:lvl3pPr>
            <a:lvl4pPr>
              <a:defRPr sz="2489"/>
            </a:lvl4pPr>
            <a:lvl5pPr>
              <a:defRPr sz="2489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946B7D-7BAF-8DE9-FB5A-282908B03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374C2F-71A1-43C9-B2F6-A4FAC8157F1A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F99017-BDD7-56C7-43AE-4B86AC7819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6E7D63-14BF-E333-B350-75DA58E28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4151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C7F72-3970-859F-C268-E9940EF2D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8474" y="1115705"/>
            <a:ext cx="16146407" cy="1538043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37CC6-89B8-3CF3-6973-1B5B71782F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85442" y="2653749"/>
            <a:ext cx="6856931" cy="1222512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650EB0-E35B-DA3D-B6A1-2422B01C60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85442" y="4017896"/>
            <a:ext cx="6856931" cy="526006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7A15D0-F178-1506-0E61-C8FFDF9BD6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747950" y="2653749"/>
            <a:ext cx="6856931" cy="1222512"/>
          </a:xfrm>
        </p:spPr>
        <p:txBody>
          <a:bodyPr anchor="b">
            <a:noAutofit/>
          </a:bodyPr>
          <a:lstStyle>
            <a:lvl1pPr marL="0" indent="0">
              <a:buNone/>
              <a:defRPr sz="3556" b="0" cap="all" spc="178" baseline="0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56CB421-A65A-A7DC-40A7-D8B76F9C3A3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9747950" y="4017895"/>
            <a:ext cx="6856931" cy="526006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7AF5675-5329-D2DB-FAFF-700D076CA8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631DCC-9916-4BB7-A2E9-25EC84C740A7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392A97-07D9-5E5C-2A31-3B7D764CE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E626143-8FEE-0ABD-25C7-C34AF6568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8046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26EFE-D86C-B076-D4D1-FAD1883E0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81" y="1136649"/>
            <a:ext cx="10860440" cy="5321301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3B23-C631-4B62-3211-30222ABE1C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59146A-335D-4B7F-86AE-5D483B1F631C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89A1FB-EA0D-F6A3-A4EB-001AA082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671B7-A902-587D-89D0-ECFB738FD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82253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9A27D49-E5B4-0E67-FCFC-62A04E70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71D8EC-8E17-4CE6-99C2-C22488572868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0E4B02-DD32-C63F-6FEE-BC36E2EFD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25FA8B-18F7-7DDC-74E0-B1C7139E7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6351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D42A-8FC3-F6BE-4CF7-1490DE4FD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093" y="1149954"/>
            <a:ext cx="5927618" cy="2265942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AA2BAA-1CCB-696D-D506-5E1747080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58100" y="1053679"/>
            <a:ext cx="9374982" cy="7976021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0B3C3E7-B970-EF6C-A6D3-6CB81C94877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5930" y="3415896"/>
            <a:ext cx="5629121" cy="5613803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32464-D130-7DA0-050D-B444566B1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750ABA-DFFA-4B13-BB77-624D9164A38B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C2B3B4-209E-187A-6F86-2F2EAD9F7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6A2A86-6CB1-F027-66AC-8EBFA9D06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81845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568F49-A418-C21F-25DC-E4C2E17163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459" y="1148775"/>
            <a:ext cx="5993540" cy="2662167"/>
          </a:xfrm>
        </p:spPr>
        <p:txBody>
          <a:bodyPr anchor="t"/>
          <a:lstStyle>
            <a:lvl1pPr>
              <a:defRPr sz="5689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378CDE2-0C1B-D3BE-F399-98D983EF453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7658100" y="1257301"/>
            <a:ext cx="9374982" cy="777239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8786322-CA2D-A634-C10E-4F22BCE48B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10206" y="3829049"/>
            <a:ext cx="5604845" cy="5200649"/>
          </a:xfrm>
        </p:spPr>
        <p:txBody>
          <a:bodyPr anchor="b"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AD0DD6-F55F-4437-DEC5-FA6028509A2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206" y="94804"/>
            <a:ext cx="4114800" cy="477332"/>
          </a:xfrm>
        </p:spPr>
        <p:txBody>
          <a:bodyPr/>
          <a:lstStyle/>
          <a:p>
            <a:fld id="{3220A08F-2B1D-4498-A043-7C299B1C2561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5B46D7-EE7C-E399-6A6B-18237228F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211B808-3207-D755-3B0B-E1D8814B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3750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CDEBC-9F49-FA9D-D13C-DB380A628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81" y="1136176"/>
            <a:ext cx="16313930" cy="1821975"/>
          </a:xfrm>
        </p:spPr>
        <p:txBody>
          <a:bodyPr anchor="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0CB13-23E6-D711-450C-A85A0CB995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03201" y="2958152"/>
            <a:ext cx="16273310" cy="6071549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89BB7B-5C14-76DB-FEA8-3DBC09A96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D9902-F134-45BD-ABD2-80C28059B090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BC13CC-29B3-9FDC-C746-D5D65CC2A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B52A12-895F-E9BE-5289-4E0411BD3F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021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A17614-2270-537D-8B09-6CB65016AD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4039244" y="1133972"/>
            <a:ext cx="3416328" cy="8007554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0BC98B5-885C-CBB1-A858-76F65F7D28B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257299" y="1133972"/>
            <a:ext cx="12345129" cy="8007554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5DAFE-6A83-FB7D-72DF-232EFE2042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04DB0-379A-41B7-9B29-7F42F0D571D5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B41CCF-A3CD-506E-3AAE-CAEFA8C1B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0DD9D-25C2-0EDF-A6F4-71946D57B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23855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BFF45E2-9197-4E34-029A-725ADAC0C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81" y="930303"/>
            <a:ext cx="14935121" cy="215817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8CC19E-63FE-1D76-2550-01FD9A6D9A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3201" y="3460172"/>
            <a:ext cx="14935121" cy="58052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DFA067-55BA-33CD-E6F2-B24B2D5DE8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10206" y="94804"/>
            <a:ext cx="4114800" cy="4773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22">
                <a:solidFill>
                  <a:schemeClr val="tx1"/>
                </a:solidFill>
              </a:defRPr>
            </a:lvl1pPr>
          </a:lstStyle>
          <a:p>
            <a:fld id="{567E9B64-DC09-41C8-9DE3-DA74AF8D2F97}" type="datetimeFigureOut">
              <a:rPr lang="en-US" dirty="0"/>
              <a:t>5/6/2026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65EAE2-7EF5-FFAA-CD74-AA63C67119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1016024" y="9637142"/>
            <a:ext cx="608990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 b="0" cap="all" spc="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9DC1A-2539-3AE9-11EA-B87D22E62C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7105927" y="9638725"/>
            <a:ext cx="644652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22">
                <a:solidFill>
                  <a:schemeClr val="tx1"/>
                </a:solidFill>
              </a:defRPr>
            </a:lvl1pPr>
          </a:lstStyle>
          <a:p>
            <a:fld id="{6E91CC32-6A6B-4E2E-BBA1-6864F305DA26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19582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68680" indent="-228600" algn="l" defTabSz="914400" rtl="0" eaLnBrk="1" latinLnBrk="0" hangingPunct="1">
        <a:lnSpc>
          <a:spcPct val="120000"/>
        </a:lnSpc>
        <a:spcBef>
          <a:spcPts val="500"/>
        </a:spcBef>
        <a:buFont typeface="Neue Haas Grotesk Text Pro" panose="020B0504020202020204" pitchFamily="34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972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4" orient="horz" pos="792" userDrawn="1">
          <p15:clr>
            <a:srgbClr val="F26B43"/>
          </p15:clr>
        </p15:guide>
        <p15:guide id="19" orient="horz" pos="3240" userDrawn="1">
          <p15:clr>
            <a:srgbClr val="F26B43"/>
          </p15:clr>
        </p15:guide>
        <p15:guide id="20" pos="57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www.linkedin.com/in/truls-dahlsveen/" TargetMode="External"/><Relationship Id="rId5" Type="http://schemas.openxmlformats.org/officeDocument/2006/relationships/hyperlink" Target="https://infernux.no/" TargetMode="Externa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sv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717675" y="7613650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4300200" y="3190875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238271"/>
            <a:ext cx="5118304" cy="980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928"/>
              </a:lnSpc>
              <a:spcBef>
                <a:spcPct val="0"/>
              </a:spcBef>
            </a:pPr>
            <a:r>
              <a:rPr lang="en-US" sz="5663" b="1">
                <a:solidFill>
                  <a:srgbClr val="FFFFFF"/>
                </a:solidFill>
                <a:latin typeface="Roboto Bold"/>
                <a:ea typeface="Roboto Bold"/>
                <a:cs typeface="Roboto Bold"/>
                <a:sym typeface="Roboto Bold"/>
              </a:rPr>
              <a:t>WELCOME TO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15488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CloudHour</a:t>
            </a: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will be starting shortly...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feel free to grab a drink and invite your friends!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Profile photo of Truls Dahlsveen">
            <a:extLst>
              <a:ext uri="{FF2B5EF4-FFF2-40B4-BE49-F238E27FC236}">
                <a16:creationId xmlns:a16="http://schemas.microsoft.com/office/drawing/2014/main" id="{EC9BDF16-D360-A246-AF09-642CDE0AFA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1235" y="392086"/>
            <a:ext cx="7620000" cy="762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76F6C8D-282E-8277-B653-93A09E92C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A7668-BA99-45C6-B093-1C59947E3CDE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B56C3AC-E8DE-2D44-4034-F135D18EFA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EFC624-629C-9EAF-B65F-788062C362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2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3E100D-3D0B-40F0-3AC6-2D1F33C75494}"/>
              </a:ext>
            </a:extLst>
          </p:cNvPr>
          <p:cNvSpPr txBox="1"/>
          <p:nvPr/>
        </p:nvSpPr>
        <p:spPr>
          <a:xfrm>
            <a:off x="42361" y="835747"/>
            <a:ext cx="65108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4000" b="1" dirty="0"/>
              <a:t>Co-host </a:t>
            </a:r>
            <a:r>
              <a:rPr lang="en-US" sz="4000" b="1" dirty="0" err="1"/>
              <a:t>Truls</a:t>
            </a:r>
            <a:r>
              <a:rPr lang="en-US" sz="4000" b="1" dirty="0"/>
              <a:t> </a:t>
            </a:r>
            <a:r>
              <a:rPr lang="en-US" sz="4000" b="1" dirty="0" err="1"/>
              <a:t>Dahlsveen</a:t>
            </a:r>
            <a:r>
              <a:rPr lang="en-US" sz="4000" b="1" dirty="0"/>
              <a:t> </a:t>
            </a:r>
          </a:p>
        </p:txBody>
      </p:sp>
      <p:pic>
        <p:nvPicPr>
          <p:cNvPr id="1026" name="Picture 2" descr="Renewed Microsoft MVP Award 2024-2025 M365 Apps and Services #MVPBuzz –  Chirag Patel">
            <a:extLst>
              <a:ext uri="{FF2B5EF4-FFF2-40B4-BE49-F238E27FC236}">
                <a16:creationId xmlns:a16="http://schemas.microsoft.com/office/drawing/2014/main" id="{A3049795-36A6-F5B5-A5C4-D33119EC7BA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91041" y="6862482"/>
            <a:ext cx="3014886" cy="301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C59E573-9B28-135E-2F42-FEC6FD784F63}"/>
              </a:ext>
            </a:extLst>
          </p:cNvPr>
          <p:cNvSpPr txBox="1"/>
          <p:nvPr/>
        </p:nvSpPr>
        <p:spPr>
          <a:xfrm>
            <a:off x="8952113" y="8191849"/>
            <a:ext cx="10277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base"/>
            <a:r>
              <a:rPr lang="en-US" sz="3600" b="1" dirty="0"/>
              <a:t>Social media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>
                <a:hlinkClick r:id="rId5" tooltip="https://infernux.no/"/>
              </a:rPr>
              <a:t>https://infernux.no/ </a:t>
            </a:r>
            <a:endParaRPr lang="en-US" dirty="0"/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u="sng" dirty="0">
                <a:hlinkClick r:id="rId6" tooltip="https://www.linkedin.com/in/truls-dahlsveen/"/>
              </a:rPr>
              <a:t>https://www.linkedin.com/in/truls-dahlsveen/</a:t>
            </a:r>
            <a:endParaRPr lang="en-D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963DD6-3707-F677-BC22-13FA123B318C}"/>
              </a:ext>
            </a:extLst>
          </p:cNvPr>
          <p:cNvSpPr txBox="1"/>
          <p:nvPr/>
        </p:nvSpPr>
        <p:spPr>
          <a:xfrm>
            <a:off x="243504" y="2282733"/>
            <a:ext cx="8693039" cy="61247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/>
              <a:t>Background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Sysadmin &amp; network admin roots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6 years SOC experience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2 years </a:t>
            </a:r>
            <a:r>
              <a:rPr lang="en-US" sz="2800" dirty="0" err="1"/>
              <a:t>pentesting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Once ranked #2 on </a:t>
            </a:r>
            <a:r>
              <a:rPr lang="en-US" sz="2800" dirty="0" err="1"/>
              <a:t>HackTheBox</a:t>
            </a:r>
            <a:r>
              <a:rPr lang="en-US" sz="2800" dirty="0"/>
              <a:t> Norway</a:t>
            </a:r>
          </a:p>
          <a:p>
            <a:r>
              <a:rPr lang="en-US" sz="2800" b="1" dirty="0"/>
              <a:t>Highlights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World's first Microsoft Sentinel Black Belt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Lead architect on Norway's first Microsoft MXDR-verified solution</a:t>
            </a:r>
          </a:p>
          <a:p>
            <a:r>
              <a:rPr lang="en-US" sz="2800" b="1" dirty="0"/>
              <a:t>Off the clock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Battlefield 6 enthusiast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World top 500 Mythic Sire </a:t>
            </a:r>
            <a:r>
              <a:rPr lang="en-US" sz="2800" dirty="0" err="1"/>
              <a:t>Denathrius</a:t>
            </a:r>
            <a:endParaRPr lang="en-US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Converted cat person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/>
              <a:t>Owns a road bike that's never seen the outdoors</a:t>
            </a:r>
          </a:p>
        </p:txBody>
      </p:sp>
    </p:spTree>
    <p:extLst>
      <p:ext uri="{BB962C8B-B14F-4D97-AF65-F5344CB8AC3E}">
        <p14:creationId xmlns:p14="http://schemas.microsoft.com/office/powerpoint/2010/main" val="933027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10555779" y="1028700"/>
            <a:ext cx="6290771" cy="8453837"/>
            <a:chOff x="0" y="0"/>
            <a:chExt cx="3663950" cy="4923790"/>
          </a:xfrm>
        </p:grpSpPr>
        <p:sp>
          <p:nvSpPr>
            <p:cNvPr id="3" name="Freeform 3"/>
            <p:cNvSpPr/>
            <p:nvPr/>
          </p:nvSpPr>
          <p:spPr>
            <a:xfrm>
              <a:off x="31750" y="31750"/>
              <a:ext cx="3600450" cy="4859020"/>
            </a:xfrm>
            <a:custGeom>
              <a:avLst/>
              <a:gdLst/>
              <a:ahLst/>
              <a:cxnLst/>
              <a:rect l="l" t="t" r="r" b="b"/>
              <a:pathLst>
                <a:path w="3600450" h="4859020">
                  <a:moveTo>
                    <a:pt x="3600450" y="4499610"/>
                  </a:moveTo>
                  <a:cubicBezTo>
                    <a:pt x="3600450" y="4699000"/>
                    <a:pt x="3439160" y="4859020"/>
                    <a:pt x="3241040" y="4859020"/>
                  </a:cubicBezTo>
                  <a:lnTo>
                    <a:pt x="359410" y="4859020"/>
                  </a:lnTo>
                  <a:cubicBezTo>
                    <a:pt x="160020" y="4859020"/>
                    <a:pt x="0" y="4697730"/>
                    <a:pt x="0" y="4499610"/>
                  </a:cubicBezTo>
                  <a:lnTo>
                    <a:pt x="0" y="359410"/>
                  </a:lnTo>
                  <a:cubicBezTo>
                    <a:pt x="0" y="160020"/>
                    <a:pt x="161290" y="0"/>
                    <a:pt x="359410" y="0"/>
                  </a:cubicBezTo>
                  <a:lnTo>
                    <a:pt x="3239770" y="0"/>
                  </a:lnTo>
                  <a:cubicBezTo>
                    <a:pt x="3439160" y="0"/>
                    <a:pt x="3599180" y="161290"/>
                    <a:pt x="3599180" y="359410"/>
                  </a:cubicBezTo>
                  <a:lnTo>
                    <a:pt x="3600450" y="4499610"/>
                  </a:lnTo>
                  <a:close/>
                </a:path>
              </a:pathLst>
            </a:custGeom>
            <a:blipFill>
              <a:blip r:embed="rId2"/>
              <a:stretch>
                <a:fillRect l="-51090" r="-51090"/>
              </a:stretch>
            </a:blip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Freeform 4"/>
            <p:cNvSpPr/>
            <p:nvPr/>
          </p:nvSpPr>
          <p:spPr>
            <a:xfrm>
              <a:off x="0" y="0"/>
              <a:ext cx="3663950" cy="4923790"/>
            </a:xfrm>
            <a:custGeom>
              <a:avLst/>
              <a:gdLst/>
              <a:ahLst/>
              <a:cxnLst/>
              <a:rect l="l" t="t" r="r" b="b"/>
              <a:pathLst>
                <a:path w="3663950" h="4923790">
                  <a:moveTo>
                    <a:pt x="3271520" y="4923790"/>
                  </a:moveTo>
                  <a:lnTo>
                    <a:pt x="391160" y="4923790"/>
                  </a:lnTo>
                  <a:cubicBezTo>
                    <a:pt x="175260" y="4923790"/>
                    <a:pt x="0" y="4748530"/>
                    <a:pt x="0" y="4532630"/>
                  </a:cubicBezTo>
                  <a:lnTo>
                    <a:pt x="0" y="392430"/>
                  </a:lnTo>
                  <a:cubicBezTo>
                    <a:pt x="0" y="175260"/>
                    <a:pt x="175260" y="0"/>
                    <a:pt x="391160" y="0"/>
                  </a:cubicBezTo>
                  <a:lnTo>
                    <a:pt x="3271520" y="0"/>
                  </a:lnTo>
                  <a:cubicBezTo>
                    <a:pt x="3487420" y="0"/>
                    <a:pt x="3662680" y="175260"/>
                    <a:pt x="3662680" y="391160"/>
                  </a:cubicBezTo>
                  <a:lnTo>
                    <a:pt x="3662680" y="4531360"/>
                  </a:lnTo>
                  <a:cubicBezTo>
                    <a:pt x="3663950" y="4747260"/>
                    <a:pt x="3487420" y="4923790"/>
                    <a:pt x="3271520" y="4923790"/>
                  </a:cubicBezTo>
                  <a:close/>
                  <a:moveTo>
                    <a:pt x="391160" y="63500"/>
                  </a:moveTo>
                  <a:cubicBezTo>
                    <a:pt x="210820" y="63500"/>
                    <a:pt x="63500" y="210820"/>
                    <a:pt x="63500" y="391160"/>
                  </a:cubicBezTo>
                  <a:lnTo>
                    <a:pt x="63500" y="4531360"/>
                  </a:lnTo>
                  <a:cubicBezTo>
                    <a:pt x="63500" y="4712970"/>
                    <a:pt x="210820" y="4859020"/>
                    <a:pt x="391160" y="4859020"/>
                  </a:cubicBezTo>
                  <a:lnTo>
                    <a:pt x="3271520" y="4859020"/>
                  </a:lnTo>
                  <a:cubicBezTo>
                    <a:pt x="3453130" y="4859020"/>
                    <a:pt x="3599180" y="4711700"/>
                    <a:pt x="3599180" y="4531360"/>
                  </a:cubicBezTo>
                  <a:lnTo>
                    <a:pt x="3599180" y="391160"/>
                  </a:lnTo>
                  <a:cubicBezTo>
                    <a:pt x="3599180" y="209550"/>
                    <a:pt x="3451860" y="63500"/>
                    <a:pt x="3271520" y="63500"/>
                  </a:cubicBezTo>
                  <a:lnTo>
                    <a:pt x="391160" y="635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7259300" y="-2057400"/>
            <a:ext cx="3086100" cy="3086100"/>
            <a:chOff x="0" y="0"/>
            <a:chExt cx="812800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127941" y="0"/>
                  </a:moveTo>
                  <a:lnTo>
                    <a:pt x="684859" y="0"/>
                  </a:lnTo>
                  <a:cubicBezTo>
                    <a:pt x="718791" y="0"/>
                    <a:pt x="751333" y="13479"/>
                    <a:pt x="775327" y="37473"/>
                  </a:cubicBezTo>
                  <a:cubicBezTo>
                    <a:pt x="799321" y="61467"/>
                    <a:pt x="812800" y="94009"/>
                    <a:pt x="812800" y="127941"/>
                  </a:cubicBezTo>
                  <a:lnTo>
                    <a:pt x="812800" y="684859"/>
                  </a:lnTo>
                  <a:cubicBezTo>
                    <a:pt x="812800" y="718791"/>
                    <a:pt x="799321" y="751333"/>
                    <a:pt x="775327" y="775327"/>
                  </a:cubicBezTo>
                  <a:cubicBezTo>
                    <a:pt x="751333" y="799321"/>
                    <a:pt x="718791" y="812800"/>
                    <a:pt x="684859" y="812800"/>
                  </a:cubicBezTo>
                  <a:lnTo>
                    <a:pt x="127941" y="812800"/>
                  </a:lnTo>
                  <a:cubicBezTo>
                    <a:pt x="94009" y="812800"/>
                    <a:pt x="61467" y="799321"/>
                    <a:pt x="37473" y="775327"/>
                  </a:cubicBezTo>
                  <a:cubicBezTo>
                    <a:pt x="13479" y="751333"/>
                    <a:pt x="0" y="718791"/>
                    <a:pt x="0" y="684859"/>
                  </a:cubicBezTo>
                  <a:lnTo>
                    <a:pt x="0" y="127941"/>
                  </a:lnTo>
                  <a:cubicBezTo>
                    <a:pt x="0" y="94009"/>
                    <a:pt x="13479" y="61467"/>
                    <a:pt x="37473" y="37473"/>
                  </a:cubicBezTo>
                  <a:cubicBezTo>
                    <a:pt x="61467" y="13479"/>
                    <a:pt x="94009" y="0"/>
                    <a:pt x="127941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028700" y="9791700"/>
            <a:ext cx="6959600" cy="990600"/>
            <a:chOff x="0" y="0"/>
            <a:chExt cx="1832981" cy="260899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832981" cy="260899"/>
            </a:xfrm>
            <a:custGeom>
              <a:avLst/>
              <a:gdLst/>
              <a:ahLst/>
              <a:cxnLst/>
              <a:rect l="l" t="t" r="r" b="b"/>
              <a:pathLst>
                <a:path w="1832981" h="260899">
                  <a:moveTo>
                    <a:pt x="0" y="0"/>
                  </a:moveTo>
                  <a:lnTo>
                    <a:pt x="1832981" y="0"/>
                  </a:lnTo>
                  <a:lnTo>
                    <a:pt x="1832981" y="260899"/>
                  </a:lnTo>
                  <a:lnTo>
                    <a:pt x="0" y="260899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1832981" cy="30852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549900" y="-2353537"/>
            <a:ext cx="3086100" cy="3086100"/>
            <a:chOff x="0" y="0"/>
            <a:chExt cx="812800" cy="8128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028700" y="952500"/>
            <a:ext cx="3713163" cy="69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WHAT IS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1564413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 HOUR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990965"/>
            <a:ext cx="8235694" cy="13939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CloudHour is a round-table discussion where we focus on a few key topics for collaborative discussion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28700" y="4712050"/>
            <a:ext cx="8235694" cy="46763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Why it is important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Rapid changes in cloud security and tech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Stay updated and connected for growth as a community. </a:t>
            </a:r>
          </a:p>
          <a:p>
            <a:pPr algn="l">
              <a:lnSpc>
                <a:spcPts val="3700"/>
              </a:lnSpc>
            </a:pPr>
            <a:endParaRPr lang="en-US" sz="2643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algn="l">
              <a:lnSpc>
                <a:spcPts val="3700"/>
              </a:lnSpc>
            </a:pP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How will it benefit the community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Real-time engagement with hosts and community members</a:t>
            </a:r>
          </a:p>
          <a:p>
            <a:pPr marL="570740" lvl="1" indent="-285370" algn="l">
              <a:lnSpc>
                <a:spcPts val="3700"/>
              </a:lnSpc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Ask open questions and speak your opinion</a:t>
            </a:r>
          </a:p>
          <a:p>
            <a:pPr marL="570740" lvl="1" indent="-285370" algn="l">
              <a:lnSpc>
                <a:spcPts val="3700"/>
              </a:lnSpc>
              <a:spcBef>
                <a:spcPct val="0"/>
              </a:spcBef>
              <a:buFont typeface="Arial"/>
              <a:buChar char="•"/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Opportunity to shape the next 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455778" y="9258300"/>
            <a:ext cx="3086100" cy="387350"/>
            <a:chOff x="0" y="0"/>
            <a:chExt cx="812800" cy="10201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102018"/>
            </a:xfrm>
            <a:custGeom>
              <a:avLst/>
              <a:gdLst/>
              <a:ahLst/>
              <a:cxnLst/>
              <a:rect l="l" t="t" r="r" b="b"/>
              <a:pathLst>
                <a:path w="812800" h="102018">
                  <a:moveTo>
                    <a:pt x="0" y="0"/>
                  </a:moveTo>
                  <a:lnTo>
                    <a:pt x="812800" y="0"/>
                  </a:lnTo>
                  <a:lnTo>
                    <a:pt x="812800" y="102018"/>
                  </a:lnTo>
                  <a:lnTo>
                    <a:pt x="0" y="10201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1496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6096938" y="-647155"/>
            <a:ext cx="1054100" cy="3086100"/>
            <a:chOff x="0" y="0"/>
            <a:chExt cx="277623" cy="8128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96938" y="8492298"/>
            <a:ext cx="1054100" cy="3086100"/>
            <a:chOff x="0" y="0"/>
            <a:chExt cx="277623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7623" cy="812800"/>
            </a:xfrm>
            <a:custGeom>
              <a:avLst/>
              <a:gdLst/>
              <a:ahLst/>
              <a:cxnLst/>
              <a:rect l="l" t="t" r="r" b="b"/>
              <a:pathLst>
                <a:path w="277623" h="812800">
                  <a:moveTo>
                    <a:pt x="0" y="0"/>
                  </a:moveTo>
                  <a:lnTo>
                    <a:pt x="277623" y="0"/>
                  </a:lnTo>
                  <a:lnTo>
                    <a:pt x="277623" y="812800"/>
                  </a:lnTo>
                  <a:lnTo>
                    <a:pt x="0" y="812800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7623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2" name="Freeform 12"/>
          <p:cNvSpPr/>
          <p:nvPr/>
        </p:nvSpPr>
        <p:spPr>
          <a:xfrm>
            <a:off x="7409977" y="5608165"/>
            <a:ext cx="6073469" cy="1343755"/>
          </a:xfrm>
          <a:custGeom>
            <a:avLst/>
            <a:gdLst/>
            <a:ahLst/>
            <a:cxnLst/>
            <a:rect l="l" t="t" r="r" b="b"/>
            <a:pathLst>
              <a:path w="6073469" h="1343755">
                <a:moveTo>
                  <a:pt x="0" y="0"/>
                </a:moveTo>
                <a:lnTo>
                  <a:pt x="6073468" y="0"/>
                </a:lnTo>
                <a:lnTo>
                  <a:pt x="6073468" y="1343755"/>
                </a:lnTo>
                <a:lnTo>
                  <a:pt x="0" y="134375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GB" dirty="0"/>
          </a:p>
        </p:txBody>
      </p:sp>
      <p:sp>
        <p:nvSpPr>
          <p:cNvPr id="16" name="TextBox 16"/>
          <p:cNvSpPr txBox="1"/>
          <p:nvPr/>
        </p:nvSpPr>
        <p:spPr>
          <a:xfrm>
            <a:off x="1455778" y="683867"/>
            <a:ext cx="3713163" cy="6952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BEFORE WE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455778" y="1295780"/>
            <a:ext cx="5330825" cy="9806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START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28700" y="2990965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If you prefer not to talk or be asked questions, please press mute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455778" y="3932723"/>
            <a:ext cx="6140194" cy="4757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Open mic </a:t>
            </a:r>
            <a:r>
              <a:rPr lang="en-US" sz="2643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is allowed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76481" y="5813888"/>
            <a:ext cx="6140194" cy="932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00"/>
              </a:lnSpc>
              <a:spcBef>
                <a:spcPct val="0"/>
              </a:spcBef>
            </a:pPr>
            <a:r>
              <a:rPr lang="en-US" sz="26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Remember to open the chat and engage with our community!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DB9731EA-99D8-7AEA-31C1-3C7D060ED2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9977" y="2942367"/>
            <a:ext cx="5887272" cy="1114581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EF22D193-CFC2-C31B-8211-4D750862D397}"/>
              </a:ext>
            </a:extLst>
          </p:cNvPr>
          <p:cNvSpPr/>
          <p:nvPr/>
        </p:nvSpPr>
        <p:spPr>
          <a:xfrm>
            <a:off x="10287000" y="3149804"/>
            <a:ext cx="1143000" cy="6997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B40014C-F23F-805A-0849-1831DBF84DEF}"/>
              </a:ext>
            </a:extLst>
          </p:cNvPr>
          <p:cNvSpPr/>
          <p:nvPr/>
        </p:nvSpPr>
        <p:spPr>
          <a:xfrm>
            <a:off x="11887200" y="5813888"/>
            <a:ext cx="533400" cy="6041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1898" y="8900904"/>
            <a:ext cx="4514850" cy="714793"/>
            <a:chOff x="0" y="0"/>
            <a:chExt cx="1189096" cy="1882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89096" cy="188258"/>
            </a:xfrm>
            <a:custGeom>
              <a:avLst/>
              <a:gdLst/>
              <a:ahLst/>
              <a:cxnLst/>
              <a:rect l="l" t="t" r="r" b="b"/>
              <a:pathLst>
                <a:path w="1189096" h="188258">
                  <a:moveTo>
                    <a:pt x="0" y="0"/>
                  </a:moveTo>
                  <a:lnTo>
                    <a:pt x="1189096" y="0"/>
                  </a:lnTo>
                  <a:lnTo>
                    <a:pt x="1189096" y="188258"/>
                  </a:lnTo>
                  <a:lnTo>
                    <a:pt x="0" y="188258"/>
                  </a:lnTo>
                  <a:close/>
                </a:path>
              </a:pathLst>
            </a:custGeom>
            <a:solidFill>
              <a:srgbClr val="EFEF8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189096" cy="2358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414164" y="656807"/>
            <a:ext cx="3713163" cy="6957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5751"/>
              </a:lnSpc>
              <a:spcBef>
                <a:spcPct val="0"/>
              </a:spcBef>
            </a:pPr>
            <a:r>
              <a:rPr lang="en-US" sz="4108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SHARING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63681" y="1325072"/>
            <a:ext cx="7527291" cy="9858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8137"/>
              </a:lnSpc>
              <a:spcBef>
                <a:spcPct val="0"/>
              </a:spcBef>
            </a:pPr>
            <a:r>
              <a:rPr lang="en-US" sz="5812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LINKS TO SHARE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12666" y="3243047"/>
            <a:ext cx="9008919" cy="99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GA of the identity/authorization framework for AI agents, supporting OAuth 2.0 and MCP.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2879" y="2699661"/>
            <a:ext cx="5768247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Entra ID - Agent ID Platform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412666" y="5154780"/>
            <a:ext cx="9872519" cy="15177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bundling M365 E5 + Copilot + Entra Suite + Agent 365. First new Microsoft 365 SKU above E5 since 2018. Impact: ELA renegotiation trigger for enterprises already on E5+Copilot.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83518" y="4730652"/>
            <a:ext cx="9112881" cy="5097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523"/>
              </a:lnSpc>
              <a:spcBef>
                <a:spcPct val="0"/>
              </a:spcBef>
            </a:pPr>
            <a:r>
              <a:rPr lang="en-US" sz="2400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Microsoft 365 E7 "Frontier Suite announced at $99/user/month,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32308" y="7584150"/>
            <a:ext cx="9008919" cy="9991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2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Device-bound and synced FIDO2 passkeys natively in the Windows Hello container; admin policies via Intune/Entra.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515600" y="3248193"/>
            <a:ext cx="6009007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DNSSEC Enablement Wizard</a:t>
            </a:r>
          </a:p>
        </p:txBody>
      </p:sp>
      <p:sp>
        <p:nvSpPr>
          <p:cNvPr id="20" name="TextBox 14">
            <a:extLst>
              <a:ext uri="{FF2B5EF4-FFF2-40B4-BE49-F238E27FC236}">
                <a16:creationId xmlns:a16="http://schemas.microsoft.com/office/drawing/2014/main" id="{8CEB9108-2C68-E41B-A02F-0A471CF574EA}"/>
              </a:ext>
            </a:extLst>
          </p:cNvPr>
          <p:cNvSpPr txBox="1"/>
          <p:nvPr/>
        </p:nvSpPr>
        <p:spPr>
          <a:xfrm>
            <a:off x="432308" y="7116887"/>
            <a:ext cx="11226292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Passkeys on Windows (Windows Hello container) [Rollout]</a:t>
            </a:r>
          </a:p>
        </p:txBody>
      </p:sp>
      <p:sp>
        <p:nvSpPr>
          <p:cNvPr id="24" name="TextBox 11">
            <a:extLst>
              <a:ext uri="{FF2B5EF4-FFF2-40B4-BE49-F238E27FC236}">
                <a16:creationId xmlns:a16="http://schemas.microsoft.com/office/drawing/2014/main" id="{731172E6-11BA-17DE-8DBA-638AE44606FC}"/>
              </a:ext>
            </a:extLst>
          </p:cNvPr>
          <p:cNvSpPr txBox="1"/>
          <p:nvPr/>
        </p:nvSpPr>
        <p:spPr>
          <a:xfrm>
            <a:off x="10231479" y="1578822"/>
            <a:ext cx="7755889" cy="9919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Microsoft reduces Business-tier pricing; new bundles for SMB resellers.</a:t>
            </a:r>
          </a:p>
        </p:txBody>
      </p:sp>
      <p:sp>
        <p:nvSpPr>
          <p:cNvPr id="27" name="TextBox 14">
            <a:extLst>
              <a:ext uri="{FF2B5EF4-FFF2-40B4-BE49-F238E27FC236}">
                <a16:creationId xmlns:a16="http://schemas.microsoft.com/office/drawing/2014/main" id="{730BE23C-26BD-B248-3A9A-C83501D58314}"/>
              </a:ext>
            </a:extLst>
          </p:cNvPr>
          <p:cNvSpPr txBox="1"/>
          <p:nvPr/>
        </p:nvSpPr>
        <p:spPr>
          <a:xfrm>
            <a:off x="10047338" y="962506"/>
            <a:ext cx="7613375" cy="5364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Windows 365 SMB price cut [Change]</a:t>
            </a:r>
          </a:p>
        </p:txBody>
      </p:sp>
      <p:sp>
        <p:nvSpPr>
          <p:cNvPr id="30" name="TextBox 11">
            <a:extLst>
              <a:ext uri="{FF2B5EF4-FFF2-40B4-BE49-F238E27FC236}">
                <a16:creationId xmlns:a16="http://schemas.microsoft.com/office/drawing/2014/main" id="{7CEA3663-137E-59EC-91CD-D854C7EEDFEA}"/>
              </a:ext>
            </a:extLst>
          </p:cNvPr>
          <p:cNvSpPr txBox="1"/>
          <p:nvPr/>
        </p:nvSpPr>
        <p:spPr>
          <a:xfrm>
            <a:off x="10515600" y="3784622"/>
            <a:ext cx="7755889" cy="4661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086"/>
              </a:lnSpc>
              <a:spcBef>
                <a:spcPct val="0"/>
              </a:spcBef>
            </a:pPr>
            <a:r>
              <a:rPr lang="en-US" sz="2000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for Exchange Online between June-august</a:t>
            </a:r>
          </a:p>
        </p:txBody>
      </p:sp>
      <p:sp>
        <p:nvSpPr>
          <p:cNvPr id="33" name="TextBox 14">
            <a:extLst>
              <a:ext uri="{FF2B5EF4-FFF2-40B4-BE49-F238E27FC236}">
                <a16:creationId xmlns:a16="http://schemas.microsoft.com/office/drawing/2014/main" id="{CC09D592-6C32-9F26-77AA-EA0F8FCFE428}"/>
              </a:ext>
            </a:extLst>
          </p:cNvPr>
          <p:cNvSpPr txBox="1"/>
          <p:nvPr/>
        </p:nvSpPr>
        <p:spPr>
          <a:xfrm>
            <a:off x="10280105" y="8367516"/>
            <a:ext cx="7380608" cy="5349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523"/>
              </a:lnSpc>
              <a:spcBef>
                <a:spcPct val="0"/>
              </a:spcBef>
            </a:pPr>
            <a:r>
              <a:rPr lang="en-US" sz="3231" b="1" dirty="0">
                <a:solidFill>
                  <a:srgbClr val="EFEF89"/>
                </a:solidFill>
                <a:latin typeface="Roboto Bold"/>
                <a:ea typeface="Roboto Bold"/>
                <a:cs typeface="Roboto Bold"/>
                <a:sym typeface="Roboto Bold"/>
              </a:rPr>
              <a:t>Anything else you would like to share?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5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5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  <p:bldP spid="14" grpId="0"/>
      <p:bldP spid="20" grpId="0"/>
      <p:bldP spid="24" grpId="0"/>
      <p:bldP spid="27" grpId="0"/>
      <p:bldP spid="3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3086100" cy="826135"/>
            <a:chOff x="0" y="0"/>
            <a:chExt cx="812800" cy="21758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201900" y="9460865"/>
            <a:ext cx="3086100" cy="826135"/>
            <a:chOff x="0" y="0"/>
            <a:chExt cx="812800" cy="217583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7583"/>
            </a:xfrm>
            <a:custGeom>
              <a:avLst/>
              <a:gdLst/>
              <a:ahLst/>
              <a:cxnLst/>
              <a:rect l="l" t="t" r="r" b="b"/>
              <a:pathLst>
                <a:path w="812800" h="217583">
                  <a:moveTo>
                    <a:pt x="0" y="0"/>
                  </a:moveTo>
                  <a:lnTo>
                    <a:pt x="812800" y="0"/>
                  </a:lnTo>
                  <a:lnTo>
                    <a:pt x="812800" y="217583"/>
                  </a:lnTo>
                  <a:lnTo>
                    <a:pt x="0" y="217583"/>
                  </a:lnTo>
                  <a:close/>
                </a:path>
              </a:pathLst>
            </a:custGeom>
            <a:solidFill>
              <a:srgbClr val="56985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812800" cy="26520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771402" y="413067"/>
            <a:ext cx="4649653" cy="4649653"/>
            <a:chOff x="0" y="0"/>
            <a:chExt cx="812800" cy="8128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38296" y="0"/>
                  </a:moveTo>
                  <a:lnTo>
                    <a:pt x="774504" y="0"/>
                  </a:lnTo>
                  <a:cubicBezTo>
                    <a:pt x="784661" y="0"/>
                    <a:pt x="794401" y="4035"/>
                    <a:pt x="801583" y="11217"/>
                  </a:cubicBezTo>
                  <a:cubicBezTo>
                    <a:pt x="808765" y="18399"/>
                    <a:pt x="812800" y="28139"/>
                    <a:pt x="812800" y="38296"/>
                  </a:cubicBezTo>
                  <a:lnTo>
                    <a:pt x="812800" y="774504"/>
                  </a:lnTo>
                  <a:cubicBezTo>
                    <a:pt x="812800" y="784661"/>
                    <a:pt x="808765" y="794401"/>
                    <a:pt x="801583" y="801583"/>
                  </a:cubicBezTo>
                  <a:cubicBezTo>
                    <a:pt x="794401" y="808765"/>
                    <a:pt x="784661" y="812800"/>
                    <a:pt x="774504" y="812800"/>
                  </a:cubicBezTo>
                  <a:lnTo>
                    <a:pt x="38296" y="812800"/>
                  </a:lnTo>
                  <a:cubicBezTo>
                    <a:pt x="28139" y="812800"/>
                    <a:pt x="18399" y="808765"/>
                    <a:pt x="11217" y="801583"/>
                  </a:cubicBezTo>
                  <a:cubicBezTo>
                    <a:pt x="4035" y="794401"/>
                    <a:pt x="0" y="784661"/>
                    <a:pt x="0" y="774504"/>
                  </a:cubicBezTo>
                  <a:lnTo>
                    <a:pt x="0" y="38296"/>
                  </a:lnTo>
                  <a:cubicBezTo>
                    <a:pt x="0" y="28139"/>
                    <a:pt x="4035" y="18399"/>
                    <a:pt x="11217" y="11217"/>
                  </a:cubicBezTo>
                  <a:cubicBezTo>
                    <a:pt x="18399" y="4035"/>
                    <a:pt x="28139" y="0"/>
                    <a:pt x="38296" y="0"/>
                  </a:cubicBezTo>
                  <a:close/>
                </a:path>
              </a:pathLst>
            </a:custGeom>
            <a:blipFill>
              <a:blip r:embed="rId2"/>
              <a:stretch>
                <a:fillRect r="-13377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42503" y="2520315"/>
            <a:ext cx="6131277" cy="2623185"/>
            <a:chOff x="0" y="0"/>
            <a:chExt cx="949895" cy="40640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3"/>
              <a:stretch>
                <a:fillRect t="-3466" b="-346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028700" y="5799091"/>
            <a:ext cx="4834056" cy="3661774"/>
            <a:chOff x="0" y="0"/>
            <a:chExt cx="1073010" cy="8128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073010" cy="812800"/>
            </a:xfrm>
            <a:custGeom>
              <a:avLst/>
              <a:gdLst/>
              <a:ahLst/>
              <a:cxnLst/>
              <a:rect l="l" t="t" r="r" b="b"/>
              <a:pathLst>
                <a:path w="1073010" h="812800">
                  <a:moveTo>
                    <a:pt x="36835" y="0"/>
                  </a:moveTo>
                  <a:lnTo>
                    <a:pt x="1036175" y="0"/>
                  </a:lnTo>
                  <a:cubicBezTo>
                    <a:pt x="1056518" y="0"/>
                    <a:pt x="1073010" y="16492"/>
                    <a:pt x="1073010" y="36835"/>
                  </a:cubicBezTo>
                  <a:lnTo>
                    <a:pt x="1073010" y="775965"/>
                  </a:lnTo>
                  <a:cubicBezTo>
                    <a:pt x="1073010" y="785734"/>
                    <a:pt x="1069129" y="795103"/>
                    <a:pt x="1062221" y="802011"/>
                  </a:cubicBezTo>
                  <a:cubicBezTo>
                    <a:pt x="1055313" y="808919"/>
                    <a:pt x="1045944" y="812800"/>
                    <a:pt x="1036175" y="812800"/>
                  </a:cubicBezTo>
                  <a:lnTo>
                    <a:pt x="36835" y="812800"/>
                  </a:lnTo>
                  <a:cubicBezTo>
                    <a:pt x="27066" y="812800"/>
                    <a:pt x="17697" y="808919"/>
                    <a:pt x="10789" y="802011"/>
                  </a:cubicBezTo>
                  <a:cubicBezTo>
                    <a:pt x="3881" y="795103"/>
                    <a:pt x="0" y="785734"/>
                    <a:pt x="0" y="775965"/>
                  </a:cubicBezTo>
                  <a:lnTo>
                    <a:pt x="0" y="36835"/>
                  </a:lnTo>
                  <a:cubicBezTo>
                    <a:pt x="0" y="27066"/>
                    <a:pt x="3881" y="17697"/>
                    <a:pt x="10789" y="10789"/>
                  </a:cubicBezTo>
                  <a:cubicBezTo>
                    <a:pt x="17697" y="3881"/>
                    <a:pt x="27066" y="0"/>
                    <a:pt x="36835" y="0"/>
                  </a:cubicBezTo>
                  <a:close/>
                </a:path>
              </a:pathLst>
            </a:custGeom>
            <a:blipFill>
              <a:blip r:embed="rId4"/>
              <a:stretch>
                <a:fillRect t="-8504"/>
              </a:stretch>
            </a:blipFill>
            <a:ln w="38100" cap="rnd">
              <a:solidFill>
                <a:srgbClr val="EFEF89"/>
              </a:solidFill>
              <a:prstDash val="solid"/>
              <a:round/>
            </a:ln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880346" y="6369836"/>
            <a:ext cx="6131277" cy="2623185"/>
            <a:chOff x="0" y="0"/>
            <a:chExt cx="949895" cy="406400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949895" cy="406400"/>
            </a:xfrm>
            <a:custGeom>
              <a:avLst/>
              <a:gdLst/>
              <a:ahLst/>
              <a:cxnLst/>
              <a:rect l="l" t="t" r="r" b="b"/>
              <a:pathLst>
                <a:path w="949895" h="406400">
                  <a:moveTo>
                    <a:pt x="0" y="0"/>
                  </a:moveTo>
                  <a:lnTo>
                    <a:pt x="949895" y="0"/>
                  </a:lnTo>
                  <a:lnTo>
                    <a:pt x="949895" y="406400"/>
                  </a:lnTo>
                  <a:lnTo>
                    <a:pt x="0" y="406400"/>
                  </a:lnTo>
                  <a:close/>
                </a:path>
              </a:pathLst>
            </a:custGeom>
            <a:blipFill>
              <a:blip r:embed="rId5"/>
              <a:stretch>
                <a:fillRect r="-4998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16" name="Freeform 16"/>
          <p:cNvSpPr/>
          <p:nvPr/>
        </p:nvSpPr>
        <p:spPr>
          <a:xfrm>
            <a:off x="7771402" y="107076"/>
            <a:ext cx="241865" cy="719059"/>
          </a:xfrm>
          <a:custGeom>
            <a:avLst/>
            <a:gdLst/>
            <a:ahLst/>
            <a:cxnLst/>
            <a:rect l="l" t="t" r="r" b="b"/>
            <a:pathLst>
              <a:path w="241865" h="719059">
                <a:moveTo>
                  <a:pt x="0" y="0"/>
                </a:moveTo>
                <a:lnTo>
                  <a:pt x="241866" y="0"/>
                </a:lnTo>
                <a:lnTo>
                  <a:pt x="241866" y="719059"/>
                </a:lnTo>
                <a:lnTo>
                  <a:pt x="0" y="71905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7" name="Freeform 17"/>
          <p:cNvSpPr/>
          <p:nvPr/>
        </p:nvSpPr>
        <p:spPr>
          <a:xfrm>
            <a:off x="14001246" y="8630666"/>
            <a:ext cx="524930" cy="627634"/>
          </a:xfrm>
          <a:custGeom>
            <a:avLst/>
            <a:gdLst/>
            <a:ahLst/>
            <a:cxnLst/>
            <a:rect l="l" t="t" r="r" b="b"/>
            <a:pathLst>
              <a:path w="524930" h="627634">
                <a:moveTo>
                  <a:pt x="0" y="0"/>
                </a:moveTo>
                <a:lnTo>
                  <a:pt x="524930" y="0"/>
                </a:lnTo>
                <a:lnTo>
                  <a:pt x="524930" y="627634"/>
                </a:lnTo>
                <a:lnTo>
                  <a:pt x="0" y="62763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GB"/>
          </a:p>
        </p:txBody>
      </p:sp>
      <p:sp>
        <p:nvSpPr>
          <p:cNvPr id="18" name="TextBox 18"/>
          <p:cNvSpPr txBox="1"/>
          <p:nvPr/>
        </p:nvSpPr>
        <p:spPr>
          <a:xfrm>
            <a:off x="14412201" y="336867"/>
            <a:ext cx="3198845" cy="614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4955"/>
              </a:lnSpc>
              <a:spcBef>
                <a:spcPct val="0"/>
              </a:spcBef>
            </a:pPr>
            <a:r>
              <a:rPr lang="en-US" sz="3539">
                <a:solidFill>
                  <a:srgbClr val="EFEF89"/>
                </a:solidFill>
                <a:latin typeface="Roboto"/>
                <a:ea typeface="Roboto"/>
                <a:cs typeface="Roboto"/>
                <a:sym typeface="Roboto"/>
              </a:rPr>
              <a:t>DISCORD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421055" y="898789"/>
            <a:ext cx="5285241" cy="10615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8690"/>
              </a:lnSpc>
              <a:spcBef>
                <a:spcPct val="0"/>
              </a:spcBef>
            </a:pPr>
            <a:r>
              <a:rPr lang="en-US" sz="6207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SERVER TAG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124767" y="3310430"/>
            <a:ext cx="5246370" cy="524637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37697" r="-12396"/>
              </a:stretch>
            </a:blipFill>
            <a:ln w="38100" cap="sq">
              <a:solidFill>
                <a:srgbClr val="EFEF89"/>
              </a:solidFill>
              <a:prstDash val="solid"/>
              <a:miter/>
            </a:ln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4" name="AutoShape 4"/>
          <p:cNvSpPr/>
          <p:nvPr/>
        </p:nvSpPr>
        <p:spPr>
          <a:xfrm flipV="1">
            <a:off x="7279374" y="1439550"/>
            <a:ext cx="0" cy="8104282"/>
          </a:xfrm>
          <a:prstGeom prst="line">
            <a:avLst/>
          </a:prstGeom>
          <a:ln w="38100" cap="flat">
            <a:solidFill>
              <a:srgbClr val="EFEF8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  <p:grpSp>
        <p:nvGrpSpPr>
          <p:cNvPr id="5" name="Group 5"/>
          <p:cNvGrpSpPr/>
          <p:nvPr/>
        </p:nvGrpSpPr>
        <p:grpSpPr>
          <a:xfrm>
            <a:off x="9144000" y="2781378"/>
            <a:ext cx="6657333" cy="1192059"/>
            <a:chOff x="0" y="-44532"/>
            <a:chExt cx="1753372" cy="31395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574874"/>
            </a:solidFill>
          </p:spPr>
          <p:txBody>
            <a:bodyPr/>
            <a:lstStyle/>
            <a:p>
              <a:endParaRPr lang="en-GB" dirty="0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-44532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2280691" y="2358723"/>
            <a:ext cx="4090445" cy="757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243"/>
              </a:lnSpc>
              <a:spcBef>
                <a:spcPct val="0"/>
              </a:spcBef>
            </a:pPr>
            <a:r>
              <a:rPr lang="en-US" sz="4459">
                <a:solidFill>
                  <a:srgbClr val="EFEF8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AGENDA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9144000" y="3799041"/>
            <a:ext cx="6657333" cy="1192059"/>
            <a:chOff x="0" y="-85725"/>
            <a:chExt cx="1753372" cy="313958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B11719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85725"/>
              <a:ext cx="1685808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20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9144000" y="5295900"/>
            <a:ext cx="6657333" cy="866572"/>
            <a:chOff x="0" y="0"/>
            <a:chExt cx="1753372" cy="228233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53372" cy="228233"/>
            </a:xfrm>
            <a:custGeom>
              <a:avLst/>
              <a:gdLst/>
              <a:ahLst/>
              <a:cxnLst/>
              <a:rect l="l" t="t" r="r" b="b"/>
              <a:pathLst>
                <a:path w="1753372" h="228233">
                  <a:moveTo>
                    <a:pt x="0" y="0"/>
                  </a:moveTo>
                  <a:lnTo>
                    <a:pt x="1753372" y="0"/>
                  </a:lnTo>
                  <a:lnTo>
                    <a:pt x="1753372" y="228233"/>
                  </a:lnTo>
                  <a:lnTo>
                    <a:pt x="0" y="228233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-85725"/>
              <a:ext cx="1753372" cy="31395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24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9144000" y="6469968"/>
            <a:ext cx="6657333" cy="1428547"/>
            <a:chOff x="0" y="0"/>
            <a:chExt cx="1753372" cy="376243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1753372" cy="376243"/>
            </a:xfrm>
            <a:custGeom>
              <a:avLst/>
              <a:gdLst/>
              <a:ahLst/>
              <a:cxnLst/>
              <a:rect l="l" t="t" r="r" b="b"/>
              <a:pathLst>
                <a:path w="1753372" h="376243">
                  <a:moveTo>
                    <a:pt x="0" y="0"/>
                  </a:moveTo>
                  <a:lnTo>
                    <a:pt x="1753372" y="0"/>
                  </a:lnTo>
                  <a:lnTo>
                    <a:pt x="1753372" y="376243"/>
                  </a:lnTo>
                  <a:lnTo>
                    <a:pt x="0" y="376243"/>
                  </a:lnTo>
                  <a:close/>
                </a:path>
              </a:pathLst>
            </a:custGeom>
            <a:solidFill>
              <a:srgbClr val="5E17EB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85725"/>
              <a:ext cx="1753372" cy="46196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4480"/>
                </a:lnSpc>
              </a:pPr>
              <a:endParaRPr lang="en-US" sz="32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endParaRPr>
            </a:p>
          </p:txBody>
        </p: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E1459AFD-CE62-D5B1-058A-69B96AF65589}"/>
              </a:ext>
            </a:extLst>
          </p:cNvPr>
          <p:cNvSpPr txBox="1"/>
          <p:nvPr/>
        </p:nvSpPr>
        <p:spPr>
          <a:xfrm>
            <a:off x="9829800" y="3068457"/>
            <a:ext cx="9144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 err="1"/>
              <a:t>AADGraphActivityLogs</a:t>
            </a:r>
            <a:endParaRPr lang="en-DK" sz="3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84D9180-6380-2C18-DF72-02F13C3548E7}"/>
              </a:ext>
            </a:extLst>
          </p:cNvPr>
          <p:cNvSpPr txBox="1"/>
          <p:nvPr/>
        </p:nvSpPr>
        <p:spPr>
          <a:xfrm>
            <a:off x="9525000" y="4257923"/>
            <a:ext cx="807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dirty="0"/>
              <a:t>Microsoft Foundry and security?</a:t>
            </a:r>
            <a:endParaRPr lang="en-DK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FC353BB-0F67-56FA-263C-8CEE7B66D52E}"/>
              </a:ext>
            </a:extLst>
          </p:cNvPr>
          <p:cNvSpPr txBox="1"/>
          <p:nvPr/>
        </p:nvSpPr>
        <p:spPr>
          <a:xfrm>
            <a:off x="457682" y="2107035"/>
            <a:ext cx="8685732" cy="7158078"/>
          </a:xfrm>
          <a:prstGeom prst="rect">
            <a:avLst/>
          </a:prstGeo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228600" indent="-228600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052874FD-D096-DA66-55BB-9FA309F64B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206" y="94804"/>
            <a:ext cx="4114800" cy="477332"/>
          </a:xfrm>
        </p:spPr>
        <p:txBody>
          <a:bodyPr/>
          <a:lstStyle/>
          <a:p>
            <a:pPr>
              <a:spcAft>
                <a:spcPts val="600"/>
              </a:spcAft>
            </a:pPr>
            <a:fld id="{E3AF56FA-F9FC-4019-8221-A7B4F57668B9}" type="datetime1">
              <a:rPr lang="en-US"/>
              <a:pPr>
                <a:spcAft>
                  <a:spcPts val="600"/>
                </a:spcAft>
              </a:pPr>
              <a:t>5/6/2026</a:t>
            </a:fld>
            <a:endParaRPr lang="en-US"/>
          </a:p>
        </p:txBody>
      </p:sp>
      <p:sp>
        <p:nvSpPr>
          <p:cNvPr id="8" name="Footer Placeholder 5">
            <a:extLst>
              <a:ext uri="{FF2B5EF4-FFF2-40B4-BE49-F238E27FC236}">
                <a16:creationId xmlns:a16="http://schemas.microsoft.com/office/drawing/2014/main" id="{DDD3484A-AE26-C71B-0E33-56EDA533AD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6024" y="9637142"/>
            <a:ext cx="6089904" cy="547688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/>
              <a:t>
              </a:t>
            </a:r>
          </a:p>
        </p:txBody>
      </p:sp>
      <p:sp>
        <p:nvSpPr>
          <p:cNvPr id="10" name="Slide Number Placeholder 6">
            <a:extLst>
              <a:ext uri="{FF2B5EF4-FFF2-40B4-BE49-F238E27FC236}">
                <a16:creationId xmlns:a16="http://schemas.microsoft.com/office/drawing/2014/main" id="{9CECAB12-059E-1008-18A3-7B2A781F5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05927" y="9638725"/>
            <a:ext cx="644652" cy="547688"/>
          </a:xfrm>
        </p:spPr>
        <p:txBody>
          <a:bodyPr/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2964F49-C3A3-50B9-DE1F-310DC80532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682" y="800100"/>
            <a:ext cx="16269834" cy="1956225"/>
          </a:xfrm>
        </p:spPr>
        <p:txBody>
          <a:bodyPr/>
          <a:lstStyle/>
          <a:p>
            <a:r>
              <a:rPr lang="en-US" dirty="0" err="1"/>
              <a:t>AADGraphActivityLogs</a:t>
            </a:r>
            <a:r>
              <a:rPr lang="en-US" dirty="0"/>
              <a:t> — The Missing Link Has Arrived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B6B721-D3BA-BA3E-A7DF-9BFE647D7BD4}"/>
              </a:ext>
            </a:extLst>
          </p:cNvPr>
          <p:cNvSpPr txBox="1"/>
          <p:nvPr/>
        </p:nvSpPr>
        <p:spPr>
          <a:xfrm>
            <a:off x="476731" y="1797262"/>
            <a:ext cx="8862394" cy="82791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The blind spot is finally closed - legacy Azure AD Graph API (graph.windows.net) had no logging until now; defenders were blind for years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MicrosoftGraphActivityLogs</a:t>
            </a:r>
            <a:r>
              <a:rPr lang="en-US" sz="2800" dirty="0"/>
              <a:t> (2023) only fixed half the problem - modern Graph was logged, legacy Graph wasn't → attackers simply chose the unmonitored one </a:t>
            </a:r>
            <a:br>
              <a:rPr lang="en-US" sz="2800" dirty="0"/>
            </a:b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Why attackers loved the legacy API — tools like </a:t>
            </a:r>
            <a:r>
              <a:rPr lang="en-US" sz="2800" dirty="0" err="1"/>
              <a:t>AADInternals</a:t>
            </a:r>
            <a:r>
              <a:rPr lang="en-US" sz="2800" dirty="0"/>
              <a:t> and </a:t>
            </a:r>
            <a:r>
              <a:rPr lang="en-US" sz="2800" dirty="0" err="1"/>
              <a:t>ROADtools</a:t>
            </a:r>
            <a:r>
              <a:rPr lang="en-US" sz="2800" dirty="0"/>
              <a:t> (</a:t>
            </a:r>
            <a:r>
              <a:rPr lang="en-US" sz="2800" dirty="0" err="1"/>
              <a:t>ROADrecon</a:t>
            </a:r>
            <a:r>
              <a:rPr lang="en-US" sz="2800" dirty="0"/>
              <a:t>) operated invisibly against it </a:t>
            </a:r>
            <a:br>
              <a:rPr lang="en-US" sz="2800" dirty="0"/>
            </a:b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Enable it in 30 seconds — Entra ID → Diagnostic Settings → check the </a:t>
            </a:r>
            <a:r>
              <a:rPr lang="en-US" sz="2800" dirty="0" err="1"/>
              <a:t>AADGraphActivityLogs</a:t>
            </a:r>
            <a:r>
              <a:rPr lang="en-US" sz="2800" dirty="0"/>
              <a:t> box → send to Log Analytics </a:t>
            </a:r>
            <a:br>
              <a:rPr lang="en-US" sz="2800" dirty="0"/>
            </a:br>
            <a:endParaRPr lang="en-US" sz="28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Released ~May 2026, after roughly a year of an empty table sitting in tenants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7C06CA9-384C-6DD2-9FC7-0DF615F5BECD}"/>
              </a:ext>
            </a:extLst>
          </p:cNvPr>
          <p:cNvSpPr txBox="1"/>
          <p:nvPr/>
        </p:nvSpPr>
        <p:spPr>
          <a:xfrm>
            <a:off x="9488976" y="3531466"/>
            <a:ext cx="8799024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4000" dirty="0"/>
              <a:t>Bottom line: Microsoft may keep legacy Graph alive for years but it's no longer a safe haven</a:t>
            </a:r>
          </a:p>
        </p:txBody>
      </p:sp>
    </p:spTree>
    <p:extLst>
      <p:ext uri="{BB962C8B-B14F-4D97-AF65-F5344CB8AC3E}">
        <p14:creationId xmlns:p14="http://schemas.microsoft.com/office/powerpoint/2010/main" val="3825788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9C7B7C-2D64-66AB-E4A0-A13D62658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What's in the Table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C038-37FC-3AFE-0FB7-0DABBBD75C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2552700"/>
            <a:ext cx="6856932" cy="6152238"/>
          </a:xfrm>
        </p:spPr>
        <p:txBody>
          <a:bodyPr>
            <a:normAutofit fontScale="47500" lnSpcReduction="20000"/>
          </a:bodyPr>
          <a:lstStyle/>
          <a:p>
            <a:r>
              <a:rPr lang="en-US" b="1" dirty="0"/>
              <a:t>Schema mirrors </a:t>
            </a:r>
            <a:r>
              <a:rPr lang="en-US" b="1" dirty="0" err="1"/>
              <a:t>MicrosoftGraphActivityLogs</a:t>
            </a:r>
            <a:r>
              <a:rPr lang="en-US" b="1" dirty="0"/>
              <a:t> -</a:t>
            </a:r>
            <a:r>
              <a:rPr lang="en-US" dirty="0"/>
              <a:t> with quirks (e.g. </a:t>
            </a:r>
            <a:r>
              <a:rPr lang="en-US" dirty="0" err="1"/>
              <a:t>CallerIpAddress</a:t>
            </a:r>
            <a:r>
              <a:rPr lang="en-US" dirty="0"/>
              <a:t> here vs </a:t>
            </a:r>
            <a:r>
              <a:rPr lang="en-US" dirty="0" err="1"/>
              <a:t>IpAddress</a:t>
            </a:r>
            <a:r>
              <a:rPr lang="en-US" dirty="0"/>
              <a:t> there) </a:t>
            </a:r>
          </a:p>
          <a:p>
            <a:pPr lvl="1"/>
            <a:r>
              <a:rPr lang="en-US" b="1" dirty="0"/>
              <a:t>Top fields for detection: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RequestUri</a:t>
            </a:r>
            <a:r>
              <a:rPr lang="en-US" dirty="0"/>
              <a:t> - exact legacy endpoint hit (/users, /groups, /devices)</a:t>
            </a:r>
          </a:p>
          <a:p>
            <a:pPr lvl="2"/>
            <a:r>
              <a:rPr lang="en-US" dirty="0" err="1"/>
              <a:t>UserAgent</a:t>
            </a:r>
            <a:r>
              <a:rPr lang="en-US" dirty="0"/>
              <a:t> - catches toolkits like </a:t>
            </a:r>
            <a:r>
              <a:rPr lang="en-US" dirty="0" err="1"/>
              <a:t>ROADrecon</a:t>
            </a:r>
            <a:r>
              <a:rPr lang="en-US" dirty="0"/>
              <a:t> (Python/3.12 </a:t>
            </a:r>
            <a:r>
              <a:rPr lang="en-US" dirty="0" err="1"/>
              <a:t>aiohttp</a:t>
            </a:r>
            <a:r>
              <a:rPr lang="en-US" dirty="0"/>
              <a:t>/...)</a:t>
            </a:r>
          </a:p>
          <a:p>
            <a:pPr lvl="2"/>
            <a:r>
              <a:rPr lang="en-US" dirty="0" err="1"/>
              <a:t>CallerIpAddress</a:t>
            </a:r>
            <a:r>
              <a:rPr lang="en-US" dirty="0"/>
              <a:t> - real IP for user-delegated calls</a:t>
            </a:r>
          </a:p>
          <a:p>
            <a:pPr lvl="2"/>
            <a:r>
              <a:rPr lang="en-US" dirty="0" err="1"/>
              <a:t>AppId</a:t>
            </a:r>
            <a:r>
              <a:rPr lang="en-US" dirty="0"/>
              <a:t> / </a:t>
            </a:r>
            <a:r>
              <a:rPr lang="en-US" dirty="0" err="1"/>
              <a:t>ServicePrincipalId</a:t>
            </a:r>
            <a:r>
              <a:rPr lang="en-US" dirty="0"/>
              <a:t> / </a:t>
            </a:r>
            <a:r>
              <a:rPr lang="en-US" dirty="0" err="1"/>
              <a:t>UserId</a:t>
            </a:r>
            <a:r>
              <a:rPr lang="en-US" dirty="0"/>
              <a:t> - who made the request</a:t>
            </a:r>
          </a:p>
          <a:p>
            <a:pPr lvl="2"/>
            <a:r>
              <a:rPr lang="en-US" dirty="0" err="1"/>
              <a:t>ActorType</a:t>
            </a:r>
            <a:r>
              <a:rPr lang="en-US" dirty="0"/>
              <a:t> - quick filter: User vs Application</a:t>
            </a:r>
          </a:p>
          <a:p>
            <a:r>
              <a:rPr lang="en-US" b="1" dirty="0"/>
              <a:t>Two correlation goldmines:</a:t>
            </a:r>
            <a:r>
              <a:rPr lang="en-US" dirty="0"/>
              <a:t> </a:t>
            </a:r>
          </a:p>
          <a:p>
            <a:pPr lvl="1"/>
            <a:r>
              <a:rPr lang="en-US" dirty="0" err="1"/>
              <a:t>SignInActivityId</a:t>
            </a:r>
            <a:r>
              <a:rPr lang="en-US" dirty="0"/>
              <a:t> → pivots to </a:t>
            </a:r>
            <a:r>
              <a:rPr lang="en-US" dirty="0" err="1"/>
              <a:t>SigninLogs.UniqueTokenIdentifier</a:t>
            </a:r>
            <a:r>
              <a:rPr lang="en-US" dirty="0"/>
              <a:t> (mind the == padding!)</a:t>
            </a:r>
          </a:p>
          <a:p>
            <a:pPr lvl="1"/>
            <a:r>
              <a:rPr lang="en-US" dirty="0" err="1"/>
              <a:t>SessionId</a:t>
            </a:r>
            <a:r>
              <a:rPr lang="en-US" dirty="0"/>
              <a:t> → ties activity across </a:t>
            </a:r>
            <a:r>
              <a:rPr lang="en-US" dirty="0" err="1"/>
              <a:t>SigninLogs</a:t>
            </a:r>
            <a:r>
              <a:rPr lang="en-US" dirty="0"/>
              <a:t>, </a:t>
            </a:r>
            <a:r>
              <a:rPr lang="en-US" dirty="0" err="1"/>
              <a:t>MicrosoftGraphActivityLogs</a:t>
            </a:r>
            <a:r>
              <a:rPr lang="en-US" dirty="0"/>
              <a:t>, and Unified Audit Log</a:t>
            </a:r>
          </a:p>
          <a:p>
            <a:r>
              <a:rPr lang="en-US" b="1" dirty="0"/>
              <a:t>Classified as Audit + Security</a:t>
            </a:r>
            <a:r>
              <a:rPr lang="en-US" dirty="0"/>
              <a:t> category, supports Basic logs and ingestion-time DCRs </a:t>
            </a:r>
          </a:p>
          <a:p>
            <a:r>
              <a:rPr lang="en-US" b="1" dirty="0"/>
              <a:t>Detection example:</a:t>
            </a:r>
            <a:r>
              <a:rPr lang="en-US" dirty="0"/>
              <a:t> </a:t>
            </a:r>
            <a:r>
              <a:rPr lang="en-US" dirty="0" err="1"/>
              <a:t>ROADrecon</a:t>
            </a:r>
            <a:r>
              <a:rPr lang="en-US" dirty="0"/>
              <a:t> fired 2,648 requests in 14.5 seconds - trivially spotted via </a:t>
            </a:r>
            <a:r>
              <a:rPr lang="en-US" dirty="0" err="1"/>
              <a:t>UserAgent</a:t>
            </a:r>
            <a:r>
              <a:rPr lang="en-US" dirty="0"/>
              <a:t> + endpoint fingerprint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A14685-1469-11FC-646C-2814781B4CA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F49B57-8B5A-D6DA-DA03-ED2D8693B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DF3F-CDB1-44E7-8293-4986395F5F69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5C56D-0E33-DF7A-2432-93E268DE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F7B601-E840-2011-ED9D-56105350F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396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2158AF-8DA3-5368-3901-D98F5BA4E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319DF-F32C-6EB2-ADA4-646906DD8A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Microsoft Foundry (brand new subject </a:t>
            </a:r>
            <a:r>
              <a:rPr lang="en-US" dirty="0" err="1"/>
              <a:t>im</a:t>
            </a:r>
            <a:r>
              <a:rPr lang="en-US" dirty="0"/>
              <a:t> curios about)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B675CB-EB8B-EA9A-E459-DDDDCE73D7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/>
              <a:t>Rebranded January 2026.</a:t>
            </a:r>
            <a:r>
              <a:rPr lang="en-US" dirty="0"/>
              <a:t> Was "Azure AI Foundry", now "Microsoft Foundry". Second rename in 12 months. "Azure" dropped to signal agents are first-class citizens, not just another Azure service </a:t>
            </a:r>
          </a:p>
          <a:p>
            <a:r>
              <a:rPr lang="en-US" b="1" dirty="0"/>
              <a:t>One platform, three jobs:</a:t>
            </a:r>
            <a:r>
              <a:rPr lang="en-US" dirty="0"/>
              <a:t> build, deploy, and govern AI apps and agents in a unified portal for </a:t>
            </a:r>
            <a:r>
              <a:rPr lang="en-US" dirty="0" err="1"/>
              <a:t>devs</a:t>
            </a:r>
            <a:r>
              <a:rPr lang="en-US" dirty="0"/>
              <a:t> and security teams alike </a:t>
            </a:r>
            <a:r>
              <a:rPr lang="en-US" b="1" dirty="0"/>
              <a:t>11,000+ models in the catalog.</a:t>
            </a:r>
            <a:r>
              <a:rPr lang="en-US" dirty="0"/>
              <a:t> OpenAI, Anthropic (Claude Opus 4.6), </a:t>
            </a:r>
            <a:r>
              <a:rPr lang="en-US" dirty="0" err="1"/>
              <a:t>xAI</a:t>
            </a:r>
            <a:r>
              <a:rPr lang="en-US" dirty="0"/>
              <a:t> Grok, Mistral, Phi, NVIDIA </a:t>
            </a:r>
            <a:r>
              <a:rPr lang="en-US" dirty="0" err="1"/>
              <a:t>Nemotron</a:t>
            </a:r>
            <a:r>
              <a:rPr lang="en-US" dirty="0"/>
              <a:t>, plus open-source. Pick, benchmark, swap </a:t>
            </a:r>
          </a:p>
          <a:p>
            <a:r>
              <a:rPr lang="en-US" b="1" dirty="0"/>
              <a:t>Foundry Agent Service (GA).</a:t>
            </a:r>
            <a:r>
              <a:rPr lang="en-US" dirty="0"/>
              <a:t> Production agent runtime with end-to-end private networking, MCP/OAuth passthrough, and hosted agents </a:t>
            </a:r>
          </a:p>
          <a:p>
            <a:r>
              <a:rPr lang="en-US" b="1" dirty="0"/>
              <a:t>Agent frameworks supported natively:</a:t>
            </a:r>
            <a:r>
              <a:rPr lang="en-US" dirty="0"/>
              <a:t> Microsoft Agent Framework, </a:t>
            </a:r>
            <a:r>
              <a:rPr lang="en-US" dirty="0" err="1"/>
              <a:t>LangChain</a:t>
            </a:r>
            <a:r>
              <a:rPr lang="en-US" dirty="0"/>
              <a:t>, </a:t>
            </a:r>
            <a:r>
              <a:rPr lang="en-US" dirty="0" err="1"/>
              <a:t>CrewAI</a:t>
            </a:r>
            <a:r>
              <a:rPr lang="en-US" dirty="0"/>
              <a:t>, </a:t>
            </a:r>
            <a:r>
              <a:rPr lang="en-US" dirty="0" err="1"/>
              <a:t>LlamaIndex</a:t>
            </a:r>
            <a:r>
              <a:rPr lang="en-US" dirty="0"/>
              <a:t> </a:t>
            </a:r>
          </a:p>
          <a:p>
            <a:r>
              <a:rPr lang="en-US" b="1" dirty="0"/>
              <a:t>Foundry IQ</a:t>
            </a:r>
            <a:r>
              <a:rPr lang="en-US" dirty="0"/>
              <a:t> grounds agents in your data via Azure AI Search, with built-in user access permissions honored </a:t>
            </a:r>
          </a:p>
          <a:p>
            <a:r>
              <a:rPr lang="en-US" b="1" dirty="0"/>
              <a:t>Why it matters for us:</a:t>
            </a:r>
            <a:r>
              <a:rPr lang="en-US" dirty="0"/>
              <a:t> every "AI feature" your customers are about to ship will likely run here, and that means it lands inside </a:t>
            </a:r>
            <a:r>
              <a:rPr lang="en-US" i="1" dirty="0"/>
              <a:t>your</a:t>
            </a:r>
            <a:r>
              <a:rPr lang="en-US" dirty="0"/>
              <a:t> security perimeter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D9925A-F58A-C091-2100-EEA7740C139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8A03ED-DB54-B001-1FDE-0B0EFB4EEC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DF3F-CDB1-44E7-8293-4986395F5F69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F8E729-95E9-ABA8-9460-141B48110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89492A-CC8C-58E6-748A-73B74FCA0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0903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AC9B83-840C-352D-B24A-AB9F7890DF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374899-B6AF-ED9E-F74B-5E38F772C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Securing Foundry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8103F-2C2B-9401-1C6B-C0AF28DED84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b="1" dirty="0"/>
              <a:t>Identity:</a:t>
            </a:r>
            <a:r>
              <a:rPr lang="en-US" dirty="0"/>
              <a:t> Entra ID for RBAC across models, agents, tools, and data</a:t>
            </a:r>
          </a:p>
          <a:p>
            <a:r>
              <a:rPr lang="en-US" b="1" dirty="0"/>
              <a:t>Network:</a:t>
            </a:r>
            <a:r>
              <a:rPr lang="en-US" dirty="0"/>
              <a:t> Private Link, Managed Network Isolation, and NSGs keep traffic off the public internet </a:t>
            </a:r>
          </a:p>
          <a:p>
            <a:r>
              <a:rPr lang="en-US" b="1" i="1" dirty="0"/>
              <a:t>Defender for Cloud:</a:t>
            </a:r>
            <a:r>
              <a:rPr lang="en-US" i="1" dirty="0"/>
              <a:t> detects jailbreaks and prompt-injection attacks at runtime</a:t>
            </a:r>
          </a:p>
          <a:p>
            <a:r>
              <a:rPr lang="en-US" b="1" dirty="0"/>
              <a:t>Purview + DSPM for AI:</a:t>
            </a:r>
            <a:r>
              <a:rPr lang="en-US" dirty="0"/>
              <a:t> visibility into what prompts and responses contain </a:t>
            </a:r>
          </a:p>
          <a:p>
            <a:r>
              <a:rPr lang="en-US" b="1" dirty="0"/>
              <a:t>Guardrails:</a:t>
            </a:r>
            <a:r>
              <a:rPr lang="en-US" dirty="0"/>
              <a:t> content filtering, abuse monitoring, and Task Adherence to block off-task tool calls</a:t>
            </a:r>
          </a:p>
          <a:p>
            <a:r>
              <a:rPr lang="en-US" b="1" dirty="0"/>
              <a:t>Data:</a:t>
            </a:r>
            <a:r>
              <a:rPr lang="en-US" dirty="0"/>
              <a:t> prompts and completions are not stored and not used to train models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93BA9E-C7BB-C39E-A0C7-CF3F54A7D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C131B9-DF05-5C64-7CD0-37A6E9A3D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1DF3F-CDB1-44E7-8293-4986395F5F69}" type="datetime1">
              <a:rPr lang="en-US" smtClean="0"/>
              <a:t>5/6/2026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421642-2D60-DE14-734F-9A423241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
              </a:t>
            </a:r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D4D010-F40D-67CA-26C3-4219B99B2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91CC32-6A6B-4E2E-BBA1-6864F305DA26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0930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DB4DFA-C032-2A43-D50F-F9E54316B5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2581" y="930303"/>
            <a:ext cx="14935121" cy="2158170"/>
          </a:xfrm>
        </p:spPr>
        <p:txBody>
          <a:bodyPr anchor="b">
            <a:normAutofit/>
          </a:bodyPr>
          <a:lstStyle/>
          <a:p>
            <a:r>
              <a:rPr lang="en-US" sz="8800" dirty="0"/>
              <a:t>Topic from the crowd</a:t>
            </a:r>
          </a:p>
        </p:txBody>
      </p:sp>
      <p:pic>
        <p:nvPicPr>
          <p:cNvPr id="9" name="Picture 8" descr="Rearview of rows of people watching a movie in a theater">
            <a:extLst>
              <a:ext uri="{FF2B5EF4-FFF2-40B4-BE49-F238E27FC236}">
                <a16:creationId xmlns:a16="http://schemas.microsoft.com/office/drawing/2014/main" id="{92136F9D-76F0-97A6-F927-DFCCA7C2EC1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602" r="6" b="22083"/>
          <a:stretch>
            <a:fillRect/>
          </a:stretch>
        </p:blipFill>
        <p:spPr>
          <a:xfrm>
            <a:off x="503201" y="3460172"/>
            <a:ext cx="14935121" cy="5805272"/>
          </a:xfrm>
          <a:prstGeom prst="rect">
            <a:avLst/>
          </a:prstGeom>
          <a:noFill/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618E21-4DD9-F297-7998-0AC6FBA0263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10206" y="94804"/>
            <a:ext cx="4114800" cy="477332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40DD4EEC-474C-4E4C-95FD-9005AF93A569}" type="datetime1">
              <a:rPr lang="en-US"/>
              <a:pPr>
                <a:spcAft>
                  <a:spcPts val="600"/>
                </a:spcAft>
              </a:pPr>
              <a:t>5/6/2026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B1C7D2-CCB9-2781-10A0-2BAA76C62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016024" y="9637142"/>
            <a:ext cx="6089904" cy="547688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6E8780-DBE4-499D-7B8D-EFF89DC09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7105927" y="9638725"/>
            <a:ext cx="644652" cy="547688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6E91CC32-6A6B-4E2E-BBA1-6864F305DA26}" type="slidenum">
              <a:rPr lang="en-US" dirty="0"/>
              <a:pPr>
                <a:spcAft>
                  <a:spcPts val="600"/>
                </a:spcAft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7288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273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1444978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444978" cy="812800"/>
            </a:xfrm>
            <a:custGeom>
              <a:avLst/>
              <a:gdLst/>
              <a:ahLst/>
              <a:cxnLst/>
              <a:rect l="l" t="t" r="r" b="b"/>
              <a:pathLst>
                <a:path w="1444978" h="812800">
                  <a:moveTo>
                    <a:pt x="0" y="0"/>
                  </a:moveTo>
                  <a:lnTo>
                    <a:pt x="1444978" y="0"/>
                  </a:lnTo>
                  <a:lnTo>
                    <a:pt x="1444978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>
                <a:alphaModFix amt="10999"/>
              </a:blip>
              <a:stretch>
                <a:fillRect t="-9333" b="-9333"/>
              </a:stretch>
            </a:blipFill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1717675" y="0"/>
            <a:ext cx="805519" cy="2673350"/>
            <a:chOff x="0" y="0"/>
            <a:chExt cx="212153" cy="70409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2146939" y="8466953"/>
            <a:ext cx="805519" cy="2673350"/>
            <a:chOff x="0" y="0"/>
            <a:chExt cx="212153" cy="7040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12153" cy="704092"/>
            </a:xfrm>
            <a:custGeom>
              <a:avLst/>
              <a:gdLst/>
              <a:ahLst/>
              <a:cxnLst/>
              <a:rect l="l" t="t" r="r" b="b"/>
              <a:pathLst>
                <a:path w="212153" h="704092">
                  <a:moveTo>
                    <a:pt x="0" y="0"/>
                  </a:moveTo>
                  <a:lnTo>
                    <a:pt x="212153" y="0"/>
                  </a:lnTo>
                  <a:lnTo>
                    <a:pt x="212153" y="704092"/>
                  </a:lnTo>
                  <a:lnTo>
                    <a:pt x="0" y="704092"/>
                  </a:ln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12153" cy="7517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17507989" y="1847850"/>
            <a:ext cx="2546350" cy="7410450"/>
            <a:chOff x="0" y="0"/>
            <a:chExt cx="670644" cy="1951723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670644" cy="1951724"/>
            </a:xfrm>
            <a:custGeom>
              <a:avLst/>
              <a:gdLst/>
              <a:ahLst/>
              <a:cxnLst/>
              <a:rect l="l" t="t" r="r" b="b"/>
              <a:pathLst>
                <a:path w="670644" h="1951724">
                  <a:moveTo>
                    <a:pt x="155060" y="0"/>
                  </a:moveTo>
                  <a:lnTo>
                    <a:pt x="515583" y="0"/>
                  </a:lnTo>
                  <a:cubicBezTo>
                    <a:pt x="601221" y="0"/>
                    <a:pt x="670644" y="69423"/>
                    <a:pt x="670644" y="155060"/>
                  </a:cubicBezTo>
                  <a:lnTo>
                    <a:pt x="670644" y="1796663"/>
                  </a:lnTo>
                  <a:cubicBezTo>
                    <a:pt x="670644" y="1882301"/>
                    <a:pt x="601221" y="1951724"/>
                    <a:pt x="515583" y="1951724"/>
                  </a:cubicBezTo>
                  <a:lnTo>
                    <a:pt x="155060" y="1951724"/>
                  </a:lnTo>
                  <a:cubicBezTo>
                    <a:pt x="113936" y="1951724"/>
                    <a:pt x="74496" y="1935387"/>
                    <a:pt x="45416" y="1906307"/>
                  </a:cubicBezTo>
                  <a:cubicBezTo>
                    <a:pt x="16337" y="1877228"/>
                    <a:pt x="0" y="1837788"/>
                    <a:pt x="0" y="1796663"/>
                  </a:cubicBezTo>
                  <a:lnTo>
                    <a:pt x="0" y="155060"/>
                  </a:lnTo>
                  <a:cubicBezTo>
                    <a:pt x="0" y="69423"/>
                    <a:pt x="69423" y="0"/>
                    <a:pt x="155060" y="0"/>
                  </a:cubicBezTo>
                  <a:close/>
                </a:path>
              </a:pathLst>
            </a:custGeom>
            <a:solidFill>
              <a:srgbClr val="0097B2"/>
            </a:solidFill>
          </p:spPr>
          <p:txBody>
            <a:bodyPr/>
            <a:lstStyle/>
            <a:p>
              <a:endParaRPr lang="en-GB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670644" cy="199934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717675" y="3636787"/>
            <a:ext cx="9337415" cy="41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400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THANK YOU FOR JOINING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717675" y="4102084"/>
            <a:ext cx="10236607" cy="13501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216"/>
              </a:lnSpc>
              <a:spcBef>
                <a:spcPct val="0"/>
              </a:spcBef>
            </a:pPr>
            <a:r>
              <a:rPr lang="en-US" sz="801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CLOUDHOUR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717675" y="5376026"/>
            <a:ext cx="9204044" cy="20647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36"/>
              </a:lnSpc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We hope that you found this session useful! </a:t>
            </a:r>
          </a:p>
          <a:p>
            <a:pPr algn="l">
              <a:lnSpc>
                <a:spcPts val="4136"/>
              </a:lnSpc>
              <a:spcBef>
                <a:spcPct val="0"/>
              </a:spcBef>
            </a:pPr>
            <a:r>
              <a:rPr lang="en-US" sz="295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Please don’t forget to share our community with your friends and colleagues, and we look forward to seeing you next month!</a:t>
            </a:r>
          </a:p>
        </p:txBody>
      </p:sp>
      <p:sp>
        <p:nvSpPr>
          <p:cNvPr id="16" name="AutoShape 16"/>
          <p:cNvSpPr/>
          <p:nvPr/>
        </p:nvSpPr>
        <p:spPr>
          <a:xfrm>
            <a:off x="1676398" y="4110418"/>
            <a:ext cx="6492240" cy="0"/>
          </a:xfrm>
          <a:prstGeom prst="line">
            <a:avLst/>
          </a:prstGeom>
          <a:ln w="38100" cap="flat">
            <a:solidFill>
              <a:srgbClr val="0097B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ylanVTI">
  <a:themeElements>
    <a:clrScheme name="DylanVTI">
      <a:dk1>
        <a:sysClr val="windowText" lastClr="000000"/>
      </a:dk1>
      <a:lt1>
        <a:sysClr val="window" lastClr="FFFFFF"/>
      </a:lt1>
      <a:dk2>
        <a:srgbClr val="1A1A33"/>
      </a:dk2>
      <a:lt2>
        <a:srgbClr val="EEFFE3"/>
      </a:lt2>
      <a:accent1>
        <a:srgbClr val="5C40EF"/>
      </a:accent1>
      <a:accent2>
        <a:srgbClr val="B8A0F8"/>
      </a:accent2>
      <a:accent3>
        <a:srgbClr val="00C777"/>
      </a:accent3>
      <a:accent4>
        <a:srgbClr val="005A66"/>
      </a:accent4>
      <a:accent5>
        <a:srgbClr val="9956EA"/>
      </a:accent5>
      <a:accent6>
        <a:srgbClr val="9BBB25"/>
      </a:accent6>
      <a:hlink>
        <a:srgbClr val="674CF0"/>
      </a:hlink>
      <a:folHlink>
        <a:srgbClr val="B53699"/>
      </a:folHlink>
    </a:clrScheme>
    <a:fontScheme name="DylanVTI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Dylan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ylanVTI" id="{CD0E21EA-FD0B-4FCD-9D95-B274E3CB7535}" vid="{F2F2D961-94DA-46D9-ABD7-77D6D5FB2C2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43B8E4BC8BF714095FF727759CB9EC9" ma:contentTypeVersion="6" ma:contentTypeDescription="Create a new document." ma:contentTypeScope="" ma:versionID="9fef1f0633b2bdfbe8cf8fb779730902">
  <xsd:schema xmlns:xsd="http://www.w3.org/2001/XMLSchema" xmlns:xs="http://www.w3.org/2001/XMLSchema" xmlns:p="http://schemas.microsoft.com/office/2006/metadata/properties" xmlns:ns2="1c9f4e6d-47da-45df-85b2-b6d13a0a0f3c" xmlns:ns3="5d9f163f-7ba6-4563-80ff-62d170e7269c" targetNamespace="http://schemas.microsoft.com/office/2006/metadata/properties" ma:root="true" ma:fieldsID="5b2609b5060d1cece1ff26b4b252e149" ns2:_="" ns3:_="">
    <xsd:import namespace="1c9f4e6d-47da-45df-85b2-b6d13a0a0f3c"/>
    <xsd:import namespace="5d9f163f-7ba6-4563-80ff-62d170e7269c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c9f4e6d-47da-45df-85b2-b6d13a0a0f3c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9f163f-7ba6-4563-80ff-62d170e7269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8749E85-4073-4DF9-8D0F-DEE30686280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047330-69F7-4269-895A-AB3CC8A885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c9f4e6d-47da-45df-85b2-b6d13a0a0f3c"/>
    <ds:schemaRef ds:uri="5d9f163f-7ba6-4563-80ff-62d170e7269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0D789EF4-8741-4517-9A2B-FA993197BF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1619</Words>
  <Application>Microsoft Office PowerPoint</Application>
  <PresentationFormat>Custom</PresentationFormat>
  <Paragraphs>156</Paragraphs>
  <Slides>13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Poppins Bold</vt:lpstr>
      <vt:lpstr>Neue Haas Grotesk Text Pro</vt:lpstr>
      <vt:lpstr>Roboto</vt:lpstr>
      <vt:lpstr>Roboto Bold</vt:lpstr>
      <vt:lpstr>League Spartan</vt:lpstr>
      <vt:lpstr>Poppins</vt:lpstr>
      <vt:lpstr>Aptos</vt:lpstr>
      <vt:lpstr>Arial</vt:lpstr>
      <vt:lpstr>DylanVTI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AADGraphActivityLogs — The Missing Link Has Arrived</vt:lpstr>
      <vt:lpstr>What's in the Table</vt:lpstr>
      <vt:lpstr>Microsoft Foundry (brand new subject im curios about)</vt:lpstr>
      <vt:lpstr>Securing Foundry</vt:lpstr>
      <vt:lpstr>Topic from the crowd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Yellow &amp; white company business presentation</dc:title>
  <cp:lastModifiedBy>Jonas Bøgvad</cp:lastModifiedBy>
  <cp:revision>285</cp:revision>
  <dcterms:created xsi:type="dcterms:W3CDTF">2006-08-16T00:00:00Z</dcterms:created>
  <dcterms:modified xsi:type="dcterms:W3CDTF">2026-05-06T18:46:34Z</dcterms:modified>
  <dc:identifier>DAGyYjVab10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0x010100A43B8E4BC8BF714095FF727759CB9EC9</vt:lpwstr>
  </property>
</Properties>
</file>